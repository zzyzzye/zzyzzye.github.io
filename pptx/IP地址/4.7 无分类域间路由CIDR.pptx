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836" r:id="rId3"/>
    <p:sldId id="1056" r:id="rId5"/>
    <p:sldId id="1078" r:id="rId6"/>
    <p:sldId id="1082" r:id="rId7"/>
    <p:sldId id="1086" r:id="rId8"/>
    <p:sldId id="1087" r:id="rId9"/>
    <p:sldId id="1088" r:id="rId10"/>
    <p:sldId id="1089" r:id="rId11"/>
    <p:sldId id="1092" r:id="rId12"/>
    <p:sldId id="1090" r:id="rId13"/>
    <p:sldId id="1093" r:id="rId14"/>
    <p:sldId id="1080" r:id="rId15"/>
    <p:sldId id="1094" r:id="rId16"/>
    <p:sldId id="1095" r:id="rId17"/>
    <p:sldId id="1096" r:id="rId18"/>
    <p:sldId id="1097" r:id="rId19"/>
    <p:sldId id="1057" r:id="rId20"/>
  </p:sldIdLst>
  <p:sldSz cx="9144000" cy="5143500" type="screen16x9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9" userDrawn="1">
          <p15:clr>
            <a:srgbClr val="A4A3A4"/>
          </p15:clr>
        </p15:guide>
        <p15:guide id="2" pos="28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487"/>
    <a:srgbClr val="F98B7F"/>
    <a:srgbClr val="FF66FF"/>
    <a:srgbClr val="0075BF"/>
    <a:srgbClr val="034EA2"/>
    <a:srgbClr val="66FFFF"/>
    <a:srgbClr val="2D7FAE"/>
    <a:srgbClr val="FFF6D9"/>
    <a:srgbClr val="C68F06"/>
    <a:srgbClr val="EBAC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84" autoAdjust="0"/>
    <p:restoredTop sz="93354" autoAdjust="0"/>
  </p:normalViewPr>
  <p:slideViewPr>
    <p:cSldViewPr showGuides="1">
      <p:cViewPr>
        <p:scale>
          <a:sx n="73" d="100"/>
          <a:sy n="73" d="100"/>
        </p:scale>
        <p:origin x="-156" y="-210"/>
      </p:cViewPr>
      <p:guideLst>
        <p:guide orient="horz" pos="1629"/>
        <p:guide pos="285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3360" y="-96"/>
      </p:cViewPr>
      <p:guideLst>
        <p:guide orient="horz" pos="2895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7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A5992-9D73-4015-9385-ABE035416B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5A699-AB68-4A20-99FB-6F69DC266D4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4BE56-0D4C-487B-A77A-5602763B13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4BE56-0D4C-487B-A77A-5602763B13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4BE56-0D4C-487B-A77A-5602763B13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3"/>
          <p:cNvGrpSpPr/>
          <p:nvPr userDrawn="1"/>
        </p:nvGrpSpPr>
        <p:grpSpPr bwMode="auto">
          <a:xfrm flipH="1">
            <a:off x="-1" y="248018"/>
            <a:ext cx="1797166" cy="507206"/>
            <a:chOff x="2370576" y="533400"/>
            <a:chExt cx="2417494" cy="675969"/>
          </a:xfrm>
          <a:solidFill>
            <a:srgbClr val="EE1C39"/>
          </a:solidFill>
        </p:grpSpPr>
        <p:sp>
          <p:nvSpPr>
            <p:cNvPr id="13" name="矩形 12"/>
            <p:cNvSpPr/>
            <p:nvPr/>
          </p:nvSpPr>
          <p:spPr>
            <a:xfrm>
              <a:off x="2738030" y="533400"/>
              <a:ext cx="2050040" cy="6759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00" dirty="0">
                <a:cs typeface="+mn-ea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2370576" y="533400"/>
              <a:ext cx="623734" cy="6759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15" name="文本框 12"/>
          <p:cNvSpPr txBox="1">
            <a:spLocks noChangeArrowheads="1"/>
          </p:cNvSpPr>
          <p:nvPr userDrawn="1"/>
        </p:nvSpPr>
        <p:spPr bwMode="auto">
          <a:xfrm>
            <a:off x="-1" y="370296"/>
            <a:ext cx="1796090" cy="250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BD0C8-D35A-439E-96FB-C8D4A64305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15A6-E82C-4E1E-834E-C415C51F7D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" y="0"/>
            <a:ext cx="9143499" cy="51435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6949041" y="3951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湖南涉外经济学院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6967922" y="337393"/>
            <a:ext cx="199356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Hunan International Economics U</a:t>
            </a:r>
            <a:endParaRPr lang="zh-CN" altLang="en-US" sz="1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30956" y="65317"/>
            <a:ext cx="411342" cy="43162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3436" cy="5143184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23" tIns="32511" rIns="65023" bIns="32511"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6949041" y="3951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湖南涉外经济学院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6967922" y="337393"/>
            <a:ext cx="199356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Hunan International Economics U</a:t>
            </a:r>
            <a:endParaRPr lang="zh-CN" altLang="en-US" sz="1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30956" y="65317"/>
            <a:ext cx="411342" cy="43162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200151"/>
            <a:ext cx="8229600" cy="3394472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4767264"/>
            <a:ext cx="2133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54A03-91AF-448A-9954-517C0577E5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4"/>
            <a:ext cx="2895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1" y="4767264"/>
            <a:ext cx="2133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FC946-6D13-4F8C-9740-992A906A613E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6949041" y="3951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湖南涉外经济学院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6967922" y="337393"/>
            <a:ext cx="199356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Hunan International Economics U</a:t>
            </a:r>
            <a:endParaRPr lang="zh-CN" altLang="en-US" sz="1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530956" y="65317"/>
            <a:ext cx="411342" cy="4316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/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1.wmf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dministrator\Desktop\3afe8fe6bfe17e05fe49e17f29526623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557260" y="534988"/>
            <a:ext cx="5775380" cy="4124994"/>
          </a:xfrm>
          <a:prstGeom prst="rect">
            <a:avLst/>
          </a:prstGeom>
          <a:noFill/>
        </p:spPr>
      </p:pic>
      <p:sp>
        <p:nvSpPr>
          <p:cNvPr id="42" name="矩形 41"/>
          <p:cNvSpPr/>
          <p:nvPr/>
        </p:nvSpPr>
        <p:spPr>
          <a:xfrm>
            <a:off x="251520" y="2067694"/>
            <a:ext cx="400782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b="1" spc="300" dirty="0" smtClean="0">
                <a:solidFill>
                  <a:srgbClr val="C68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第四章 网络层</a:t>
            </a:r>
            <a:endParaRPr lang="zh-CN" altLang="en-US" sz="4400" b="1" spc="300" dirty="0">
              <a:solidFill>
                <a:srgbClr val="C68F0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3043" y="3291830"/>
            <a:ext cx="583247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spc="3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4.7 </a:t>
            </a:r>
            <a:r>
              <a:rPr lang="zh-CN" altLang="en-US" sz="3600" b="1" spc="3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无分类域</a:t>
            </a:r>
            <a:r>
              <a:rPr lang="zh-CN" altLang="en-US" sz="3600" b="1" spc="3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间路由</a:t>
            </a:r>
            <a:r>
              <a:rPr lang="en-US" altLang="zh-CN" sz="3600" b="1" spc="3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CIDR</a:t>
            </a:r>
            <a:endParaRPr lang="zh-CN" altLang="en-US" sz="3600" b="1" spc="3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4894250" y="1092998"/>
            <a:ext cx="1808057" cy="470640"/>
          </a:xfrm>
          <a:prstGeom prst="rect">
            <a:avLst/>
          </a:prstGeom>
          <a:effectLst/>
        </p:spPr>
        <p:txBody>
          <a:bodyPr wrap="none" lIns="65023" tIns="32511" rIns="65023" bIns="32511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2400" dirty="0">
                <a:solidFill>
                  <a:srgbClr val="C68F06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CIDR</a:t>
            </a:r>
            <a:r>
              <a:rPr lang="zh-CN" altLang="en-US" sz="2400" dirty="0">
                <a:solidFill>
                  <a:srgbClr val="C68F06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的概念</a:t>
            </a:r>
            <a:endParaRPr lang="en-US" altLang="zh-CN" sz="2400" dirty="0">
              <a:solidFill>
                <a:srgbClr val="C68F06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>
            <p:custDataLst>
              <p:tags r:id="rId2"/>
            </p:custDataLst>
          </p:nvPr>
        </p:nvSpPr>
        <p:spPr>
          <a:xfrm>
            <a:off x="4911735" y="1728007"/>
            <a:ext cx="1808057" cy="470640"/>
          </a:xfrm>
          <a:prstGeom prst="rect">
            <a:avLst/>
          </a:prstGeom>
          <a:effectLst/>
        </p:spPr>
        <p:txBody>
          <a:bodyPr wrap="none" lIns="65023" tIns="32511" rIns="65023" bIns="32511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2400" dirty="0">
                <a:solidFill>
                  <a:srgbClr val="C68F06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CIDR</a:t>
            </a:r>
            <a:r>
              <a:rPr lang="zh-CN" altLang="en-US" sz="2400" dirty="0">
                <a:solidFill>
                  <a:srgbClr val="C68F06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地址块</a:t>
            </a:r>
            <a:endParaRPr lang="en-US" altLang="zh-CN" sz="2400" dirty="0">
              <a:solidFill>
                <a:srgbClr val="C68F06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8" name="TextBox 148"/>
          <p:cNvSpPr txBox="1"/>
          <p:nvPr/>
        </p:nvSpPr>
        <p:spPr>
          <a:xfrm>
            <a:off x="1551963" y="1131590"/>
            <a:ext cx="2299957" cy="730454"/>
          </a:xfrm>
          <a:prstGeom prst="rect">
            <a:avLst/>
          </a:prstGeom>
          <a:noFill/>
        </p:spPr>
        <p:txBody>
          <a:bodyPr vert="horz" wrap="square" lIns="65023" tIns="32511" rIns="65023" bIns="3251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 cap="all" spc="213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主要内容</a:t>
            </a:r>
            <a:endParaRPr lang="en-US" altLang="zh-CN" sz="3600" b="1" cap="all" spc="213" dirty="0" smtClean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TextBox 148"/>
          <p:cNvSpPr txBox="1"/>
          <p:nvPr/>
        </p:nvSpPr>
        <p:spPr>
          <a:xfrm>
            <a:off x="1551963" y="1891212"/>
            <a:ext cx="2380001" cy="638121"/>
          </a:xfrm>
          <a:prstGeom prst="rect">
            <a:avLst/>
          </a:prstGeom>
          <a:noFill/>
        </p:spPr>
        <p:txBody>
          <a:bodyPr vert="horz" wrap="square" lIns="65023" tIns="32511" rIns="65023" bIns="3251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100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CONTENTS</a:t>
            </a:r>
            <a:endParaRPr lang="en-US" altLang="zh-CN" sz="3100" b="1" dirty="0" smtClean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Freeform 6"/>
          <p:cNvSpPr/>
          <p:nvPr/>
        </p:nvSpPr>
        <p:spPr bwMode="auto">
          <a:xfrm>
            <a:off x="252" y="3838725"/>
            <a:ext cx="9143498" cy="1304775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91433" tIns="45717" rIns="91433" bIns="45717" numCol="1" anchor="t" anchorCtr="0" compatLnSpc="1"/>
          <a:lstStyle/>
          <a:p>
            <a:endParaRPr lang="zh-CN" altLang="en-US"/>
          </a:p>
        </p:txBody>
      </p:sp>
      <p:sp>
        <p:nvSpPr>
          <p:cNvPr id="18" name="Freeform 7"/>
          <p:cNvSpPr/>
          <p:nvPr/>
        </p:nvSpPr>
        <p:spPr bwMode="auto">
          <a:xfrm>
            <a:off x="252" y="3647129"/>
            <a:ext cx="9143498" cy="421724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</a:ln>
        </p:spPr>
        <p:txBody>
          <a:bodyPr vert="horz" wrap="square" lIns="91433" tIns="45717" rIns="91433" bIns="45717" numCol="1" anchor="t" anchorCtr="0" compatLnSpc="1"/>
          <a:lstStyle/>
          <a:p>
            <a:endParaRPr lang="zh-CN" altLang="en-US"/>
          </a:p>
        </p:txBody>
      </p:sp>
      <p:pic>
        <p:nvPicPr>
          <p:cNvPr id="14" name="Picture 3" descr="C:\Users\Administrator\Desktop\3afe8fe6bfe17e05fe49e17f2952662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2571750"/>
            <a:ext cx="5775380" cy="4124994"/>
          </a:xfrm>
          <a:prstGeom prst="rect">
            <a:avLst/>
          </a:prstGeom>
          <a:noFill/>
        </p:spPr>
      </p:pic>
      <p:sp>
        <p:nvSpPr>
          <p:cNvPr id="11" name="矩形 10"/>
          <p:cNvSpPr/>
          <p:nvPr/>
        </p:nvSpPr>
        <p:spPr>
          <a:xfrm>
            <a:off x="6949041" y="3951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湖南涉外经济学院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967922" y="337393"/>
            <a:ext cx="199356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Hunan International Economics U</a:t>
            </a:r>
            <a:endParaRPr lang="zh-CN" altLang="en-US" sz="1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956" y="65317"/>
            <a:ext cx="411342" cy="431624"/>
          </a:xfrm>
          <a:prstGeom prst="rect">
            <a:avLst/>
          </a:prstGeom>
        </p:spPr>
      </p:pic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4342211" y="1113732"/>
            <a:ext cx="416651" cy="401070"/>
          </a:xfrm>
          <a:prstGeom prst="rect">
            <a:avLst/>
          </a:prstGeom>
          <a:solidFill>
            <a:schemeClr val="accent1"/>
          </a:solidFill>
          <a:effectLst/>
        </p:spPr>
        <p:txBody>
          <a:bodyPr wrap="none" lIns="65023" tIns="32511" rIns="65023" bIns="32511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355976" y="1761804"/>
            <a:ext cx="416651" cy="401070"/>
          </a:xfrm>
          <a:prstGeom prst="rect">
            <a:avLst/>
          </a:prstGeom>
          <a:solidFill>
            <a:schemeClr val="accent1"/>
          </a:solidFill>
          <a:effectLst/>
        </p:spPr>
        <p:txBody>
          <a:bodyPr wrap="none" lIns="65023" tIns="32511" rIns="65023" bIns="32511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>
            <p:custDataLst>
              <p:tags r:id="rId7"/>
            </p:custDataLst>
          </p:nvPr>
        </p:nvSpPr>
        <p:spPr>
          <a:xfrm>
            <a:off x="4962356" y="2336430"/>
            <a:ext cx="1362422" cy="470640"/>
          </a:xfrm>
          <a:prstGeom prst="rect">
            <a:avLst/>
          </a:prstGeom>
          <a:effectLst/>
        </p:spPr>
        <p:txBody>
          <a:bodyPr wrap="none" lIns="65023" tIns="32511" rIns="65023" bIns="32511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2400" dirty="0">
                <a:solidFill>
                  <a:srgbClr val="C68F06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路由聚合</a:t>
            </a:r>
            <a:endParaRPr lang="en-US" altLang="zh-CN" sz="2400" dirty="0">
              <a:solidFill>
                <a:srgbClr val="C68F06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矩形 22"/>
          <p:cNvSpPr/>
          <p:nvPr>
            <p:custDataLst>
              <p:tags r:id="rId8"/>
            </p:custDataLst>
          </p:nvPr>
        </p:nvSpPr>
        <p:spPr>
          <a:xfrm>
            <a:off x="4368424" y="2371215"/>
            <a:ext cx="416651" cy="401070"/>
          </a:xfrm>
          <a:prstGeom prst="rect">
            <a:avLst/>
          </a:prstGeom>
          <a:solidFill>
            <a:schemeClr val="accent1"/>
          </a:solidFill>
          <a:effectLst/>
        </p:spPr>
        <p:txBody>
          <a:bodyPr wrap="none" lIns="65023" tIns="32511" rIns="65023" bIns="32511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38" grpId="0"/>
      <p:bldP spid="15" grpId="0"/>
      <p:bldP spid="16" grpId="0" animBg="1"/>
      <p:bldP spid="18" grpId="0" animBg="1"/>
      <p:bldP spid="17" grpId="0" animBg="1"/>
      <p:bldP spid="22" grpId="0" animBg="1"/>
      <p:bldP spid="20" grpId="0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 descr="C:\Users\Administrator\Desktop\3afe8fe6bfe17e05fe49e17f29526623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-3114092" y="483518"/>
            <a:ext cx="6228184" cy="4448404"/>
          </a:xfrm>
          <a:prstGeom prst="rect">
            <a:avLst/>
          </a:prstGeom>
          <a:noFill/>
        </p:spPr>
      </p:pic>
      <p:cxnSp>
        <p:nvCxnSpPr>
          <p:cNvPr id="24" name="直接连接符 23"/>
          <p:cNvCxnSpPr/>
          <p:nvPr/>
        </p:nvCxnSpPr>
        <p:spPr>
          <a:xfrm flipV="1">
            <a:off x="4438183" y="1777237"/>
            <a:ext cx="0" cy="142041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3"/>
          <p:cNvSpPr txBox="1"/>
          <p:nvPr/>
        </p:nvSpPr>
        <p:spPr>
          <a:xfrm>
            <a:off x="3184399" y="2951483"/>
            <a:ext cx="902574" cy="2461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PART 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3059832" y="1773997"/>
            <a:ext cx="1004222" cy="10042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80808"/>
              </a:solidFill>
              <a:latin typeface="+mj-ea"/>
              <a:ea typeface="+mj-ea"/>
            </a:endParaRPr>
          </a:p>
        </p:txBody>
      </p:sp>
      <p:sp>
        <p:nvSpPr>
          <p:cNvPr id="31" name="TextBox 13"/>
          <p:cNvSpPr txBox="1"/>
          <p:nvPr/>
        </p:nvSpPr>
        <p:spPr>
          <a:xfrm>
            <a:off x="3214460" y="1895094"/>
            <a:ext cx="902574" cy="7692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5000" b="1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50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4572909" y="1875352"/>
            <a:ext cx="2600903" cy="927431"/>
          </a:xfrm>
          <a:prstGeom prst="rect">
            <a:avLst/>
          </a:prstGeom>
          <a:noFill/>
        </p:spPr>
        <p:txBody>
          <a:bodyPr wrap="none" lIns="65023" tIns="32511" rIns="65023" bIns="32511" rtlCol="0">
            <a:spAutoFit/>
          </a:bodyPr>
          <a:lstStyle/>
          <a:p>
            <a:pPr marL="0" lvl="1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/>
            <a:r>
              <a:rPr lang="zh-CN" altLang="en-US" sz="3600" dirty="0">
                <a:solidFill>
                  <a:srgbClr val="F0D0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400" b="1" dirty="0">
                <a:solidFill>
                  <a:srgbClr val="C68F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CIDR</a:t>
            </a:r>
            <a:r>
              <a:rPr lang="zh-CN" altLang="en-US" sz="2400" b="1" dirty="0">
                <a:solidFill>
                  <a:srgbClr val="C68F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的概念</a:t>
            </a:r>
            <a:endParaRPr lang="zh-CN" altLang="en-US" sz="2400" b="1" dirty="0">
              <a:solidFill>
                <a:srgbClr val="C68F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8" grpId="0" animBg="1"/>
      <p:bldP spid="31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直接箭头连接符 41"/>
          <p:cNvCxnSpPr/>
          <p:nvPr/>
        </p:nvCxnSpPr>
        <p:spPr>
          <a:xfrm>
            <a:off x="1979832" y="1568971"/>
            <a:ext cx="1080000" cy="9521"/>
          </a:xfrm>
          <a:prstGeom prst="straightConnector1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3"/>
          <p:cNvGrpSpPr/>
          <p:nvPr/>
        </p:nvGrpSpPr>
        <p:grpSpPr bwMode="auto">
          <a:xfrm>
            <a:off x="1986405" y="2133009"/>
            <a:ext cx="396000" cy="1260000"/>
            <a:chOff x="513" y="998"/>
            <a:chExt cx="939" cy="2271"/>
          </a:xfrm>
          <a:solidFill>
            <a:schemeClr val="accent2"/>
          </a:solidFill>
        </p:grpSpPr>
        <p:sp>
          <p:nvSpPr>
            <p:cNvPr id="19" name="Freeform 4"/>
            <p:cNvSpPr/>
            <p:nvPr/>
          </p:nvSpPr>
          <p:spPr bwMode="gray">
            <a:xfrm flipV="1">
              <a:off x="777" y="2087"/>
              <a:ext cx="675" cy="1182"/>
            </a:xfrm>
            <a:custGeom>
              <a:avLst/>
              <a:gdLst>
                <a:gd name="T0" fmla="*/ 118 w 933"/>
                <a:gd name="T1" fmla="*/ 1044 h 1182"/>
                <a:gd name="T2" fmla="*/ 128 w 933"/>
                <a:gd name="T3" fmla="*/ 340 h 1182"/>
                <a:gd name="T4" fmla="*/ 264 w 933"/>
                <a:gd name="T5" fmla="*/ 210 h 1182"/>
                <a:gd name="T6" fmla="*/ 720 w 933"/>
                <a:gd name="T7" fmla="*/ 202 h 1182"/>
                <a:gd name="T8" fmla="*/ 720 w 933"/>
                <a:gd name="T9" fmla="*/ 320 h 1182"/>
                <a:gd name="T10" fmla="*/ 933 w 933"/>
                <a:gd name="T11" fmla="*/ 153 h 1182"/>
                <a:gd name="T12" fmla="*/ 712 w 933"/>
                <a:gd name="T13" fmla="*/ 0 h 1182"/>
                <a:gd name="T14" fmla="*/ 714 w 933"/>
                <a:gd name="T15" fmla="*/ 92 h 1182"/>
                <a:gd name="T16" fmla="*/ 234 w 933"/>
                <a:gd name="T17" fmla="*/ 94 h 1182"/>
                <a:gd name="T18" fmla="*/ 0 w 933"/>
                <a:gd name="T19" fmla="*/ 298 h 1182"/>
                <a:gd name="T20" fmla="*/ 0 w 933"/>
                <a:gd name="T21" fmla="*/ 1058 h 1182"/>
                <a:gd name="T22" fmla="*/ 118 w 933"/>
                <a:gd name="T23" fmla="*/ 1044 h 1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33" h="1182">
                  <a:moveTo>
                    <a:pt x="118" y="1044"/>
                  </a:moveTo>
                  <a:lnTo>
                    <a:pt x="128" y="340"/>
                  </a:lnTo>
                  <a:cubicBezTo>
                    <a:pt x="134" y="214"/>
                    <a:pt x="182" y="212"/>
                    <a:pt x="264" y="210"/>
                  </a:cubicBezTo>
                  <a:lnTo>
                    <a:pt x="720" y="202"/>
                  </a:lnTo>
                  <a:lnTo>
                    <a:pt x="720" y="320"/>
                  </a:lnTo>
                  <a:lnTo>
                    <a:pt x="933" y="153"/>
                  </a:lnTo>
                  <a:lnTo>
                    <a:pt x="712" y="0"/>
                  </a:lnTo>
                  <a:lnTo>
                    <a:pt x="714" y="92"/>
                  </a:lnTo>
                  <a:cubicBezTo>
                    <a:pt x="714" y="92"/>
                    <a:pt x="406" y="94"/>
                    <a:pt x="234" y="94"/>
                  </a:cubicBezTo>
                  <a:cubicBezTo>
                    <a:pt x="60" y="96"/>
                    <a:pt x="2" y="156"/>
                    <a:pt x="0" y="298"/>
                  </a:cubicBezTo>
                  <a:lnTo>
                    <a:pt x="0" y="1058"/>
                  </a:lnTo>
                  <a:cubicBezTo>
                    <a:pt x="20" y="1182"/>
                    <a:pt x="93" y="1170"/>
                    <a:pt x="118" y="1044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292929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16200000">
              <a:off x="832" y="1665"/>
              <a:ext cx="301" cy="939"/>
            </a:xfrm>
            <a:custGeom>
              <a:avLst/>
              <a:gdLst>
                <a:gd name="T0" fmla="*/ 37 w 142"/>
                <a:gd name="T1" fmla="*/ 1 h 604"/>
                <a:gd name="T2" fmla="*/ 45 w 142"/>
                <a:gd name="T3" fmla="*/ 472 h 604"/>
                <a:gd name="T4" fmla="*/ 0 w 142"/>
                <a:gd name="T5" fmla="*/ 474 h 604"/>
                <a:gd name="T6" fmla="*/ 72 w 142"/>
                <a:gd name="T7" fmla="*/ 604 h 604"/>
                <a:gd name="T8" fmla="*/ 142 w 142"/>
                <a:gd name="T9" fmla="*/ 474 h 604"/>
                <a:gd name="T10" fmla="*/ 100 w 142"/>
                <a:gd name="T11" fmla="*/ 474 h 604"/>
                <a:gd name="T12" fmla="*/ 99 w 142"/>
                <a:gd name="T13" fmla="*/ 0 h 604"/>
                <a:gd name="T14" fmla="*/ 37 w 142"/>
                <a:gd name="T15" fmla="*/ 1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2" h="604">
                  <a:moveTo>
                    <a:pt x="37" y="1"/>
                  </a:moveTo>
                  <a:lnTo>
                    <a:pt x="45" y="472"/>
                  </a:lnTo>
                  <a:lnTo>
                    <a:pt x="0" y="474"/>
                  </a:lnTo>
                  <a:lnTo>
                    <a:pt x="72" y="604"/>
                  </a:lnTo>
                  <a:lnTo>
                    <a:pt x="142" y="474"/>
                  </a:lnTo>
                  <a:lnTo>
                    <a:pt x="100" y="474"/>
                  </a:lnTo>
                  <a:lnTo>
                    <a:pt x="99" y="0"/>
                  </a:ln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292929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Freeform 6"/>
            <p:cNvSpPr/>
            <p:nvPr/>
          </p:nvSpPr>
          <p:spPr bwMode="gray">
            <a:xfrm>
              <a:off x="771" y="998"/>
              <a:ext cx="681" cy="1182"/>
            </a:xfrm>
            <a:custGeom>
              <a:avLst/>
              <a:gdLst>
                <a:gd name="T0" fmla="*/ 118 w 933"/>
                <a:gd name="T1" fmla="*/ 1044 h 1182"/>
                <a:gd name="T2" fmla="*/ 128 w 933"/>
                <a:gd name="T3" fmla="*/ 340 h 1182"/>
                <a:gd name="T4" fmla="*/ 264 w 933"/>
                <a:gd name="T5" fmla="*/ 210 h 1182"/>
                <a:gd name="T6" fmla="*/ 720 w 933"/>
                <a:gd name="T7" fmla="*/ 202 h 1182"/>
                <a:gd name="T8" fmla="*/ 720 w 933"/>
                <a:gd name="T9" fmla="*/ 320 h 1182"/>
                <a:gd name="T10" fmla="*/ 933 w 933"/>
                <a:gd name="T11" fmla="*/ 153 h 1182"/>
                <a:gd name="T12" fmla="*/ 712 w 933"/>
                <a:gd name="T13" fmla="*/ 0 h 1182"/>
                <a:gd name="T14" fmla="*/ 714 w 933"/>
                <a:gd name="T15" fmla="*/ 92 h 1182"/>
                <a:gd name="T16" fmla="*/ 234 w 933"/>
                <a:gd name="T17" fmla="*/ 94 h 1182"/>
                <a:gd name="T18" fmla="*/ 0 w 933"/>
                <a:gd name="T19" fmla="*/ 298 h 1182"/>
                <a:gd name="T20" fmla="*/ 0 w 933"/>
                <a:gd name="T21" fmla="*/ 1058 h 1182"/>
                <a:gd name="T22" fmla="*/ 118 w 933"/>
                <a:gd name="T23" fmla="*/ 1044 h 1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33" h="1182">
                  <a:moveTo>
                    <a:pt x="118" y="1044"/>
                  </a:moveTo>
                  <a:lnTo>
                    <a:pt x="128" y="340"/>
                  </a:lnTo>
                  <a:cubicBezTo>
                    <a:pt x="134" y="214"/>
                    <a:pt x="182" y="212"/>
                    <a:pt x="264" y="210"/>
                  </a:cubicBezTo>
                  <a:lnTo>
                    <a:pt x="720" y="202"/>
                  </a:lnTo>
                  <a:lnTo>
                    <a:pt x="720" y="320"/>
                  </a:lnTo>
                  <a:lnTo>
                    <a:pt x="933" y="153"/>
                  </a:lnTo>
                  <a:lnTo>
                    <a:pt x="712" y="0"/>
                  </a:lnTo>
                  <a:lnTo>
                    <a:pt x="714" y="92"/>
                  </a:lnTo>
                  <a:cubicBezTo>
                    <a:pt x="714" y="92"/>
                    <a:pt x="406" y="94"/>
                    <a:pt x="234" y="94"/>
                  </a:cubicBezTo>
                  <a:cubicBezTo>
                    <a:pt x="60" y="96"/>
                    <a:pt x="2" y="156"/>
                    <a:pt x="0" y="298"/>
                  </a:cubicBezTo>
                  <a:lnTo>
                    <a:pt x="0" y="1058"/>
                  </a:lnTo>
                  <a:cubicBezTo>
                    <a:pt x="20" y="1182"/>
                    <a:pt x="93" y="1170"/>
                    <a:pt x="118" y="1044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292929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23478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32850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267494"/>
            <a:ext cx="1944217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1.CIDR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的概念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文本框 38"/>
          <p:cNvSpPr txBox="1"/>
          <p:nvPr/>
        </p:nvSpPr>
        <p:spPr>
          <a:xfrm>
            <a:off x="755576" y="991392"/>
            <a:ext cx="1251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1981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6660232" y="1568971"/>
            <a:ext cx="1080000" cy="0"/>
          </a:xfrm>
          <a:prstGeom prst="straightConnector1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: 圆角 9"/>
          <p:cNvSpPr/>
          <p:nvPr/>
        </p:nvSpPr>
        <p:spPr>
          <a:xfrm>
            <a:off x="612235" y="1361097"/>
            <a:ext cx="1440000" cy="3960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分类编址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: 圆角 10"/>
          <p:cNvSpPr/>
          <p:nvPr/>
        </p:nvSpPr>
        <p:spPr>
          <a:xfrm>
            <a:off x="2955005" y="1361097"/>
            <a:ext cx="1440000" cy="3960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划分子网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: 圆角 11"/>
          <p:cNvSpPr/>
          <p:nvPr/>
        </p:nvSpPr>
        <p:spPr>
          <a:xfrm>
            <a:off x="5207009" y="1361097"/>
            <a:ext cx="1440000" cy="396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无分类编址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38"/>
          <p:cNvSpPr txBox="1"/>
          <p:nvPr/>
        </p:nvSpPr>
        <p:spPr>
          <a:xfrm>
            <a:off x="3059832" y="991392"/>
            <a:ext cx="1199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1985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38"/>
          <p:cNvSpPr txBox="1"/>
          <p:nvPr/>
        </p:nvSpPr>
        <p:spPr>
          <a:xfrm>
            <a:off x="5292080" y="991392"/>
            <a:ext cx="1245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80540" y="2060728"/>
            <a:ext cx="83869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charset="-122"/>
              </a:rPr>
              <a:t>太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charset="-122"/>
              </a:rPr>
              <a:t>小！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charset="-122"/>
            </a:endParaRP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BFAF8"/>
              </a:clrFrom>
              <a:clrTo>
                <a:srgbClr val="FBFA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857" y="1945131"/>
            <a:ext cx="586286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extBox 30"/>
          <p:cNvSpPr txBox="1"/>
          <p:nvPr/>
        </p:nvSpPr>
        <p:spPr>
          <a:xfrm>
            <a:off x="3687234" y="2587947"/>
            <a:ext cx="83869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charset="-122"/>
              </a:rPr>
              <a:t>太大！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charset="-122"/>
            </a:endParaRPr>
          </a:p>
        </p:txBody>
      </p:sp>
      <p:pic>
        <p:nvPicPr>
          <p:cNvPr id="32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BFAF8"/>
              </a:clrFrom>
              <a:clrTo>
                <a:srgbClr val="FBFA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551" y="2506112"/>
            <a:ext cx="586286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0F1EF"/>
              </a:clrFrom>
              <a:clrTo>
                <a:srgbClr val="F0F1E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386" y="3023231"/>
            <a:ext cx="510000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34"/>
          <p:cNvSpPr txBox="1"/>
          <p:nvPr/>
        </p:nvSpPr>
        <p:spPr>
          <a:xfrm>
            <a:off x="4174926" y="3128829"/>
            <a:ext cx="2125980" cy="352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charset="-122"/>
              </a:rPr>
              <a:t>分属两个不同网络！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charset="-122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340" y="3106420"/>
            <a:ext cx="1960880" cy="377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" name="TextBox 39"/>
          <p:cNvSpPr txBox="1"/>
          <p:nvPr/>
        </p:nvSpPr>
        <p:spPr>
          <a:xfrm>
            <a:off x="189096" y="3652711"/>
            <a:ext cx="5784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反思：</a:t>
            </a:r>
            <a:r>
              <a:rPr lang="zh-CN" altLang="en-US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为何一定要固化于</a:t>
            </a:r>
            <a:r>
              <a:rPr lang="en-US" altLang="zh-CN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类、</a:t>
            </a:r>
            <a:r>
              <a:rPr lang="en-US" altLang="zh-CN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类、</a:t>
            </a:r>
            <a:r>
              <a:rPr lang="en-US" altLang="zh-CN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类地址呢？</a:t>
            </a:r>
            <a:endParaRPr lang="zh-CN" altLang="en-US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>
            <a:off x="179512" y="1568971"/>
            <a:ext cx="432000" cy="0"/>
          </a:xfrm>
          <a:prstGeom prst="straightConnector1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4401858" y="1568971"/>
            <a:ext cx="792000" cy="0"/>
          </a:xfrm>
          <a:prstGeom prst="straightConnector1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79512" y="4136170"/>
            <a:ext cx="952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CIDR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4175359"/>
            <a:ext cx="3628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Classless Inter-Domain Routing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0" y="4155045"/>
            <a:ext cx="1727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无类域间路由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小标题"/>
          <p:cNvSpPr txBox="1"/>
          <p:nvPr/>
        </p:nvSpPr>
        <p:spPr>
          <a:xfrm>
            <a:off x="229107" y="673416"/>
            <a:ext cx="2536786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CIDR</a:t>
            </a:r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是什么？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133630" y="1949972"/>
            <a:ext cx="1872000" cy="1620000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31BDCA">
                <a:shade val="5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251720" y="1994098"/>
            <a:ext cx="1800000" cy="1531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7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案例</a:t>
            </a:r>
            <a:r>
              <a:rPr lang="en-US" altLang="zh-CN" sz="17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1: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某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单位有</a:t>
            </a:r>
            <a:r>
              <a:rPr lang="en-US" altLang="zh-CN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500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台电脑，网络管理员去申请</a:t>
            </a:r>
            <a:r>
              <a:rPr lang="en-US" altLang="zh-CN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地址，分发</a:t>
            </a:r>
            <a:r>
              <a:rPr lang="en-US" altLang="zh-CN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的机构如何分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呢</a:t>
            </a:r>
            <a:endParaRPr lang="zh-CN" altLang="en-US" sz="1700" dirty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2408531" y="2051707"/>
            <a:ext cx="1174884" cy="366112"/>
            <a:chOff x="3729426" y="1859720"/>
            <a:chExt cx="905112" cy="276658"/>
          </a:xfrm>
        </p:grpSpPr>
        <p:sp>
          <p:nvSpPr>
            <p:cNvPr id="54" name="圆角矩形 53"/>
            <p:cNvSpPr/>
            <p:nvPr/>
          </p:nvSpPr>
          <p:spPr>
            <a:xfrm>
              <a:off x="3729426" y="1864339"/>
              <a:ext cx="905111" cy="272039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7" name="文本框 3"/>
            <p:cNvSpPr txBox="1">
              <a:spLocks noChangeArrowheads="1"/>
            </p:cNvSpPr>
            <p:nvPr/>
          </p:nvSpPr>
          <p:spPr bwMode="auto">
            <a:xfrm>
              <a:off x="3731189" y="1859720"/>
              <a:ext cx="903349" cy="255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lvl="0"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分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个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C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类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2408531" y="2592994"/>
            <a:ext cx="1174884" cy="366112"/>
            <a:chOff x="3729426" y="1859720"/>
            <a:chExt cx="905112" cy="276658"/>
          </a:xfrm>
        </p:grpSpPr>
        <p:sp>
          <p:nvSpPr>
            <p:cNvPr id="59" name="圆角矩形 58"/>
            <p:cNvSpPr/>
            <p:nvPr/>
          </p:nvSpPr>
          <p:spPr>
            <a:xfrm>
              <a:off x="3729426" y="1864339"/>
              <a:ext cx="905111" cy="272039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0" name="文本框 3"/>
            <p:cNvSpPr txBox="1">
              <a:spLocks noChangeArrowheads="1"/>
            </p:cNvSpPr>
            <p:nvPr/>
          </p:nvSpPr>
          <p:spPr bwMode="auto">
            <a:xfrm>
              <a:off x="3731189" y="1859720"/>
              <a:ext cx="903349" cy="255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lvl="0"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分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个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B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类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2408531" y="3114705"/>
            <a:ext cx="1174884" cy="366112"/>
            <a:chOff x="3729426" y="1859720"/>
            <a:chExt cx="905112" cy="276658"/>
          </a:xfrm>
        </p:grpSpPr>
        <p:sp>
          <p:nvSpPr>
            <p:cNvPr id="62" name="圆角矩形 61"/>
            <p:cNvSpPr/>
            <p:nvPr/>
          </p:nvSpPr>
          <p:spPr>
            <a:xfrm>
              <a:off x="3729426" y="1864339"/>
              <a:ext cx="905111" cy="272039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3" name="文本框 3"/>
            <p:cNvSpPr txBox="1">
              <a:spLocks noChangeArrowheads="1"/>
            </p:cNvSpPr>
            <p:nvPr/>
          </p:nvSpPr>
          <p:spPr bwMode="auto">
            <a:xfrm>
              <a:off x="3731189" y="1859720"/>
              <a:ext cx="903349" cy="255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lvl="0"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分</a:t>
              </a:r>
              <a:r>
                <a:rPr lang="en-US" altLang="zh-CN" sz="16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个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C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类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8" grpId="0"/>
      <p:bldP spid="41" grpId="0" animBg="1"/>
      <p:bldP spid="49" grpId="0" animBg="1"/>
      <p:bldP spid="50" grpId="0" animBg="1"/>
      <p:bldP spid="51" grpId="0"/>
      <p:bldP spid="52" grpId="0"/>
      <p:bldP spid="4" grpId="0"/>
      <p:bldP spid="31" grpId="0"/>
      <p:bldP spid="35" grpId="0"/>
      <p:bldP spid="40" grpId="0"/>
      <p:bldP spid="36" grpId="0"/>
      <p:bldP spid="6" grpId="0"/>
      <p:bldP spid="44" grpId="0"/>
      <p:bldP spid="46" grpId="0"/>
      <p:bldP spid="47" grpId="0" animBg="1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49604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5897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267494"/>
            <a:ext cx="1944217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1.CIDR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的概念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92451" y="1164399"/>
            <a:ext cx="5043155" cy="366112"/>
            <a:chOff x="3391797" y="1859720"/>
            <a:chExt cx="3885169" cy="276658"/>
          </a:xfrm>
        </p:grpSpPr>
        <p:sp>
          <p:nvSpPr>
            <p:cNvPr id="44" name="圆角矩形 43"/>
            <p:cNvSpPr/>
            <p:nvPr/>
          </p:nvSpPr>
          <p:spPr>
            <a:xfrm>
              <a:off x="3391797" y="1864339"/>
              <a:ext cx="3809319" cy="272039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6" name="任意多边形 45"/>
            <p:cNvSpPr/>
            <p:nvPr/>
          </p:nvSpPr>
          <p:spPr>
            <a:xfrm>
              <a:off x="3496588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3557594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8" name="文本框 3"/>
            <p:cNvSpPr txBox="1">
              <a:spLocks noChangeArrowheads="1"/>
            </p:cNvSpPr>
            <p:nvPr/>
          </p:nvSpPr>
          <p:spPr bwMode="auto">
            <a:xfrm>
              <a:off x="3640618" y="1859720"/>
              <a:ext cx="3636348" cy="267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lvl="0">
                <a:defRPr/>
              </a:pPr>
              <a:r>
                <a:rPr lang="en-US" altLang="zh-CN" sz="1700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1.CIDR</a:t>
              </a:r>
              <a:r>
                <a:rPr lang="zh-CN" altLang="en-US" sz="17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消除</a:t>
              </a:r>
              <a:r>
                <a:rPr lang="zh-CN" altLang="en-US" sz="1700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了分类地址及</a:t>
              </a:r>
              <a:r>
                <a:rPr lang="zh-CN" altLang="en-US" sz="17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划分子网的</a:t>
              </a:r>
              <a:r>
                <a:rPr lang="zh-CN" altLang="en-US" sz="1700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概念</a:t>
              </a:r>
              <a:endPara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53" name="íşlïḍè"/>
          <p:cNvSpPr txBox="1"/>
          <p:nvPr/>
        </p:nvSpPr>
        <p:spPr>
          <a:xfrm>
            <a:off x="229106" y="686479"/>
            <a:ext cx="2326669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CIDR</a:t>
            </a:r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的特点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192451" y="2119677"/>
            <a:ext cx="6592364" cy="366110"/>
            <a:chOff x="3391797" y="1859721"/>
            <a:chExt cx="5078656" cy="276655"/>
          </a:xfrm>
        </p:grpSpPr>
        <p:sp>
          <p:nvSpPr>
            <p:cNvPr id="55" name="圆角矩形 54"/>
            <p:cNvSpPr/>
            <p:nvPr/>
          </p:nvSpPr>
          <p:spPr>
            <a:xfrm>
              <a:off x="3391797" y="1864338"/>
              <a:ext cx="5078656" cy="272038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3496588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7" name="任意多边形 56"/>
            <p:cNvSpPr/>
            <p:nvPr/>
          </p:nvSpPr>
          <p:spPr>
            <a:xfrm>
              <a:off x="3557594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8" name="文本框 3"/>
            <p:cNvSpPr txBox="1">
              <a:spLocks noChangeArrowheads="1"/>
            </p:cNvSpPr>
            <p:nvPr/>
          </p:nvSpPr>
          <p:spPr bwMode="auto">
            <a:xfrm>
              <a:off x="3620490" y="1859721"/>
              <a:ext cx="4849963" cy="2674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lvl="0">
                <a:defRPr/>
              </a:pPr>
              <a:r>
                <a:rPr lang="en-US" altLang="zh-CN" sz="1700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2.CIDR</a:t>
              </a:r>
              <a:r>
                <a:rPr lang="zh-CN" altLang="en-US" sz="17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使用变长的网络</a:t>
              </a:r>
              <a:r>
                <a:rPr lang="zh-CN" altLang="en-US" sz="1700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前缀来</a:t>
              </a:r>
              <a:r>
                <a:rPr lang="zh-CN" altLang="en-US" sz="17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代替分类</a:t>
              </a:r>
              <a:r>
                <a:rPr lang="zh-CN" altLang="en-US" sz="1700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地址中</a:t>
              </a:r>
              <a:r>
                <a:rPr lang="zh-CN" altLang="en-US" sz="17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的网络号和子网号</a:t>
              </a:r>
              <a:endPara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179512" y="3088871"/>
            <a:ext cx="6221290" cy="366111"/>
            <a:chOff x="3391798" y="1859721"/>
            <a:chExt cx="4792785" cy="276656"/>
          </a:xfrm>
        </p:grpSpPr>
        <p:sp>
          <p:nvSpPr>
            <p:cNvPr id="60" name="圆角矩形 59"/>
            <p:cNvSpPr/>
            <p:nvPr/>
          </p:nvSpPr>
          <p:spPr>
            <a:xfrm>
              <a:off x="3391798" y="1864339"/>
              <a:ext cx="4565077" cy="272038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3516715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3577720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3" name="文本框 3"/>
            <p:cNvSpPr txBox="1">
              <a:spLocks noChangeArrowheads="1"/>
            </p:cNvSpPr>
            <p:nvPr/>
          </p:nvSpPr>
          <p:spPr bwMode="auto">
            <a:xfrm>
              <a:off x="3650682" y="1859721"/>
              <a:ext cx="4533901" cy="2674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lvl="0">
                <a:defRPr/>
              </a:pPr>
              <a:r>
                <a:rPr lang="en-US" altLang="zh-CN" sz="1700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3.IP</a:t>
              </a:r>
              <a:r>
                <a:rPr lang="zh-CN" altLang="en-US" sz="17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地址从三级编址（使用子网编址）又回到了两级编址</a:t>
              </a:r>
              <a:endPara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264583" y="1644069"/>
            <a:ext cx="6115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不再分类，而是根据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需要的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去分配合适的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51520" y="2621825"/>
            <a:ext cx="7008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网络前缀描述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的是该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地址网络位是多少位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，位数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0-32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之间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自由可变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351299" y="3490380"/>
            <a:ext cx="5752305" cy="1026752"/>
            <a:chOff x="705377" y="3490380"/>
            <a:chExt cx="5752305" cy="1026752"/>
          </a:xfrm>
        </p:grpSpPr>
        <p:sp>
          <p:nvSpPr>
            <p:cNvPr id="68" name="矩形 67"/>
            <p:cNvSpPr/>
            <p:nvPr/>
          </p:nvSpPr>
          <p:spPr>
            <a:xfrm>
              <a:off x="3577682" y="3802579"/>
              <a:ext cx="2880000" cy="39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主  机  号</a:t>
              </a:r>
              <a:endPara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705378" y="3802579"/>
              <a:ext cx="2880000" cy="396000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网  络  前  缀</a:t>
              </a:r>
              <a:endPara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705378" y="3573492"/>
              <a:ext cx="0" cy="216000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6438246" y="3588246"/>
              <a:ext cx="0" cy="216000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705378" y="4221580"/>
              <a:ext cx="0" cy="216000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6414849" y="4236334"/>
              <a:ext cx="0" cy="216000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/>
            <p:cNvSpPr txBox="1"/>
            <p:nvPr/>
          </p:nvSpPr>
          <p:spPr>
            <a:xfrm>
              <a:off x="3269894" y="3490380"/>
              <a:ext cx="7878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32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>
              <a:off x="3917966" y="3675046"/>
              <a:ext cx="2520000" cy="0"/>
            </a:xfrm>
            <a:prstGeom prst="straightConnector1">
              <a:avLst/>
            </a:prstGeom>
            <a:ln w="12700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1901742" y="4175682"/>
              <a:ext cx="6556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533219" y="4178578"/>
              <a:ext cx="10940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(32-n)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H="1">
              <a:off x="705377" y="3659657"/>
              <a:ext cx="2520000" cy="0"/>
            </a:xfrm>
            <a:prstGeom prst="straightConnector1">
              <a:avLst/>
            </a:prstGeom>
            <a:ln w="12700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570989" y="4221580"/>
              <a:ext cx="0" cy="216000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 flipH="1">
              <a:off x="705377" y="4347285"/>
              <a:ext cx="1116000" cy="0"/>
            </a:xfrm>
            <a:prstGeom prst="straightConnector1">
              <a:avLst/>
            </a:prstGeom>
            <a:ln w="12700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>
              <a:off x="2444987" y="4347285"/>
              <a:ext cx="1116000" cy="0"/>
            </a:xfrm>
            <a:prstGeom prst="straightConnector1">
              <a:avLst/>
            </a:prstGeom>
            <a:ln w="12700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 flipH="1">
              <a:off x="3570989" y="4347855"/>
              <a:ext cx="1008000" cy="0"/>
            </a:xfrm>
            <a:prstGeom prst="straightConnector1">
              <a:avLst/>
            </a:prstGeom>
            <a:ln w="12700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/>
          </p:nvCxnSpPr>
          <p:spPr>
            <a:xfrm>
              <a:off x="5430134" y="4347855"/>
              <a:ext cx="997778" cy="0"/>
            </a:xfrm>
            <a:prstGeom prst="straightConnector1">
              <a:avLst/>
            </a:prstGeom>
            <a:ln w="12700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3" grpId="0"/>
      <p:bldP spid="64" grpId="0"/>
      <p:bldP spid="6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49604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5897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267494"/>
            <a:ext cx="1944217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1.CIDR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的概念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íşlïḍè"/>
          <p:cNvSpPr txBox="1"/>
          <p:nvPr/>
        </p:nvSpPr>
        <p:spPr>
          <a:xfrm>
            <a:off x="179512" y="661986"/>
            <a:ext cx="2758718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CIDR</a:t>
            </a:r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的斜线记法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329301" y="961151"/>
            <a:ext cx="2353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网络前缀位数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220413"/>
            <a:ext cx="34227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128.14.35.7/20</a:t>
            </a:r>
            <a:endParaRPr lang="zh-CN" altLang="en-US" sz="3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51520" y="975259"/>
            <a:ext cx="424489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CIDR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使用“斜线记法”或称为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CIDR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法：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44739" y="1236580"/>
            <a:ext cx="246098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个比特为网络前缀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704481" y="974214"/>
            <a:ext cx="53181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635896" y="1475788"/>
            <a:ext cx="246098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剩余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个比特为主机号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接连接符 48"/>
          <p:cNvCxnSpPr/>
          <p:nvPr/>
        </p:nvCxnSpPr>
        <p:spPr>
          <a:xfrm flipV="1">
            <a:off x="251520" y="1800707"/>
            <a:ext cx="6300000" cy="25324"/>
          </a:xfrm>
          <a:prstGeom prst="line">
            <a:avLst/>
          </a:prstGeom>
          <a:ln w="254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90096" y="2072411"/>
            <a:ext cx="1185882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子网划分</a:t>
            </a:r>
            <a:endParaRPr lang="zh-CN" altLang="en-US" sz="1700" b="1" kern="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130339" y="2072411"/>
            <a:ext cx="832215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b="1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CIDR</a:t>
            </a:r>
            <a:endParaRPr lang="en-US" altLang="zh-CN" sz="1700" b="1" kern="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26494" y="2340007"/>
            <a:ext cx="180897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网络位数“变长”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715774" y="2340007"/>
            <a:ext cx="371705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网络位数既可以变长，也可以变短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07547" y="2612074"/>
            <a:ext cx="66112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子网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002903" y="2612074"/>
            <a:ext cx="93156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地址块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00451" y="2888201"/>
            <a:ext cx="117506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子网掩码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547140" y="2875138"/>
            <a:ext cx="180897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地址掩码或掩码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3" name="直接连接符 72"/>
          <p:cNvCxnSpPr/>
          <p:nvPr/>
        </p:nvCxnSpPr>
        <p:spPr>
          <a:xfrm flipV="1">
            <a:off x="251520" y="3217204"/>
            <a:ext cx="6300000" cy="25324"/>
          </a:xfrm>
          <a:prstGeom prst="line">
            <a:avLst/>
          </a:prstGeom>
          <a:ln w="254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组合 73"/>
          <p:cNvGrpSpPr/>
          <p:nvPr/>
        </p:nvGrpSpPr>
        <p:grpSpPr>
          <a:xfrm>
            <a:off x="3707904" y="3800470"/>
            <a:ext cx="2660267" cy="838347"/>
            <a:chOff x="873740" y="3441805"/>
            <a:chExt cx="5264905" cy="1143525"/>
          </a:xfrm>
        </p:grpSpPr>
        <p:sp>
          <p:nvSpPr>
            <p:cNvPr id="75" name="矩形 74"/>
            <p:cNvSpPr/>
            <p:nvPr/>
          </p:nvSpPr>
          <p:spPr>
            <a:xfrm>
              <a:off x="3502498" y="3802580"/>
              <a:ext cx="2636147" cy="396001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主  机  号</a:t>
              </a:r>
              <a:endParaRPr kumimoji="0" lang="zh-CN" altLang="en-US" sz="15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874057" y="3802580"/>
              <a:ext cx="2636147" cy="396001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500" b="1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网  络  前  缀</a:t>
              </a:r>
              <a:endParaRPr kumimoji="0" lang="zh-CN" altLang="en-US" sz="15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cxnSp>
          <p:nvCxnSpPr>
            <p:cNvPr id="77" name="直接连接符 76"/>
            <p:cNvCxnSpPr/>
            <p:nvPr/>
          </p:nvCxnSpPr>
          <p:spPr>
            <a:xfrm>
              <a:off x="873740" y="3573492"/>
              <a:ext cx="0" cy="21600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119036" y="3588247"/>
              <a:ext cx="0" cy="21600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886349" y="4221580"/>
              <a:ext cx="0" cy="21600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6124640" y="4236334"/>
              <a:ext cx="0" cy="21600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2972782" y="3441805"/>
              <a:ext cx="1302389" cy="419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32</a:t>
              </a:r>
              <a:r>
                <a:rPr lang="zh-CN" altLang="en-US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3" name="直接箭头连接符 82"/>
            <p:cNvCxnSpPr/>
            <p:nvPr/>
          </p:nvCxnSpPr>
          <p:spPr>
            <a:xfrm>
              <a:off x="3972113" y="3661631"/>
              <a:ext cx="2137416" cy="0"/>
            </a:xfrm>
            <a:prstGeom prst="straightConnector1">
              <a:avLst/>
            </a:prstGeom>
            <a:ln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/>
            <p:cNvSpPr txBox="1"/>
            <p:nvPr/>
          </p:nvSpPr>
          <p:spPr>
            <a:xfrm>
              <a:off x="1733636" y="4147027"/>
              <a:ext cx="1261920" cy="422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lang="zh-CN" altLang="en-US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959127" y="4165515"/>
              <a:ext cx="1864571" cy="419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(32-n)</a:t>
              </a:r>
              <a:r>
                <a:rPr lang="zh-CN" altLang="en-US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6" name="直接箭头连接符 85"/>
            <p:cNvCxnSpPr/>
            <p:nvPr/>
          </p:nvCxnSpPr>
          <p:spPr>
            <a:xfrm flipH="1">
              <a:off x="900015" y="3672721"/>
              <a:ext cx="2137416" cy="0"/>
            </a:xfrm>
            <a:prstGeom prst="straightConnector1">
              <a:avLst/>
            </a:prstGeom>
            <a:ln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>
              <a:off x="3489928" y="4221580"/>
              <a:ext cx="0" cy="21600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箭头连接符 87"/>
            <p:cNvCxnSpPr/>
            <p:nvPr/>
          </p:nvCxnSpPr>
          <p:spPr>
            <a:xfrm flipH="1">
              <a:off x="908968" y="4334221"/>
              <a:ext cx="926214" cy="0"/>
            </a:xfrm>
            <a:prstGeom prst="straightConnector1">
              <a:avLst/>
            </a:prstGeom>
            <a:ln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箭头连接符 88"/>
            <p:cNvCxnSpPr/>
            <p:nvPr/>
          </p:nvCxnSpPr>
          <p:spPr>
            <a:xfrm>
              <a:off x="2522784" y="4334221"/>
              <a:ext cx="926214" cy="0"/>
            </a:xfrm>
            <a:prstGeom prst="straightConnector1">
              <a:avLst/>
            </a:prstGeom>
            <a:ln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/>
            <p:cNvCxnSpPr/>
            <p:nvPr/>
          </p:nvCxnSpPr>
          <p:spPr>
            <a:xfrm flipH="1">
              <a:off x="3550968" y="4334792"/>
              <a:ext cx="569978" cy="0"/>
            </a:xfrm>
            <a:prstGeom prst="straightConnector1">
              <a:avLst/>
            </a:prstGeom>
            <a:ln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90"/>
            <p:cNvCxnSpPr/>
            <p:nvPr/>
          </p:nvCxnSpPr>
          <p:spPr>
            <a:xfrm>
              <a:off x="5508379" y="4334792"/>
              <a:ext cx="569978" cy="0"/>
            </a:xfrm>
            <a:prstGeom prst="straightConnector1">
              <a:avLst/>
            </a:prstGeom>
            <a:ln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/>
          <p:cNvSpPr txBox="1"/>
          <p:nvPr/>
        </p:nvSpPr>
        <p:spPr>
          <a:xfrm>
            <a:off x="1174954" y="3504237"/>
            <a:ext cx="1185882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分类</a:t>
            </a:r>
            <a:r>
              <a:rPr lang="zh-CN" altLang="en-US" sz="17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</a:t>
            </a:r>
            <a:r>
              <a:rPr lang="zh-CN" altLang="en-US" sz="1700" b="1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址</a:t>
            </a:r>
            <a:endParaRPr lang="zh-CN" altLang="en-US" sz="1700" b="1" kern="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4812022" y="3533315"/>
            <a:ext cx="832215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b="1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CIDR</a:t>
            </a:r>
            <a:endParaRPr lang="en-US" altLang="zh-CN" sz="1700" b="1" kern="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24800" y="3800181"/>
            <a:ext cx="3413365" cy="964363"/>
            <a:chOff x="124800" y="3803538"/>
            <a:chExt cx="3413365" cy="964363"/>
          </a:xfrm>
        </p:grpSpPr>
        <p:sp>
          <p:nvSpPr>
            <p:cNvPr id="92" name="矩形 91"/>
            <p:cNvSpPr/>
            <p:nvPr/>
          </p:nvSpPr>
          <p:spPr>
            <a:xfrm>
              <a:off x="2081142" y="4140649"/>
              <a:ext cx="1386000" cy="252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主  机  号</a:t>
              </a:r>
              <a:endParaRPr kumimoji="0" lang="zh-CN" altLang="en-US" sz="15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644499" y="4140649"/>
              <a:ext cx="1440000" cy="252000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500" b="1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网  络  号</a:t>
              </a:r>
              <a:endParaRPr kumimoji="0" lang="zh-CN" altLang="en-US" sz="15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1442797" y="3850891"/>
              <a:ext cx="2016000" cy="252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主  机  号</a:t>
              </a:r>
              <a:endParaRPr kumimoji="0" lang="zh-CN" altLang="en-US" sz="15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644499" y="3850891"/>
              <a:ext cx="792000" cy="252000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0800" rIns="108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5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2675299" y="4430310"/>
              <a:ext cx="792000" cy="252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0800" rIns="108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644499" y="4430310"/>
              <a:ext cx="2034000" cy="252000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500" b="1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网  络  号</a:t>
              </a:r>
              <a:endParaRPr kumimoji="0" lang="zh-CN" altLang="en-US" sz="15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11520" y="3821767"/>
              <a:ext cx="91001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5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 络 号</a:t>
              </a:r>
              <a:endPara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2628147" y="4379331"/>
              <a:ext cx="91001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5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 机 号</a:t>
              </a:r>
              <a:endPara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24801" y="3803538"/>
              <a:ext cx="6539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类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27491" y="4117863"/>
              <a:ext cx="6539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类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124800" y="4429347"/>
              <a:ext cx="6539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类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2" name="直接箭头连接符 11"/>
          <p:cNvCxnSpPr/>
          <p:nvPr/>
        </p:nvCxnSpPr>
        <p:spPr>
          <a:xfrm>
            <a:off x="2238372" y="2528408"/>
            <a:ext cx="537818" cy="1"/>
          </a:xfrm>
          <a:prstGeom prst="straightConnector1">
            <a:avLst/>
          </a:prstGeom>
          <a:ln w="25400">
            <a:solidFill>
              <a:schemeClr val="accent6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>
            <a:off x="1557530" y="2798044"/>
            <a:ext cx="2520000" cy="1"/>
          </a:xfrm>
          <a:prstGeom prst="straightConnector1">
            <a:avLst/>
          </a:prstGeom>
          <a:ln w="25400">
            <a:solidFill>
              <a:schemeClr val="accent6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/>
          <p:nvPr/>
        </p:nvCxnSpPr>
        <p:spPr>
          <a:xfrm>
            <a:off x="1808095" y="3053742"/>
            <a:ext cx="1800000" cy="1"/>
          </a:xfrm>
          <a:prstGeom prst="straightConnector1">
            <a:avLst/>
          </a:prstGeom>
          <a:ln w="25400">
            <a:solidFill>
              <a:schemeClr val="accent6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49"/>
          <p:cNvSpPr txBox="1"/>
          <p:nvPr/>
        </p:nvSpPr>
        <p:spPr>
          <a:xfrm>
            <a:off x="257175" y="1816735"/>
            <a:ext cx="3615055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从划分</a:t>
            </a:r>
            <a:r>
              <a:rPr lang="zh-CN" altLang="en-US" sz="17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  <a:sym typeface="+mn-ea"/>
              </a:rPr>
              <a:t>子网</a:t>
            </a:r>
            <a:r>
              <a:rPr lang="zh-CN" altLang="en-US" sz="17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到</a:t>
            </a:r>
            <a:r>
              <a:rPr lang="en-US" altLang="zh-CN" sz="17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CIDR</a:t>
            </a:r>
            <a:r>
              <a:rPr lang="zh-CN" altLang="en-US" sz="17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的演变：</a:t>
            </a:r>
            <a:endParaRPr lang="zh-CN" altLang="en-US" sz="1700" b="1" kern="0" dirty="0" smtClean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" name="TextBox 49"/>
          <p:cNvSpPr txBox="1"/>
          <p:nvPr/>
        </p:nvSpPr>
        <p:spPr>
          <a:xfrm>
            <a:off x="257175" y="3242310"/>
            <a:ext cx="4957445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从分类地址二级结构到</a:t>
            </a:r>
            <a:r>
              <a:rPr lang="en-US" altLang="zh-CN" sz="17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CIDR</a:t>
            </a:r>
            <a:r>
              <a:rPr lang="zh-CN" altLang="en-US" sz="17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二级结构的演变：</a:t>
            </a:r>
            <a:endParaRPr lang="zh-CN" altLang="en-US" sz="1700" b="1" kern="0" dirty="0" smtClean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21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21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3" grpId="0"/>
      <p:bldP spid="64" grpId="0"/>
      <p:bldP spid="6" grpId="0"/>
      <p:bldP spid="41" grpId="0"/>
      <p:bldP spid="42" grpId="0"/>
      <p:bldP spid="43" grpId="0"/>
      <p:bldP spid="45" grpId="0"/>
      <p:bldP spid="50" grpId="0"/>
      <p:bldP spid="51" grpId="0"/>
      <p:bldP spid="52" grpId="0"/>
      <p:bldP spid="66" grpId="0"/>
      <p:bldP spid="67" grpId="0"/>
      <p:bldP spid="69" grpId="0"/>
      <p:bldP spid="71" grpId="0"/>
      <p:bldP spid="72" grpId="0"/>
      <p:bldP spid="100" grpId="0"/>
      <p:bldP spid="101" grpId="0"/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 descr="C:\Users\Administrator\Desktop\3afe8fe6bfe17e05fe49e17f29526623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-3114092" y="483518"/>
            <a:ext cx="6228184" cy="4448404"/>
          </a:xfrm>
          <a:prstGeom prst="rect">
            <a:avLst/>
          </a:prstGeom>
          <a:noFill/>
        </p:spPr>
      </p:pic>
      <p:cxnSp>
        <p:nvCxnSpPr>
          <p:cNvPr id="24" name="直接连接符 23"/>
          <p:cNvCxnSpPr/>
          <p:nvPr/>
        </p:nvCxnSpPr>
        <p:spPr>
          <a:xfrm flipV="1">
            <a:off x="4438183" y="1777237"/>
            <a:ext cx="0" cy="142041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3"/>
          <p:cNvSpPr txBox="1"/>
          <p:nvPr/>
        </p:nvSpPr>
        <p:spPr>
          <a:xfrm>
            <a:off x="3184399" y="2951483"/>
            <a:ext cx="902574" cy="2461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PART 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02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3059832" y="1773997"/>
            <a:ext cx="1004222" cy="10042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80808"/>
              </a:solidFill>
              <a:latin typeface="+mj-ea"/>
              <a:ea typeface="+mj-ea"/>
            </a:endParaRPr>
          </a:p>
        </p:txBody>
      </p:sp>
      <p:sp>
        <p:nvSpPr>
          <p:cNvPr id="31" name="TextBox 13"/>
          <p:cNvSpPr txBox="1"/>
          <p:nvPr/>
        </p:nvSpPr>
        <p:spPr>
          <a:xfrm>
            <a:off x="3214460" y="1895094"/>
            <a:ext cx="902574" cy="7692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5000" b="1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02</a:t>
            </a:r>
            <a:endParaRPr lang="zh-CN" altLang="en-US" sz="50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4572909" y="1875352"/>
            <a:ext cx="2397321" cy="927431"/>
          </a:xfrm>
          <a:prstGeom prst="rect">
            <a:avLst/>
          </a:prstGeom>
          <a:noFill/>
        </p:spPr>
        <p:txBody>
          <a:bodyPr wrap="none" lIns="65023" tIns="32511" rIns="65023" bIns="32511" rtlCol="0">
            <a:spAutoFit/>
          </a:bodyPr>
          <a:lstStyle/>
          <a:p>
            <a:pPr marL="0" lvl="1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第二部分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/>
            <a:r>
              <a:rPr lang="zh-CN" altLang="en-US" sz="3600" dirty="0">
                <a:solidFill>
                  <a:srgbClr val="F0D0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400" b="1" dirty="0" smtClean="0">
                <a:solidFill>
                  <a:srgbClr val="C68F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CIDR</a:t>
            </a:r>
            <a:r>
              <a:rPr lang="zh-CN" altLang="en-US" sz="2400" b="1" dirty="0" smtClean="0">
                <a:solidFill>
                  <a:srgbClr val="C68F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地址块</a:t>
            </a:r>
            <a:endParaRPr lang="zh-CN" altLang="en-US" sz="2400" b="1" dirty="0">
              <a:solidFill>
                <a:srgbClr val="C68F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8" grpId="0" animBg="1"/>
      <p:bldP spid="31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49604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5897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267494"/>
            <a:ext cx="1944217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2.CIDR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地址块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íşlïḍè"/>
          <p:cNvSpPr txBox="1"/>
          <p:nvPr/>
        </p:nvSpPr>
        <p:spPr>
          <a:xfrm>
            <a:off x="179512" y="673416"/>
            <a:ext cx="3168352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CIDR</a:t>
            </a:r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地址块的概念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51519" y="1074773"/>
            <a:ext cx="51125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CIDR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将网络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前缀都相同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的连续的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地址组成一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8542" y="1469275"/>
            <a:ext cx="84699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我们只需要知道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CIDR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地址块中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的任何一个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地址。就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可以知道该地址块的全部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细节：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357870" y="1923676"/>
            <a:ext cx="2472350" cy="366112"/>
            <a:chOff x="3391797" y="1859720"/>
            <a:chExt cx="1904660" cy="276658"/>
          </a:xfrm>
        </p:grpSpPr>
        <p:sp>
          <p:nvSpPr>
            <p:cNvPr id="57" name="圆角矩形 56"/>
            <p:cNvSpPr/>
            <p:nvPr/>
          </p:nvSpPr>
          <p:spPr>
            <a:xfrm>
              <a:off x="3391797" y="1864339"/>
              <a:ext cx="1904660" cy="272039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3516715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3577720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0" name="文本框 3"/>
            <p:cNvSpPr txBox="1">
              <a:spLocks noChangeArrowheads="1"/>
            </p:cNvSpPr>
            <p:nvPr/>
          </p:nvSpPr>
          <p:spPr bwMode="auto">
            <a:xfrm>
              <a:off x="3731189" y="1859720"/>
              <a:ext cx="1565267" cy="267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lvl="0">
                <a:defRPr/>
              </a:pPr>
              <a:r>
                <a:rPr lang="zh-CN" altLang="en-US" sz="17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地址块的最小地址</a:t>
              </a:r>
              <a:endPara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346104" y="2427732"/>
            <a:ext cx="2484114" cy="366112"/>
            <a:chOff x="3391797" y="1859720"/>
            <a:chExt cx="1913723" cy="276658"/>
          </a:xfrm>
        </p:grpSpPr>
        <p:sp>
          <p:nvSpPr>
            <p:cNvPr id="62" name="圆角矩形 61"/>
            <p:cNvSpPr/>
            <p:nvPr/>
          </p:nvSpPr>
          <p:spPr>
            <a:xfrm>
              <a:off x="3391797" y="1864339"/>
              <a:ext cx="1913723" cy="272039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3" name="任意多边形 62"/>
            <p:cNvSpPr/>
            <p:nvPr/>
          </p:nvSpPr>
          <p:spPr>
            <a:xfrm>
              <a:off x="3516715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5" name="任意多边形 64"/>
            <p:cNvSpPr/>
            <p:nvPr/>
          </p:nvSpPr>
          <p:spPr>
            <a:xfrm>
              <a:off x="3577720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8" name="文本框 3"/>
            <p:cNvSpPr txBox="1">
              <a:spLocks noChangeArrowheads="1"/>
            </p:cNvSpPr>
            <p:nvPr/>
          </p:nvSpPr>
          <p:spPr bwMode="auto">
            <a:xfrm>
              <a:off x="3731189" y="1859720"/>
              <a:ext cx="1574331" cy="267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lvl="0">
                <a:defRPr/>
              </a:pPr>
              <a:r>
                <a:rPr lang="zh-CN" altLang="en-US" sz="17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地址块的</a:t>
              </a:r>
              <a:r>
                <a:rPr lang="zh-CN" altLang="en-US" sz="1700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最大地址</a:t>
              </a:r>
              <a:endPara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346104" y="2931788"/>
            <a:ext cx="2785736" cy="366112"/>
            <a:chOff x="3391797" y="1859720"/>
            <a:chExt cx="2146088" cy="276658"/>
          </a:xfrm>
        </p:grpSpPr>
        <p:sp>
          <p:nvSpPr>
            <p:cNvPr id="79" name="圆角矩形 78"/>
            <p:cNvSpPr/>
            <p:nvPr/>
          </p:nvSpPr>
          <p:spPr>
            <a:xfrm>
              <a:off x="3391797" y="1864339"/>
              <a:ext cx="2146088" cy="272039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9" name="任意多边形 98"/>
            <p:cNvSpPr/>
            <p:nvPr/>
          </p:nvSpPr>
          <p:spPr>
            <a:xfrm>
              <a:off x="3516715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05" name="任意多边形 104"/>
            <p:cNvSpPr/>
            <p:nvPr/>
          </p:nvSpPr>
          <p:spPr>
            <a:xfrm>
              <a:off x="3577720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06" name="文本框 3"/>
            <p:cNvSpPr txBox="1">
              <a:spLocks noChangeArrowheads="1"/>
            </p:cNvSpPr>
            <p:nvPr/>
          </p:nvSpPr>
          <p:spPr bwMode="auto">
            <a:xfrm>
              <a:off x="3731189" y="1859720"/>
              <a:ext cx="1806696" cy="267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lvl="0">
                <a:defRPr/>
              </a:pPr>
              <a:r>
                <a:rPr lang="zh-CN" altLang="en-US" sz="17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地址块中的地址数量</a:t>
              </a:r>
              <a:endPara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321277" y="3435844"/>
            <a:ext cx="3458635" cy="366112"/>
            <a:chOff x="3391797" y="1859720"/>
            <a:chExt cx="2664479" cy="276658"/>
          </a:xfrm>
        </p:grpSpPr>
        <p:sp>
          <p:nvSpPr>
            <p:cNvPr id="110" name="圆角矩形 109"/>
            <p:cNvSpPr/>
            <p:nvPr/>
          </p:nvSpPr>
          <p:spPr>
            <a:xfrm>
              <a:off x="3391797" y="1864339"/>
              <a:ext cx="2664479" cy="272039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11" name="任意多边形 110"/>
            <p:cNvSpPr/>
            <p:nvPr/>
          </p:nvSpPr>
          <p:spPr>
            <a:xfrm>
              <a:off x="3516715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12" name="任意多边形 111"/>
            <p:cNvSpPr/>
            <p:nvPr/>
          </p:nvSpPr>
          <p:spPr>
            <a:xfrm>
              <a:off x="3577720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13" name="文本框 3"/>
            <p:cNvSpPr txBox="1">
              <a:spLocks noChangeArrowheads="1"/>
            </p:cNvSpPr>
            <p:nvPr/>
          </p:nvSpPr>
          <p:spPr bwMode="auto">
            <a:xfrm>
              <a:off x="3731189" y="1859720"/>
              <a:ext cx="2325087" cy="267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lvl="0">
                <a:defRPr/>
              </a:pPr>
              <a:r>
                <a:rPr lang="zh-CN" altLang="en-US" sz="17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地址块聚合某类网络的数量</a:t>
              </a:r>
              <a:endPara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312334" y="3939900"/>
            <a:ext cx="1667376" cy="366112"/>
            <a:chOff x="3391797" y="1859720"/>
            <a:chExt cx="1284521" cy="276658"/>
          </a:xfrm>
        </p:grpSpPr>
        <p:sp>
          <p:nvSpPr>
            <p:cNvPr id="115" name="圆角矩形 114"/>
            <p:cNvSpPr/>
            <p:nvPr/>
          </p:nvSpPr>
          <p:spPr>
            <a:xfrm>
              <a:off x="3391797" y="1864339"/>
              <a:ext cx="1284521" cy="272039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16" name="任意多边形 115"/>
            <p:cNvSpPr/>
            <p:nvPr/>
          </p:nvSpPr>
          <p:spPr>
            <a:xfrm>
              <a:off x="3516715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17" name="任意多边形 116"/>
            <p:cNvSpPr/>
            <p:nvPr/>
          </p:nvSpPr>
          <p:spPr>
            <a:xfrm>
              <a:off x="3577720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18" name="文本框 3"/>
            <p:cNvSpPr txBox="1">
              <a:spLocks noChangeArrowheads="1"/>
            </p:cNvSpPr>
            <p:nvPr/>
          </p:nvSpPr>
          <p:spPr bwMode="auto">
            <a:xfrm>
              <a:off x="3731189" y="1859720"/>
              <a:ext cx="889656" cy="267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lvl="0">
                <a:defRPr/>
              </a:pPr>
              <a:r>
                <a:rPr lang="zh-CN" altLang="en-US" sz="17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地址掩码</a:t>
              </a:r>
              <a:endPara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19" name="TextBox 118"/>
          <p:cNvSpPr txBox="1"/>
          <p:nvPr/>
        </p:nvSpPr>
        <p:spPr>
          <a:xfrm>
            <a:off x="4716016" y="1074773"/>
            <a:ext cx="1367984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CIDR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3" grpId="0"/>
      <p:bldP spid="41" grpId="0"/>
      <p:bldP spid="42" grpId="0"/>
      <p:bldP spid="1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/>
          <p:cNvSpPr txBox="1"/>
          <p:nvPr/>
        </p:nvSpPr>
        <p:spPr>
          <a:xfrm>
            <a:off x="3008343" y="2141251"/>
            <a:ext cx="1440000" cy="310564"/>
          </a:xfrm>
          <a:prstGeom prst="rect">
            <a:avLst/>
          </a:prstGeom>
          <a:solidFill>
            <a:srgbClr val="2D7FAE"/>
          </a:solidFill>
        </p:spPr>
        <p:txBody>
          <a:bodyPr wrap="none" lIns="36000" tIns="18000" rtlCol="0">
            <a:spAutoFit/>
          </a:bodyPr>
          <a:lstStyle/>
          <a:p>
            <a:r>
              <a:rPr lang="en-US" altLang="zh-CN" sz="16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spc="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128.14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600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0010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49604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5897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267494"/>
            <a:ext cx="1944217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2.CIDR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地址块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小标题"/>
          <p:cNvSpPr txBox="1"/>
          <p:nvPr/>
        </p:nvSpPr>
        <p:spPr>
          <a:xfrm>
            <a:off x="179512" y="673416"/>
            <a:ext cx="3168352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CIDR</a:t>
            </a:r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地址块的概念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71633" y="2136308"/>
            <a:ext cx="1917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128.14.35.7/20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2267744" y="2307911"/>
            <a:ext cx="576000" cy="1"/>
          </a:xfrm>
          <a:prstGeom prst="straightConnector1">
            <a:avLst/>
          </a:prstGeom>
          <a:ln w="25400">
            <a:solidFill>
              <a:schemeClr val="tx2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994194" y="1882565"/>
            <a:ext cx="0" cy="1476000"/>
          </a:xfrm>
          <a:prstGeom prst="line">
            <a:avLst/>
          </a:prstGeom>
          <a:ln w="2222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463191" y="2141251"/>
            <a:ext cx="1736275" cy="310564"/>
          </a:xfrm>
          <a:prstGeom prst="rect">
            <a:avLst/>
          </a:prstGeom>
          <a:solidFill>
            <a:srgbClr val="FFC000"/>
          </a:solidFill>
        </p:spPr>
        <p:txBody>
          <a:bodyPr wrap="none" lIns="18000" tIns="18000" rtlCol="0">
            <a:spAutoFit/>
          </a:bodyPr>
          <a:lstStyle/>
          <a:p>
            <a:r>
              <a:rPr lang="en-US" altLang="zh-CN" sz="1600" spc="8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0011.00000111</a:t>
            </a:r>
            <a:endParaRPr lang="zh-CN" altLang="en-US" sz="1600" spc="8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4460480" y="1882565"/>
            <a:ext cx="0" cy="1476000"/>
          </a:xfrm>
          <a:prstGeom prst="line">
            <a:avLst/>
          </a:prstGeom>
          <a:ln w="2222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94194" y="1799095"/>
            <a:ext cx="1444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20</a:t>
            </a:r>
            <a:r>
              <a:rPr lang="zh-CN" altLang="en-US" sz="1400" dirty="0" smtClean="0"/>
              <a:t>比特网络前缀</a:t>
            </a:r>
            <a:endParaRPr lang="zh-CN" altLang="en-US" sz="1400" dirty="0"/>
          </a:p>
        </p:txBody>
      </p:sp>
      <p:sp>
        <p:nvSpPr>
          <p:cNvPr id="45" name="TextBox 44"/>
          <p:cNvSpPr txBox="1"/>
          <p:nvPr/>
        </p:nvSpPr>
        <p:spPr>
          <a:xfrm>
            <a:off x="4683197" y="1799095"/>
            <a:ext cx="1265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12</a:t>
            </a:r>
            <a:r>
              <a:rPr lang="zh-CN" altLang="en-US" sz="1400" dirty="0" smtClean="0"/>
              <a:t>比特主机号</a:t>
            </a:r>
            <a:endParaRPr lang="zh-CN" altLang="en-US" sz="1400" dirty="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349283" y="1952983"/>
            <a:ext cx="115200" cy="0"/>
          </a:xfrm>
          <a:prstGeom prst="straightConnector1">
            <a:avLst/>
          </a:prstGeom>
          <a:ln w="127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3004084" y="1952983"/>
            <a:ext cx="72000" cy="0"/>
          </a:xfrm>
          <a:prstGeom prst="straightConnector1">
            <a:avLst/>
          </a:prstGeom>
          <a:ln w="127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H="1">
            <a:off x="4455196" y="1952983"/>
            <a:ext cx="324000" cy="0"/>
          </a:xfrm>
          <a:prstGeom prst="straightConnector1">
            <a:avLst/>
          </a:prstGeom>
          <a:ln w="127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5881207" y="1952983"/>
            <a:ext cx="324000" cy="0"/>
          </a:xfrm>
          <a:prstGeom prst="straightConnector1">
            <a:avLst/>
          </a:prstGeom>
          <a:ln w="127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07504" y="2499742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最小地址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135372" y="2538931"/>
            <a:ext cx="1375698" cy="310564"/>
          </a:xfrm>
          <a:prstGeom prst="rect">
            <a:avLst/>
          </a:prstGeom>
          <a:noFill/>
        </p:spPr>
        <p:txBody>
          <a:bodyPr wrap="none" tIns="18000" rtlCol="0">
            <a:spAutoFit/>
          </a:bodyPr>
          <a:lstStyle/>
          <a:p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128.14.32.0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7504" y="2866475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135372" y="2905664"/>
            <a:ext cx="1628972" cy="310564"/>
          </a:xfrm>
          <a:prstGeom prst="rect">
            <a:avLst/>
          </a:prstGeom>
          <a:noFill/>
        </p:spPr>
        <p:txBody>
          <a:bodyPr wrap="none" tIns="18000" rtlCol="0">
            <a:spAutoFit/>
          </a:bodyPr>
          <a:lstStyle/>
          <a:p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128.14.47.255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20567" y="3219822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地址数量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128679" y="3228780"/>
            <a:ext cx="6270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zh-CN" altLang="en-US" sz="1600" baseline="30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20567" y="3590801"/>
            <a:ext cx="2664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聚合了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类网络的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数量：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293870" y="3579862"/>
            <a:ext cx="12912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en-US" altLang="zh-CN" sz="1600" b="1" dirty="0" smtClean="0"/>
              <a:t>÷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zh-CN" altLang="en-US" sz="1600" baseline="30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40323" y="3939902"/>
            <a:ext cx="1164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掩码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192370" y="3949741"/>
            <a:ext cx="47139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11111111.11111111.11110000.00000000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187624" y="4280186"/>
            <a:ext cx="2050106" cy="310564"/>
          </a:xfrm>
          <a:prstGeom prst="rect">
            <a:avLst/>
          </a:prstGeom>
          <a:noFill/>
        </p:spPr>
        <p:txBody>
          <a:bodyPr wrap="square" tIns="18000" rtlCol="0">
            <a:spAutoFit/>
          </a:bodyPr>
          <a:lstStyle/>
          <a:p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255.255.240.0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008343" y="2524611"/>
            <a:ext cx="1440000" cy="310564"/>
          </a:xfrm>
          <a:prstGeom prst="rect">
            <a:avLst/>
          </a:prstGeom>
          <a:solidFill>
            <a:srgbClr val="2D7FAE"/>
          </a:solidFill>
        </p:spPr>
        <p:txBody>
          <a:bodyPr wrap="none" lIns="36000" tIns="18000" rtlCol="0">
            <a:spAutoFit/>
          </a:bodyPr>
          <a:lstStyle/>
          <a:p>
            <a:r>
              <a:rPr lang="en-US" altLang="zh-CN" sz="1600" spc="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128.14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600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0010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476038" y="2524611"/>
            <a:ext cx="1728000" cy="310564"/>
          </a:xfrm>
          <a:prstGeom prst="rect">
            <a:avLst/>
          </a:prstGeom>
          <a:solidFill>
            <a:srgbClr val="FFC000"/>
          </a:solidFill>
        </p:spPr>
        <p:txBody>
          <a:bodyPr wrap="none" lIns="18000" tIns="18000" rtlCol="0">
            <a:spAutoFit/>
          </a:bodyPr>
          <a:lstStyle/>
          <a:p>
            <a:r>
              <a:rPr lang="en-US" altLang="zh-CN" sz="1600" spc="8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0000.00000000</a:t>
            </a:r>
            <a:endParaRPr lang="zh-CN" altLang="en-US" sz="1600" spc="8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008343" y="2900980"/>
            <a:ext cx="1440000" cy="310564"/>
          </a:xfrm>
          <a:prstGeom prst="rect">
            <a:avLst/>
          </a:prstGeom>
          <a:solidFill>
            <a:srgbClr val="2D7FAE"/>
          </a:solidFill>
        </p:spPr>
        <p:txBody>
          <a:bodyPr wrap="none" lIns="36000" tIns="18000" rtlCol="0">
            <a:spAutoFit/>
          </a:bodyPr>
          <a:lstStyle/>
          <a:p>
            <a:r>
              <a:rPr lang="en-US" altLang="zh-CN" sz="1600" spc="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128.14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600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0010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471682" y="2900980"/>
            <a:ext cx="1736275" cy="310564"/>
          </a:xfrm>
          <a:prstGeom prst="rect">
            <a:avLst/>
          </a:prstGeom>
          <a:solidFill>
            <a:srgbClr val="FFC000"/>
          </a:solidFill>
        </p:spPr>
        <p:txBody>
          <a:bodyPr wrap="none" lIns="18000" tIns="18000" rtlCol="0">
            <a:spAutoFit/>
          </a:bodyPr>
          <a:lstStyle/>
          <a:p>
            <a:r>
              <a:rPr lang="en-US" altLang="zh-CN" sz="1600" spc="8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1111.11111111</a:t>
            </a:r>
            <a:endParaRPr lang="zh-CN" altLang="en-US" sz="1600" spc="8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>
            <a:off x="6202058" y="1882565"/>
            <a:ext cx="0" cy="1476000"/>
          </a:xfrm>
          <a:prstGeom prst="line">
            <a:avLst/>
          </a:prstGeom>
          <a:ln w="2222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576018" y="3255054"/>
            <a:ext cx="691215" cy="310564"/>
          </a:xfrm>
          <a:prstGeom prst="rect">
            <a:avLst/>
          </a:prstGeom>
          <a:noFill/>
        </p:spPr>
        <p:txBody>
          <a:bodyPr wrap="none" tIns="18000" rtlCol="0">
            <a:spAutoFit/>
          </a:bodyPr>
          <a:lstStyle/>
          <a:p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4096</a:t>
            </a:r>
            <a:endParaRPr lang="zh-CN" altLang="en-US" sz="1600" b="1" baseline="30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171675" y="3599501"/>
            <a:ext cx="468670" cy="310564"/>
          </a:xfrm>
          <a:prstGeom prst="rect">
            <a:avLst/>
          </a:prstGeom>
          <a:noFill/>
        </p:spPr>
        <p:txBody>
          <a:bodyPr wrap="square" tIns="18000" rtlCol="0">
            <a:spAutoFit/>
          </a:bodyPr>
          <a:lstStyle/>
          <a:p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zh-CN" altLang="en-US" sz="1600" b="1" baseline="30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071" y="18041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解析</a:t>
            </a:r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07504" y="1042501"/>
            <a:ext cx="8856984" cy="6660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31BDCA">
                <a:shade val="5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173142" y="1022532"/>
            <a:ext cx="8791346" cy="69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7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案例：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请给出</a:t>
            </a:r>
            <a:r>
              <a:rPr lang="en-US" altLang="zh-CN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CIDR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地址块</a:t>
            </a:r>
            <a:r>
              <a:rPr lang="en-US" altLang="zh-CN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128.14.35.7/20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的全部细节（最小地址、最大地址、地址数量、聚合</a:t>
            </a:r>
            <a:r>
              <a:rPr lang="en-US" altLang="zh-CN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类网络数量、地址掩码）。</a:t>
            </a:r>
            <a:endParaRPr lang="zh-CN" altLang="en-US" sz="1700" dirty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5" grpId="0"/>
      <p:bldP spid="40" grpId="0" animBg="1"/>
      <p:bldP spid="7" grpId="0"/>
      <p:bldP spid="45" grpId="0"/>
      <p:bldP spid="71" grpId="0"/>
      <p:bldP spid="72" grpId="0"/>
      <p:bldP spid="75" grpId="0"/>
      <p:bldP spid="76" grpId="0"/>
      <p:bldP spid="78" grpId="0"/>
      <p:bldP spid="80" grpId="0"/>
      <p:bldP spid="81" grpId="0"/>
      <p:bldP spid="82" grpId="0"/>
      <p:bldP spid="83" grpId="0"/>
      <p:bldP spid="84" grpId="0"/>
      <p:bldP spid="85" grpId="0"/>
      <p:bldP spid="86" grpId="0" bldLvl="0" animBg="1"/>
      <p:bldP spid="87" grpId="0" bldLvl="0" animBg="1"/>
      <p:bldP spid="88" grpId="0" bldLvl="0" animBg="1"/>
      <p:bldP spid="89" grpId="0" bldLvl="0" animBg="1"/>
      <p:bldP spid="90" grpId="0"/>
      <p:bldP spid="91" grpId="0"/>
      <p:bldP spid="20" grpId="0"/>
      <p:bldP spid="94" grpId="0" animBg="1"/>
      <p:bldP spid="9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/>
          <p:cNvSpPr txBox="1"/>
          <p:nvPr/>
        </p:nvSpPr>
        <p:spPr>
          <a:xfrm>
            <a:off x="4547572" y="2921764"/>
            <a:ext cx="1997244" cy="310564"/>
          </a:xfrm>
          <a:prstGeom prst="rect">
            <a:avLst/>
          </a:prstGeom>
          <a:solidFill>
            <a:srgbClr val="FFC000"/>
          </a:solidFill>
        </p:spPr>
        <p:txBody>
          <a:bodyPr wrap="none" lIns="18000" tIns="18000" rtlCol="0">
            <a:spAutoFit/>
          </a:bodyPr>
          <a:lstStyle/>
          <a:p>
            <a:r>
              <a:rPr lang="en-US" altLang="zh-CN" sz="1600" spc="8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111111.11111111</a:t>
            </a:r>
            <a:endParaRPr lang="zh-CN" altLang="en-US" sz="1600" spc="8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47572" y="2502779"/>
            <a:ext cx="1997244" cy="310564"/>
          </a:xfrm>
          <a:prstGeom prst="rect">
            <a:avLst/>
          </a:prstGeom>
          <a:solidFill>
            <a:srgbClr val="FFC000"/>
          </a:solidFill>
        </p:spPr>
        <p:txBody>
          <a:bodyPr wrap="none" lIns="18000" tIns="18000" rtlCol="0">
            <a:spAutoFit/>
          </a:bodyPr>
          <a:lstStyle/>
          <a:p>
            <a:r>
              <a:rPr lang="en-US" altLang="zh-CN" sz="1600" spc="8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000000.00000000</a:t>
            </a:r>
            <a:endParaRPr lang="zh-CN" altLang="en-US" sz="1600" spc="8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3120475" y="2099463"/>
            <a:ext cx="1418400" cy="310564"/>
          </a:xfrm>
          <a:prstGeom prst="rect">
            <a:avLst/>
          </a:prstGeom>
          <a:solidFill>
            <a:srgbClr val="2D7FAE"/>
          </a:solidFill>
        </p:spPr>
        <p:txBody>
          <a:bodyPr wrap="square" lIns="90000" tIns="18000" rIns="18000" rtlCol="0">
            <a:spAutoFit/>
          </a:bodyPr>
          <a:lstStyle/>
          <a:p>
            <a:r>
              <a:rPr lang="en-US" altLang="zh-CN" sz="1600" spc="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206.142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600" spc="2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spc="2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49604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5897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267494"/>
            <a:ext cx="1944217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2.CIDR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地址块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小标题"/>
          <p:cNvSpPr txBox="1"/>
          <p:nvPr/>
        </p:nvSpPr>
        <p:spPr>
          <a:xfrm>
            <a:off x="179512" y="673416"/>
            <a:ext cx="3168352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CIDR</a:t>
            </a:r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地址块的概念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93750" y="2094520"/>
            <a:ext cx="2060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206.142.64.8/18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2519840" y="2266123"/>
            <a:ext cx="540000" cy="1"/>
          </a:xfrm>
          <a:prstGeom prst="straightConnector1">
            <a:avLst/>
          </a:prstGeom>
          <a:ln w="25400">
            <a:solidFill>
              <a:schemeClr val="tx2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3106326" y="1840777"/>
            <a:ext cx="0" cy="1548000"/>
          </a:xfrm>
          <a:prstGeom prst="line">
            <a:avLst/>
          </a:prstGeom>
          <a:ln w="2222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41741" y="2099463"/>
            <a:ext cx="1997244" cy="310564"/>
          </a:xfrm>
          <a:prstGeom prst="rect">
            <a:avLst/>
          </a:prstGeom>
          <a:solidFill>
            <a:srgbClr val="FFC000"/>
          </a:solidFill>
        </p:spPr>
        <p:txBody>
          <a:bodyPr wrap="none" lIns="18000" tIns="18000" rtlCol="0">
            <a:spAutoFit/>
          </a:bodyPr>
          <a:lstStyle/>
          <a:p>
            <a:r>
              <a:rPr lang="en-US" altLang="zh-CN" sz="1600" spc="8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000000.00001000</a:t>
            </a:r>
            <a:endParaRPr lang="zh-CN" altLang="en-US" sz="1600" spc="8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4541253" y="1840777"/>
            <a:ext cx="0" cy="1548000"/>
          </a:xfrm>
          <a:prstGeom prst="line">
            <a:avLst/>
          </a:prstGeom>
          <a:ln w="2222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87518" y="1757307"/>
            <a:ext cx="1444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18</a:t>
            </a:r>
            <a:r>
              <a:rPr lang="zh-CN" altLang="en-US" sz="1400" dirty="0" smtClean="0"/>
              <a:t>比特网络前缀</a:t>
            </a:r>
            <a:endParaRPr lang="zh-CN" altLang="en-US" sz="1400" dirty="0"/>
          </a:p>
        </p:txBody>
      </p:sp>
      <p:sp>
        <p:nvSpPr>
          <p:cNvPr id="45" name="TextBox 44"/>
          <p:cNvSpPr txBox="1"/>
          <p:nvPr/>
        </p:nvSpPr>
        <p:spPr>
          <a:xfrm>
            <a:off x="4905914" y="1757307"/>
            <a:ext cx="1265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14</a:t>
            </a:r>
            <a:r>
              <a:rPr lang="zh-CN" altLang="en-US" sz="1400" dirty="0" smtClean="0"/>
              <a:t>比特主机号</a:t>
            </a:r>
            <a:endParaRPr lang="zh-CN" altLang="en-US" sz="1400" dirty="0"/>
          </a:p>
        </p:txBody>
      </p:sp>
      <p:cxnSp>
        <p:nvCxnSpPr>
          <p:cNvPr id="55" name="直接箭头连接符 54"/>
          <p:cNvCxnSpPr/>
          <p:nvPr/>
        </p:nvCxnSpPr>
        <p:spPr>
          <a:xfrm flipH="1">
            <a:off x="4546809" y="1898132"/>
            <a:ext cx="432000" cy="0"/>
          </a:xfrm>
          <a:prstGeom prst="straightConnector1">
            <a:avLst/>
          </a:prstGeom>
          <a:ln w="127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6110294" y="1898132"/>
            <a:ext cx="432000" cy="0"/>
          </a:xfrm>
          <a:prstGeom prst="straightConnector1">
            <a:avLst/>
          </a:prstGeom>
          <a:ln w="127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07504" y="2427734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最小地址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115616" y="2466923"/>
            <a:ext cx="1502334" cy="310564"/>
          </a:xfrm>
          <a:prstGeom prst="rect">
            <a:avLst/>
          </a:prstGeom>
          <a:noFill/>
        </p:spPr>
        <p:txBody>
          <a:bodyPr wrap="none" tIns="18000" rtlCol="0">
            <a:spAutoFit/>
          </a:bodyPr>
          <a:lstStyle/>
          <a:p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206.142.64.0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7504" y="2741892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118314" y="2781081"/>
            <a:ext cx="1882247" cy="310564"/>
          </a:xfrm>
          <a:prstGeom prst="rect">
            <a:avLst/>
          </a:prstGeom>
          <a:noFill/>
        </p:spPr>
        <p:txBody>
          <a:bodyPr wrap="none" tIns="18000" rtlCol="0">
            <a:spAutoFit/>
          </a:bodyPr>
          <a:lstStyle/>
          <a:p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206.142.127.255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20567" y="3050189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地址数量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251034" y="3059147"/>
            <a:ext cx="6270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zh-CN" altLang="en-US" sz="1600" baseline="30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20567" y="3351098"/>
            <a:ext cx="2664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聚合了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类网络的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数量：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359831" y="3366285"/>
            <a:ext cx="12912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en-US" altLang="zh-CN" sz="1600" b="1" dirty="0" smtClean="0"/>
              <a:t>÷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zh-CN" altLang="en-US" sz="1600" baseline="30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20567" y="3668178"/>
            <a:ext cx="1164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掩码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187624" y="3665256"/>
            <a:ext cx="47139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11111111.11111111.11000000.00000000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221043" y="3971833"/>
            <a:ext cx="2050106" cy="310564"/>
          </a:xfrm>
          <a:prstGeom prst="rect">
            <a:avLst/>
          </a:prstGeom>
          <a:noFill/>
        </p:spPr>
        <p:txBody>
          <a:bodyPr wrap="square" tIns="18000" rtlCol="0">
            <a:spAutoFit/>
          </a:bodyPr>
          <a:lstStyle/>
          <a:p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255.255.192.0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>
            <a:off x="6549035" y="1840777"/>
            <a:ext cx="0" cy="1548000"/>
          </a:xfrm>
          <a:prstGeom prst="line">
            <a:avLst/>
          </a:prstGeom>
          <a:ln w="2222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706340" y="3072358"/>
            <a:ext cx="960932" cy="310564"/>
          </a:xfrm>
          <a:prstGeom prst="rect">
            <a:avLst/>
          </a:prstGeom>
          <a:noFill/>
        </p:spPr>
        <p:txBody>
          <a:bodyPr wrap="square" tIns="18000" rtlCol="0">
            <a:spAutoFit/>
          </a:bodyPr>
          <a:lstStyle/>
          <a:p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16384</a:t>
            </a:r>
            <a:endParaRPr lang="zh-CN" altLang="en-US" sz="1600" b="1" baseline="30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250291" y="3397354"/>
            <a:ext cx="468670" cy="310564"/>
          </a:xfrm>
          <a:prstGeom prst="rect">
            <a:avLst/>
          </a:prstGeom>
          <a:noFill/>
        </p:spPr>
        <p:txBody>
          <a:bodyPr wrap="square" tIns="18000" rtlCol="0">
            <a:spAutoFit/>
          </a:bodyPr>
          <a:lstStyle/>
          <a:p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endParaRPr lang="zh-CN" altLang="en-US" sz="1600" b="1" baseline="30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071" y="17623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解析</a:t>
            </a:r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07504" y="1042500"/>
            <a:ext cx="8856984" cy="665153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31BDCA">
                <a:shade val="5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107504" y="1022532"/>
            <a:ext cx="8856984" cy="72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7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案例：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请给出</a:t>
            </a:r>
            <a:r>
              <a:rPr lang="en-US" altLang="zh-CN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CIDR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地址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块</a:t>
            </a:r>
            <a:r>
              <a:rPr lang="en-US" altLang="zh-CN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206.142.64.8/18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全部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细节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（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最小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地址、最大地址、地址数量、聚合</a:t>
            </a:r>
            <a:r>
              <a:rPr lang="en-US" altLang="zh-CN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类网络数量、地址掩码）。</a:t>
            </a:r>
            <a:endParaRPr lang="zh-CN" altLang="en-US" sz="1700" dirty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 flipH="1">
            <a:off x="3090090" y="1911195"/>
            <a:ext cx="72000" cy="0"/>
          </a:xfrm>
          <a:prstGeom prst="straightConnector1">
            <a:avLst/>
          </a:prstGeom>
          <a:ln w="127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4475564" y="1908016"/>
            <a:ext cx="72000" cy="0"/>
          </a:xfrm>
          <a:prstGeom prst="straightConnector1">
            <a:avLst/>
          </a:prstGeom>
          <a:ln w="127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120474" y="2916128"/>
            <a:ext cx="1414800" cy="310564"/>
          </a:xfrm>
          <a:prstGeom prst="rect">
            <a:avLst/>
          </a:prstGeom>
          <a:solidFill>
            <a:srgbClr val="2D7FAE"/>
          </a:solidFill>
        </p:spPr>
        <p:txBody>
          <a:bodyPr wrap="none" lIns="90000" tIns="18000" rIns="18000" rtlCol="0">
            <a:spAutoFit/>
          </a:bodyPr>
          <a:lstStyle/>
          <a:p>
            <a:r>
              <a:rPr lang="en-US" altLang="zh-CN" sz="1600" spc="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206.142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600" spc="2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spc="2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120474" y="2502779"/>
            <a:ext cx="1411200" cy="310564"/>
          </a:xfrm>
          <a:prstGeom prst="rect">
            <a:avLst/>
          </a:prstGeom>
          <a:solidFill>
            <a:srgbClr val="2D7FAE"/>
          </a:solidFill>
        </p:spPr>
        <p:txBody>
          <a:bodyPr wrap="none" lIns="90000" tIns="18000" rIns="18000" rtlCol="0">
            <a:spAutoFit/>
          </a:bodyPr>
          <a:lstStyle/>
          <a:p>
            <a:r>
              <a:rPr lang="en-US" altLang="zh-CN" sz="1600" spc="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206.142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600" spc="2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spc="2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连接符 50"/>
          <p:cNvCxnSpPr/>
          <p:nvPr/>
        </p:nvCxnSpPr>
        <p:spPr>
          <a:xfrm flipV="1">
            <a:off x="107504" y="4260753"/>
            <a:ext cx="6539665" cy="25324"/>
          </a:xfrm>
          <a:prstGeom prst="line">
            <a:avLst/>
          </a:prstGeom>
          <a:ln w="2222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92575" y="4331618"/>
            <a:ext cx="1398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r>
              <a:rPr lang="zh-CN" altLang="en-US" sz="1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r>
              <a:rPr lang="zh-CN" altLang="en-US" sz="16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</a:t>
            </a:r>
            <a:endParaRPr lang="zh-CN" altLang="en-US" sz="1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901011" y="4331618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网络前缀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361412" y="4332761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地址数量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429416" y="4332488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zh-CN" altLang="en-US" sz="1600" baseline="30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803936" y="4360479"/>
            <a:ext cx="780932" cy="310564"/>
          </a:xfrm>
          <a:prstGeom prst="rect">
            <a:avLst/>
          </a:prstGeom>
          <a:noFill/>
        </p:spPr>
        <p:txBody>
          <a:bodyPr wrap="square" tIns="18000" rtlCol="0">
            <a:spAutoFit/>
          </a:bodyPr>
          <a:lstStyle/>
          <a:p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</a:t>
            </a:r>
            <a:endParaRPr lang="zh-CN" altLang="en-US" sz="1600" b="1" baseline="30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822192" y="4331618"/>
            <a:ext cx="597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/23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2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BFAF8"/>
              </a:clrFrom>
              <a:clrTo>
                <a:srgbClr val="FBFA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281" y="4270355"/>
            <a:ext cx="408857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47" grpId="0" animBg="1"/>
      <p:bldP spid="92" grpId="0" animBg="1"/>
      <p:bldP spid="35" grpId="0"/>
      <p:bldP spid="40" grpId="0" animBg="1"/>
      <p:bldP spid="7" grpId="0"/>
      <p:bldP spid="45" grpId="0"/>
      <p:bldP spid="71" grpId="0"/>
      <p:bldP spid="72" grpId="0"/>
      <p:bldP spid="75" grpId="0"/>
      <p:bldP spid="76" grpId="0"/>
      <p:bldP spid="78" grpId="0"/>
      <p:bldP spid="80" grpId="0"/>
      <p:bldP spid="81" grpId="0"/>
      <p:bldP spid="82" grpId="0"/>
      <p:bldP spid="83" grpId="0"/>
      <p:bldP spid="84" grpId="0"/>
      <p:bldP spid="85" grpId="0"/>
      <p:bldP spid="90" grpId="0"/>
      <p:bldP spid="91" grpId="0"/>
      <p:bldP spid="20" grpId="0"/>
      <p:bldP spid="94" grpId="0" animBg="1"/>
      <p:bldP spid="95" grpId="0"/>
      <p:bldP spid="48" grpId="0" animBg="1"/>
      <p:bldP spid="49" grpId="0" animBg="1"/>
      <p:bldP spid="52" grpId="0"/>
      <p:bldP spid="54" grpId="0"/>
      <p:bldP spid="56" grpId="0"/>
      <p:bldP spid="57" grpId="0"/>
      <p:bldP spid="58" grpId="0"/>
      <p:bldP spid="5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49604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5897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267494"/>
            <a:ext cx="1944217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2.CIDR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地址块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小标题"/>
          <p:cNvSpPr txBox="1"/>
          <p:nvPr/>
        </p:nvSpPr>
        <p:spPr>
          <a:xfrm>
            <a:off x="179512" y="673416"/>
            <a:ext cx="3168352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）特殊的</a:t>
            </a:r>
            <a:r>
              <a:rPr lang="en-US" altLang="zh-CN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CIDR</a:t>
            </a:r>
            <a:r>
              <a:rPr lang="zh-CN" altLang="en-US" sz="20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地址块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357869" y="1105464"/>
            <a:ext cx="2338798" cy="366112"/>
            <a:chOff x="3391797" y="1859720"/>
            <a:chExt cx="1801774" cy="276658"/>
          </a:xfrm>
        </p:grpSpPr>
        <p:sp>
          <p:nvSpPr>
            <p:cNvPr id="65" name="圆角矩形 64"/>
            <p:cNvSpPr/>
            <p:nvPr/>
          </p:nvSpPr>
          <p:spPr>
            <a:xfrm>
              <a:off x="3391797" y="1864339"/>
              <a:ext cx="1801774" cy="272039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6" name="任意多边形 65"/>
            <p:cNvSpPr/>
            <p:nvPr/>
          </p:nvSpPr>
          <p:spPr>
            <a:xfrm>
              <a:off x="3516715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7" name="任意多边形 66"/>
            <p:cNvSpPr/>
            <p:nvPr/>
          </p:nvSpPr>
          <p:spPr>
            <a:xfrm>
              <a:off x="3577720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8" name="文本框 3"/>
            <p:cNvSpPr txBox="1">
              <a:spLocks noChangeArrowheads="1"/>
            </p:cNvSpPr>
            <p:nvPr/>
          </p:nvSpPr>
          <p:spPr bwMode="auto">
            <a:xfrm>
              <a:off x="3731189" y="1859720"/>
              <a:ext cx="1462382" cy="267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lvl="0">
                <a:defRPr/>
              </a:pPr>
              <a:r>
                <a:rPr kumimoji="0" lang="zh-CN" altLang="en-US" sz="1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网络前缀为</a:t>
              </a:r>
              <a:r>
                <a:rPr kumimoji="0" lang="en-US" altLang="zh-CN" sz="1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32</a:t>
              </a:r>
              <a:r>
                <a:rPr kumimoji="0" lang="zh-CN" altLang="en-US" sz="1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位</a:t>
              </a:r>
              <a:endPara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346104" y="1895576"/>
            <a:ext cx="2350564" cy="366112"/>
            <a:chOff x="3391797" y="1859720"/>
            <a:chExt cx="1810838" cy="276658"/>
          </a:xfrm>
        </p:grpSpPr>
        <p:sp>
          <p:nvSpPr>
            <p:cNvPr id="70" name="圆角矩形 69"/>
            <p:cNvSpPr/>
            <p:nvPr/>
          </p:nvSpPr>
          <p:spPr>
            <a:xfrm>
              <a:off x="3391797" y="1864339"/>
              <a:ext cx="1810838" cy="272039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73" name="任意多边形 72"/>
            <p:cNvSpPr/>
            <p:nvPr/>
          </p:nvSpPr>
          <p:spPr>
            <a:xfrm>
              <a:off x="3516715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74" name="任意多边形 73"/>
            <p:cNvSpPr/>
            <p:nvPr/>
          </p:nvSpPr>
          <p:spPr>
            <a:xfrm>
              <a:off x="3577720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77" name="文本框 3"/>
            <p:cNvSpPr txBox="1">
              <a:spLocks noChangeArrowheads="1"/>
            </p:cNvSpPr>
            <p:nvPr/>
          </p:nvSpPr>
          <p:spPr bwMode="auto">
            <a:xfrm>
              <a:off x="3731190" y="1859720"/>
              <a:ext cx="1395894" cy="267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lvl="0">
                <a:defRPr/>
              </a:pPr>
              <a:r>
                <a:rPr kumimoji="0" lang="zh-CN" altLang="en-US" sz="1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网络前缀为</a:t>
              </a:r>
              <a:r>
                <a:rPr kumimoji="0" lang="en-US" altLang="zh-CN" sz="1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31</a:t>
              </a:r>
              <a:r>
                <a:rPr kumimoji="0" lang="zh-CN" altLang="en-US" sz="1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位</a:t>
              </a:r>
              <a:endPara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346105" y="3845216"/>
            <a:ext cx="2350564" cy="366112"/>
            <a:chOff x="3391797" y="1859720"/>
            <a:chExt cx="1810838" cy="276658"/>
          </a:xfrm>
        </p:grpSpPr>
        <p:sp>
          <p:nvSpPr>
            <p:cNvPr id="86" name="圆角矩形 85"/>
            <p:cNvSpPr/>
            <p:nvPr/>
          </p:nvSpPr>
          <p:spPr>
            <a:xfrm>
              <a:off x="3391797" y="1864339"/>
              <a:ext cx="1810838" cy="272039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87" name="任意多边形 86"/>
            <p:cNvSpPr/>
            <p:nvPr/>
          </p:nvSpPr>
          <p:spPr>
            <a:xfrm>
              <a:off x="3516715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88" name="任意多边形 87"/>
            <p:cNvSpPr/>
            <p:nvPr/>
          </p:nvSpPr>
          <p:spPr>
            <a:xfrm>
              <a:off x="3577720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89" name="文本框 3"/>
            <p:cNvSpPr txBox="1">
              <a:spLocks noChangeArrowheads="1"/>
            </p:cNvSpPr>
            <p:nvPr/>
          </p:nvSpPr>
          <p:spPr bwMode="auto">
            <a:xfrm>
              <a:off x="3731189" y="1859720"/>
              <a:ext cx="1471446" cy="267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lvl="0">
                <a:defRPr/>
              </a:pPr>
              <a:r>
                <a:rPr kumimoji="0" lang="zh-CN" altLang="en-US" sz="1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网络前缀为</a:t>
              </a:r>
              <a:r>
                <a:rPr kumimoji="0" lang="en-US" altLang="zh-CN" sz="1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</a:t>
              </a:r>
              <a:r>
                <a:rPr kumimoji="0" lang="zh-CN" altLang="en-US" sz="1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位</a:t>
              </a:r>
              <a:endPara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93" name="TextBox 92"/>
          <p:cNvSpPr txBox="1"/>
          <p:nvPr/>
        </p:nvSpPr>
        <p:spPr>
          <a:xfrm>
            <a:off x="320931" y="1502764"/>
            <a:ext cx="3026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是一个具体的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地址，用于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78542" y="2288137"/>
            <a:ext cx="3693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该地址块中只有两个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地址，用于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265155" y="4264524"/>
            <a:ext cx="4666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表示该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地址为全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0.0.0.0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，该地址用于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07504" y="2715401"/>
            <a:ext cx="1185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子网划分</a:t>
            </a:r>
            <a:endParaRPr lang="zh-CN" altLang="en-US" sz="1600" b="1" kern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39674" y="3106026"/>
            <a:ext cx="832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CIDR</a:t>
            </a:r>
            <a:endParaRPr lang="zh-CN" altLang="en-US" sz="1600" b="1" kern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95004" y="3472425"/>
            <a:ext cx="5665227" cy="310564"/>
          </a:xfrm>
          <a:prstGeom prst="rect">
            <a:avLst/>
          </a:prstGeom>
          <a:noFill/>
        </p:spPr>
        <p:txBody>
          <a:bodyPr wrap="square" tIns="18000" rtlCol="0">
            <a:spAutoFit/>
          </a:bodyPr>
          <a:lstStyle/>
          <a:p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CIDR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已经没有子网的概念了，不再需要子网号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043609" y="2728595"/>
            <a:ext cx="5929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/30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489569" y="2736694"/>
            <a:ext cx="1440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=4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个地址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722061" y="2749757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个地址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030545" y="3094994"/>
            <a:ext cx="5929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/31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475656" y="3090029"/>
            <a:ext cx="7204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3488187" y="3094994"/>
            <a:ext cx="1728000" cy="321469"/>
          </a:xfrm>
          <a:prstGeom prst="rect">
            <a:avLst/>
          </a:prstGeom>
          <a:solidFill>
            <a:srgbClr val="C00000"/>
          </a:solidFill>
        </p:spPr>
        <p:txBody>
          <a:bodyPr wrap="square" tIns="28800" rtlCol="0">
            <a:spAutoFit/>
          </a:bodyPr>
          <a:lstStyle/>
          <a:p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更加节约</a:t>
            </a:r>
            <a:r>
              <a:rPr lang="en-US" altLang="zh-CN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3391" y="2702337"/>
            <a:ext cx="6426000" cy="1080000"/>
          </a:xfrm>
          <a:prstGeom prst="rect">
            <a:avLst/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09" name="TextBox 108"/>
          <p:cNvSpPr txBox="1"/>
          <p:nvPr/>
        </p:nvSpPr>
        <p:spPr>
          <a:xfrm>
            <a:off x="2876627" y="1530201"/>
            <a:ext cx="936000" cy="321469"/>
          </a:xfrm>
          <a:prstGeom prst="rect">
            <a:avLst/>
          </a:prstGeom>
          <a:solidFill>
            <a:srgbClr val="FFC000"/>
          </a:solidFill>
        </p:spPr>
        <p:txBody>
          <a:bodyPr wrap="square" lIns="54000" tIns="28800" rIns="54000" rtlCol="0">
            <a:spAutoFit/>
          </a:bodyPr>
          <a:lstStyle/>
          <a:p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主机路由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5737610" y="2762820"/>
            <a:ext cx="828000" cy="321469"/>
          </a:xfrm>
          <a:prstGeom prst="rect">
            <a:avLst/>
          </a:prstGeom>
          <a:solidFill>
            <a:srgbClr val="0075BF"/>
          </a:solidFill>
        </p:spPr>
        <p:txBody>
          <a:bodyPr wrap="square" lIns="18000" tIns="28800" rIns="18000" rtlCol="0">
            <a:spAutoFit/>
          </a:bodyPr>
          <a:lstStyle/>
          <a:p>
            <a:r>
              <a:rPr lang="en-US" altLang="zh-CN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个地址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907704" y="3090029"/>
            <a:ext cx="972000" cy="321469"/>
          </a:xfrm>
          <a:prstGeom prst="rect">
            <a:avLst/>
          </a:prstGeom>
          <a:solidFill>
            <a:srgbClr val="0075BF"/>
          </a:solidFill>
        </p:spPr>
        <p:txBody>
          <a:bodyPr wrap="square" tIns="28800" rtlCol="0">
            <a:spAutoFit/>
          </a:bodyPr>
          <a:lstStyle/>
          <a:p>
            <a:r>
              <a:rPr lang="en-US" altLang="zh-CN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个地址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382102" y="4264524"/>
            <a:ext cx="1008000" cy="338554"/>
          </a:xfrm>
          <a:prstGeom prst="rect">
            <a:avLst/>
          </a:prstGeom>
          <a:solidFill>
            <a:srgbClr val="FFC000"/>
          </a:solidFill>
        </p:spPr>
        <p:txBody>
          <a:bodyPr wrap="square" lIns="54000" rIns="54000" rtlCol="0">
            <a:spAutoFit/>
          </a:bodyPr>
          <a:lstStyle/>
          <a:p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默认路由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3419872" y="2309226"/>
            <a:ext cx="1152000" cy="321469"/>
          </a:xfrm>
          <a:prstGeom prst="rect">
            <a:avLst/>
          </a:prstGeom>
          <a:solidFill>
            <a:srgbClr val="FFC000"/>
          </a:solidFill>
        </p:spPr>
        <p:txBody>
          <a:bodyPr wrap="square" lIns="54000" tIns="28800" rIns="54000" rtlCol="0">
            <a:spAutoFit/>
          </a:bodyPr>
          <a:lstStyle/>
          <a:p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点对点链路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4499992" y="2289951"/>
            <a:ext cx="25534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的两个路由器接口地址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3452691" y="2742541"/>
            <a:ext cx="13803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子网号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4480559" y="2739293"/>
            <a:ext cx="1524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广播号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03467" y="3422962"/>
            <a:ext cx="0" cy="216000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390404" y="3630032"/>
            <a:ext cx="648000" cy="0"/>
          </a:xfrm>
          <a:prstGeom prst="straightConnector1">
            <a:avLst/>
          </a:prstGeom>
          <a:ln w="2540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>
            <a:off x="2915880" y="3264566"/>
            <a:ext cx="540000" cy="0"/>
          </a:xfrm>
          <a:prstGeom prst="straightConnector1">
            <a:avLst/>
          </a:prstGeom>
          <a:ln w="2540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21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1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93" grpId="0"/>
      <p:bldP spid="96" grpId="0"/>
      <p:bldP spid="97" grpId="0"/>
      <p:bldP spid="98" grpId="0"/>
      <p:bldP spid="99" grpId="0"/>
      <p:bldP spid="100" grpId="0"/>
      <p:bldP spid="101" grpId="0"/>
      <p:bldP spid="103" grpId="0"/>
      <p:bldP spid="104" grpId="0"/>
      <p:bldP spid="105" grpId="0"/>
      <p:bldP spid="107" grpId="0"/>
      <p:bldP spid="108" grpId="0" animBg="1"/>
      <p:bldP spid="4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/>
      <p:bldP spid="115" grpId="0"/>
      <p:bldP spid="1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 descr="C:\Users\Administrator\Desktop\3afe8fe6bfe17e05fe49e17f29526623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-3114092" y="483518"/>
            <a:ext cx="6228184" cy="4448404"/>
          </a:xfrm>
          <a:prstGeom prst="rect">
            <a:avLst/>
          </a:prstGeom>
          <a:noFill/>
        </p:spPr>
      </p:pic>
      <p:cxnSp>
        <p:nvCxnSpPr>
          <p:cNvPr id="24" name="直接连接符 23"/>
          <p:cNvCxnSpPr/>
          <p:nvPr/>
        </p:nvCxnSpPr>
        <p:spPr>
          <a:xfrm flipV="1">
            <a:off x="4438183" y="1777237"/>
            <a:ext cx="0" cy="142041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3"/>
          <p:cNvSpPr txBox="1"/>
          <p:nvPr/>
        </p:nvSpPr>
        <p:spPr>
          <a:xfrm>
            <a:off x="3184399" y="2951483"/>
            <a:ext cx="902574" cy="2461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PART 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03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3059832" y="1773997"/>
            <a:ext cx="1004222" cy="10042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80808"/>
              </a:solidFill>
              <a:latin typeface="+mj-ea"/>
              <a:ea typeface="+mj-ea"/>
            </a:endParaRPr>
          </a:p>
        </p:txBody>
      </p:sp>
      <p:sp>
        <p:nvSpPr>
          <p:cNvPr id="31" name="TextBox 13"/>
          <p:cNvSpPr txBox="1"/>
          <p:nvPr/>
        </p:nvSpPr>
        <p:spPr>
          <a:xfrm>
            <a:off x="3214460" y="1895094"/>
            <a:ext cx="902574" cy="7692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5000" b="1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03</a:t>
            </a:r>
            <a:endParaRPr lang="zh-CN" altLang="en-US" sz="50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4572909" y="1875352"/>
            <a:ext cx="2018179" cy="927431"/>
          </a:xfrm>
          <a:prstGeom prst="rect">
            <a:avLst/>
          </a:prstGeom>
          <a:noFill/>
        </p:spPr>
        <p:txBody>
          <a:bodyPr wrap="none" lIns="65023" tIns="32511" rIns="65023" bIns="32511" rtlCol="0">
            <a:spAutoFit/>
          </a:bodyPr>
          <a:lstStyle/>
          <a:p>
            <a:pPr marL="0" lvl="1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第三部分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/>
            <a:r>
              <a:rPr lang="zh-CN" altLang="en-US" sz="3600" dirty="0">
                <a:solidFill>
                  <a:srgbClr val="F0D0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400" b="1" dirty="0" smtClean="0">
                <a:solidFill>
                  <a:srgbClr val="C68F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路由聚合</a:t>
            </a:r>
            <a:endParaRPr lang="en-US" altLang="zh-CN" sz="2400" b="1" dirty="0">
              <a:solidFill>
                <a:srgbClr val="C68F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8" grpId="0" animBg="1"/>
      <p:bldP spid="31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76200" y="949220"/>
          <a:ext cx="6120000" cy="37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003"/>
                <a:gridCol w="1530476"/>
                <a:gridCol w="1304818"/>
                <a:gridCol w="1957703"/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网络前缀长度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点分十进制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包含的地址数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/13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255.248.0.0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512K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类或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2048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/14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255.252.0.0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256K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类或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1024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/15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255.254.0.0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类或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512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/16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255.255.0.0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64K</a:t>
                      </a:r>
                      <a:endParaRPr lang="en-US" altLang="zh-CN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类或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256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/17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255.255.128.0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/18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255.255.192.0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/19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255.255.224.0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/20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255.255.240.0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/21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255.255.248.0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/22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255.255.252.0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/23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255.255.254.0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512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/24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255.255.255.0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256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/25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255.255.255.128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1/2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/26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255.255.255.192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1/4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/27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255.255.255.224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1/8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</a:tbl>
          </a:graphicData>
        </a:graphic>
      </p:graphicFrame>
      <p:pic>
        <p:nvPicPr>
          <p:cNvPr id="3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51470"/>
            <a:ext cx="576000" cy="57600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60842"/>
            <a:ext cx="576000" cy="57600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169360"/>
            <a:ext cx="1944217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路由聚合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1158" y="558464"/>
            <a:ext cx="28406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路由聚合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也称为</a:t>
            </a:r>
            <a:r>
              <a:rPr lang="zh-CN" altLang="en-US" sz="1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构造超</a:t>
            </a:r>
            <a:r>
              <a:rPr lang="zh-CN" altLang="en-US" sz="16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</a:t>
            </a:r>
            <a:endParaRPr lang="zh-CN" altLang="en-US" sz="1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29974" y="545401"/>
            <a:ext cx="1584000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是超网呢？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76200" y="949220"/>
          <a:ext cx="6120000" cy="283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003"/>
                <a:gridCol w="1530476"/>
                <a:gridCol w="1304818"/>
                <a:gridCol w="1957703"/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网络前缀长度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点分十进制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包含的地址数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/13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255.248.0.0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512K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类或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2048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/14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255.252.0.0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256K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类或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1024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/15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255.254.0.0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类或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512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/16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255.255.0.0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64K</a:t>
                      </a:r>
                      <a:endParaRPr lang="en-US" altLang="zh-CN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类或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256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/17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255.255.128.0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/18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255.255.192.0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/19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255.255.224.0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/20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255.255.240.0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/21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255.255.248.0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/22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255.255.252.0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/23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255.255.254.0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512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000" marR="18000" marT="10800" marB="1080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0" y="915566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包含分类的网络数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528" y="3819413"/>
            <a:ext cx="68136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以上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CIDR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地址块</a:t>
            </a: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都包含了多个</a:t>
            </a:r>
            <a:r>
              <a:rPr lang="en-US" altLang="zh-CN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类地址，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因此，被称为</a:t>
            </a:r>
            <a:r>
              <a:rPr lang="zh-CN" altLang="en-US" sz="15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“超网”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9512" y="4064485"/>
            <a:ext cx="6205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就是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用一个较大的地址块来</a:t>
            </a: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若干个这样较小的地址块，因此也被称为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“构造超网”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2686729" y="732361"/>
            <a:ext cx="504000" cy="0"/>
          </a:xfrm>
          <a:prstGeom prst="straightConnector1">
            <a:avLst/>
          </a:prstGeom>
          <a:ln w="25400">
            <a:solidFill>
              <a:srgbClr val="00206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499992" y="1197217"/>
            <a:ext cx="1800000" cy="2574000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64583" y="940859"/>
            <a:ext cx="6120000" cy="37800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58212" y="928629"/>
            <a:ext cx="6120000" cy="28800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83361" y="4114744"/>
            <a:ext cx="828000" cy="267184"/>
          </a:xfrm>
          <a:prstGeom prst="rect">
            <a:avLst/>
          </a:prstGeom>
          <a:solidFill>
            <a:srgbClr val="FFC000"/>
          </a:solidFill>
        </p:spPr>
        <p:txBody>
          <a:bodyPr wrap="square" lIns="18000" tIns="18000" rIns="18000" bIns="18000" rtlCol="0">
            <a:spAutoFit/>
          </a:bodyPr>
          <a:lstStyle/>
          <a:p>
            <a:r>
              <a:rPr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路由聚合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8" grpId="1"/>
      <p:bldP spid="8" grpId="2"/>
      <p:bldP spid="11" grpId="0"/>
      <p:bldP spid="12" grpId="0"/>
      <p:bldP spid="14" grpId="0" animBg="1"/>
      <p:bldP spid="15" grpId="0" animBg="1"/>
      <p:bldP spid="15" grpId="1" animBg="1"/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>
            <a:cxnSpLocks noChangeShapeType="1"/>
          </p:cNvCxnSpPr>
          <p:nvPr/>
        </p:nvCxnSpPr>
        <p:spPr bwMode="auto">
          <a:xfrm flipH="1" flipV="1">
            <a:off x="1110872" y="2209675"/>
            <a:ext cx="619328" cy="57320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接连接符 18"/>
          <p:cNvCxnSpPr>
            <a:cxnSpLocks noChangeShapeType="1"/>
            <a:endCxn id="15" idx="1"/>
          </p:cNvCxnSpPr>
          <p:nvPr/>
        </p:nvCxnSpPr>
        <p:spPr bwMode="auto">
          <a:xfrm flipV="1">
            <a:off x="1234126" y="2871429"/>
            <a:ext cx="278150" cy="61931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接连接符 26"/>
          <p:cNvCxnSpPr>
            <a:cxnSpLocks noChangeShapeType="1"/>
          </p:cNvCxnSpPr>
          <p:nvPr/>
        </p:nvCxnSpPr>
        <p:spPr bwMode="auto">
          <a:xfrm flipH="1" flipV="1">
            <a:off x="2005328" y="3044876"/>
            <a:ext cx="694464" cy="52300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接连接符 27"/>
          <p:cNvCxnSpPr>
            <a:cxnSpLocks noChangeShapeType="1"/>
          </p:cNvCxnSpPr>
          <p:nvPr/>
        </p:nvCxnSpPr>
        <p:spPr bwMode="auto">
          <a:xfrm flipV="1">
            <a:off x="1407473" y="3008899"/>
            <a:ext cx="309664" cy="60543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直接连接符 32"/>
          <p:cNvCxnSpPr>
            <a:cxnSpLocks noChangeShapeType="1"/>
          </p:cNvCxnSpPr>
          <p:nvPr/>
        </p:nvCxnSpPr>
        <p:spPr bwMode="auto">
          <a:xfrm flipV="1">
            <a:off x="1978299" y="2145124"/>
            <a:ext cx="274112" cy="54690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51470"/>
            <a:ext cx="576000" cy="57600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60842"/>
            <a:ext cx="576000" cy="57600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169360"/>
            <a:ext cx="1512169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路由聚合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4" name="R2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890" y="2643758"/>
            <a:ext cx="684000" cy="45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15" name="R1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276" y="2644540"/>
            <a:ext cx="683460" cy="453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116475" y="66188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案析</a:t>
            </a:r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1标注"/>
          <p:cNvSpPr txBox="1">
            <a:spLocks noChangeArrowheads="1"/>
          </p:cNvSpPr>
          <p:nvPr/>
        </p:nvSpPr>
        <p:spPr bwMode="auto">
          <a:xfrm>
            <a:off x="1515684" y="3006587"/>
            <a:ext cx="6715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R1</a:t>
            </a:r>
            <a:endParaRPr lang="zh-CN" altLang="en-US" sz="1800" dirty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  <p:cxnSp>
        <p:nvCxnSpPr>
          <p:cNvPr id="37" name="直接连接符 36"/>
          <p:cNvCxnSpPr>
            <a:stCxn id="15" idx="3"/>
            <a:endCxn id="14" idx="1"/>
          </p:cNvCxnSpPr>
          <p:nvPr/>
        </p:nvCxnSpPr>
        <p:spPr>
          <a:xfrm flipV="1">
            <a:off x="2195736" y="2870052"/>
            <a:ext cx="2494154" cy="1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紫云"/>
          <p:cNvGrpSpPr/>
          <p:nvPr/>
        </p:nvGrpSpPr>
        <p:grpSpPr>
          <a:xfrm>
            <a:off x="279951" y="1761367"/>
            <a:ext cx="1250663" cy="549054"/>
            <a:chOff x="279951" y="1534441"/>
            <a:chExt cx="1250663" cy="549054"/>
          </a:xfrm>
        </p:grpSpPr>
        <p:sp>
          <p:nvSpPr>
            <p:cNvPr id="11" name="云形标注 10"/>
            <p:cNvSpPr>
              <a:spLocks noChangeArrowheads="1"/>
            </p:cNvSpPr>
            <p:nvPr/>
          </p:nvSpPr>
          <p:spPr bwMode="auto">
            <a:xfrm>
              <a:off x="282872" y="1534441"/>
              <a:ext cx="1232812" cy="549054"/>
            </a:xfrm>
            <a:prstGeom prst="cloudCallout">
              <a:avLst>
                <a:gd name="adj1" fmla="val -12532"/>
                <a:gd name="adj2" fmla="val 32153"/>
              </a:avLst>
            </a:prstGeom>
            <a:solidFill>
              <a:srgbClr val="703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lIns="0" rIns="18000"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79951" y="1618833"/>
              <a:ext cx="12506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bg1"/>
                  </a:solidFill>
                </a:rPr>
                <a:t>172.1.4.0/25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蓝云"/>
          <p:cNvGrpSpPr/>
          <p:nvPr/>
        </p:nvGrpSpPr>
        <p:grpSpPr>
          <a:xfrm>
            <a:off x="1737562" y="1563638"/>
            <a:ext cx="1459054" cy="646037"/>
            <a:chOff x="1881302" y="1336712"/>
            <a:chExt cx="1459054" cy="646037"/>
          </a:xfrm>
        </p:grpSpPr>
        <p:sp>
          <p:nvSpPr>
            <p:cNvPr id="12" name="云形标注 11"/>
            <p:cNvSpPr>
              <a:spLocks noChangeArrowheads="1"/>
            </p:cNvSpPr>
            <p:nvPr/>
          </p:nvSpPr>
          <p:spPr bwMode="auto">
            <a:xfrm>
              <a:off x="1907428" y="1336712"/>
              <a:ext cx="1368000" cy="646037"/>
            </a:xfrm>
            <a:prstGeom prst="cloudCallout">
              <a:avLst>
                <a:gd name="adj1" fmla="val -12532"/>
                <a:gd name="adj2" fmla="val 32153"/>
              </a:avLst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dirty="0" smtClean="0">
                  <a:solidFill>
                    <a:schemeClr val="bg1">
                      <a:lumMod val="20000"/>
                      <a:lumOff val="80000"/>
                    </a:schemeClr>
                  </a:solidFill>
                </a:rPr>
                <a:t> </a:t>
              </a:r>
              <a:endPara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881302" y="1455384"/>
              <a:ext cx="145905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bg1"/>
                  </a:solidFill>
                </a:rPr>
                <a:t>172.1.4.128/25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6" name="黄云"/>
          <p:cNvGrpSpPr/>
          <p:nvPr/>
        </p:nvGrpSpPr>
        <p:grpSpPr>
          <a:xfrm>
            <a:off x="80977" y="2767318"/>
            <a:ext cx="1250663" cy="535414"/>
            <a:chOff x="80977" y="2540392"/>
            <a:chExt cx="1250663" cy="535414"/>
          </a:xfrm>
        </p:grpSpPr>
        <p:sp>
          <p:nvSpPr>
            <p:cNvPr id="9" name="云形标注 8"/>
            <p:cNvSpPr>
              <a:spLocks noChangeArrowheads="1"/>
            </p:cNvSpPr>
            <p:nvPr/>
          </p:nvSpPr>
          <p:spPr bwMode="auto">
            <a:xfrm>
              <a:off x="88467" y="2540392"/>
              <a:ext cx="1227860" cy="535414"/>
            </a:xfrm>
            <a:prstGeom prst="cloudCallout">
              <a:avLst>
                <a:gd name="adj1" fmla="val -12532"/>
                <a:gd name="adj2" fmla="val 32153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dirty="0" smtClean="0">
                  <a:solidFill>
                    <a:schemeClr val="bg1">
                      <a:lumMod val="20000"/>
                      <a:lumOff val="80000"/>
                    </a:schemeClr>
                  </a:solidFill>
                </a:rPr>
                <a:t> </a:t>
              </a:r>
              <a:endPara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0977" y="2611067"/>
              <a:ext cx="12506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bg1"/>
                  </a:solidFill>
                </a:rPr>
                <a:t>172.1.5.0/24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7" name="淡蓝云"/>
          <p:cNvGrpSpPr/>
          <p:nvPr/>
        </p:nvGrpSpPr>
        <p:grpSpPr>
          <a:xfrm>
            <a:off x="773567" y="3547586"/>
            <a:ext cx="1293938" cy="481918"/>
            <a:chOff x="958473" y="3385976"/>
            <a:chExt cx="1293938" cy="481918"/>
          </a:xfrm>
        </p:grpSpPr>
        <p:sp>
          <p:nvSpPr>
            <p:cNvPr id="13" name="云形标注 12"/>
            <p:cNvSpPr>
              <a:spLocks noChangeArrowheads="1"/>
            </p:cNvSpPr>
            <p:nvPr/>
          </p:nvSpPr>
          <p:spPr bwMode="auto">
            <a:xfrm>
              <a:off x="958473" y="3385976"/>
              <a:ext cx="1293938" cy="481918"/>
            </a:xfrm>
            <a:prstGeom prst="cloudCallout">
              <a:avLst>
                <a:gd name="adj1" fmla="val -12532"/>
                <a:gd name="adj2" fmla="val 32153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80110" y="3413530"/>
              <a:ext cx="12506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bg1"/>
                  </a:solidFill>
                </a:rPr>
                <a:t>172.1.6.0/24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粉云"/>
          <p:cNvGrpSpPr/>
          <p:nvPr/>
        </p:nvGrpSpPr>
        <p:grpSpPr>
          <a:xfrm>
            <a:off x="2562521" y="3339739"/>
            <a:ext cx="1292400" cy="482400"/>
            <a:chOff x="2562521" y="3112813"/>
            <a:chExt cx="1292400" cy="482400"/>
          </a:xfrm>
        </p:grpSpPr>
        <p:sp>
          <p:nvSpPr>
            <p:cNvPr id="10" name="云形标注 9"/>
            <p:cNvSpPr/>
            <p:nvPr/>
          </p:nvSpPr>
          <p:spPr bwMode="auto">
            <a:xfrm>
              <a:off x="2562521" y="3112813"/>
              <a:ext cx="1292400" cy="482400"/>
            </a:xfrm>
            <a:prstGeom prst="cloudCallout">
              <a:avLst>
                <a:gd name="adj1" fmla="val -12533"/>
                <a:gd name="adj2" fmla="val 32154"/>
              </a:avLst>
            </a:prstGeom>
            <a:solidFill>
              <a:srgbClr val="F98B7F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dirty="0">
                <a:solidFill>
                  <a:schemeClr val="bg1">
                    <a:lumMod val="20000"/>
                    <a:lumOff val="80000"/>
                  </a:schemeClr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584266" y="3171673"/>
              <a:ext cx="12506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bg1"/>
                  </a:solidFill>
                </a:rPr>
                <a:t>172.1.7.0/24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59" name="R1和R2之间的文字"/>
          <p:cNvSpPr txBox="1"/>
          <p:nvPr/>
        </p:nvSpPr>
        <p:spPr>
          <a:xfrm>
            <a:off x="2070642" y="2571750"/>
            <a:ext cx="30774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zh-CN" altLang="en-US" sz="15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将怎样的路由信息通告给</a:t>
            </a:r>
            <a:r>
              <a:rPr lang="en-US" altLang="zh-CN" sz="15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endParaRPr lang="zh-CN" altLang="en-US" sz="15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R2标注"/>
          <p:cNvSpPr txBox="1">
            <a:spLocks noChangeArrowheads="1"/>
          </p:cNvSpPr>
          <p:nvPr/>
        </p:nvSpPr>
        <p:spPr bwMode="auto">
          <a:xfrm>
            <a:off x="4672928" y="3070006"/>
            <a:ext cx="6715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R2</a:t>
            </a:r>
            <a:endParaRPr lang="zh-CN" altLang="en-US" sz="1800" dirty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81" name="表格 80"/>
          <p:cNvGraphicFramePr>
            <a:graphicFrameLocks noGrp="1"/>
          </p:cNvGraphicFramePr>
          <p:nvPr/>
        </p:nvGraphicFramePr>
        <p:xfrm>
          <a:off x="3347864" y="482250"/>
          <a:ext cx="2016224" cy="20895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296144"/>
                <a:gridCol w="720080"/>
              </a:tblGrid>
              <a:tr h="270000">
                <a:tc gridSpan="2"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6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R2</a:t>
                      </a:r>
                      <a:r>
                        <a:rPr lang="zh-CN" altLang="en-US" sz="16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的路由表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" marR="3600"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23400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目的网络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" marR="3600"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下一跳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" marR="3600"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400" dirty="0" smtClean="0"/>
                        <a:t>……</a:t>
                      </a:r>
                      <a:endParaRPr lang="zh-CN" altLang="en-US" sz="1400" dirty="0"/>
                    </a:p>
                  </a:txBody>
                  <a:tcPr marL="3600" marR="36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400" dirty="0" smtClean="0"/>
                        <a:t>……</a:t>
                      </a:r>
                      <a:endParaRPr lang="zh-CN" altLang="en-US" sz="1400" dirty="0"/>
                    </a:p>
                  </a:txBody>
                  <a:tcPr marL="3600" marR="36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400" dirty="0" smtClean="0"/>
                        <a:t>172.1.4.0/25</a:t>
                      </a:r>
                      <a:endParaRPr lang="en-US" altLang="zh-CN" sz="1400" dirty="0" smtClean="0"/>
                    </a:p>
                  </a:txBody>
                  <a:tcPr marL="3600" marR="36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400" dirty="0" smtClean="0"/>
                        <a:t>R1</a:t>
                      </a:r>
                      <a:endParaRPr lang="zh-CN" altLang="en-US" sz="1400" dirty="0"/>
                    </a:p>
                  </a:txBody>
                  <a:tcPr marL="3600" marR="36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400" dirty="0" smtClean="0"/>
                        <a:t>172.1.4.128/25</a:t>
                      </a:r>
                      <a:endParaRPr lang="en-US" altLang="zh-CN" sz="1400" dirty="0" smtClean="0"/>
                    </a:p>
                  </a:txBody>
                  <a:tcPr marL="3600" marR="36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/>
                        <a:t>R1</a:t>
                      </a:r>
                      <a:endParaRPr lang="zh-CN" altLang="en-US" sz="1400" dirty="0" smtClean="0"/>
                    </a:p>
                  </a:txBody>
                  <a:tcPr marL="3600" marR="36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400" dirty="0" smtClean="0"/>
                        <a:t>172.1.5.0/24</a:t>
                      </a:r>
                      <a:endParaRPr lang="zh-CN" altLang="en-US" sz="1400" dirty="0"/>
                    </a:p>
                  </a:txBody>
                  <a:tcPr marL="3600" marR="36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/>
                        <a:t>R1</a:t>
                      </a:r>
                      <a:endParaRPr lang="zh-CN" altLang="en-US" sz="1400" dirty="0" smtClean="0"/>
                    </a:p>
                  </a:txBody>
                  <a:tcPr marL="3600" marR="36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400" dirty="0" smtClean="0"/>
                        <a:t>172.1.6.0/24</a:t>
                      </a:r>
                      <a:endParaRPr lang="en-US" altLang="zh-CN" sz="1400" dirty="0" smtClean="0"/>
                    </a:p>
                  </a:txBody>
                  <a:tcPr marL="3600" marR="36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/>
                        <a:t>R1</a:t>
                      </a:r>
                      <a:endParaRPr lang="zh-CN" altLang="en-US" sz="1400" dirty="0" smtClean="0"/>
                    </a:p>
                  </a:txBody>
                  <a:tcPr marL="3600" marR="36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400" dirty="0" smtClean="0"/>
                        <a:t>172.1.7.0/24</a:t>
                      </a:r>
                      <a:endParaRPr lang="en-US" altLang="zh-CN" sz="1400" dirty="0" smtClean="0"/>
                    </a:p>
                  </a:txBody>
                  <a:tcPr marL="3600" marR="36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smtClean="0"/>
                        <a:t>R1</a:t>
                      </a:r>
                      <a:endParaRPr lang="zh-CN" altLang="en-US" sz="1400" dirty="0" smtClean="0"/>
                    </a:p>
                  </a:txBody>
                  <a:tcPr marL="3600" marR="36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400" dirty="0" smtClean="0"/>
                        <a:t>……</a:t>
                      </a:r>
                      <a:endParaRPr lang="zh-CN" altLang="en-US" sz="1400" dirty="0"/>
                    </a:p>
                  </a:txBody>
                  <a:tcPr marL="3600" marR="36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400" dirty="0" smtClean="0"/>
                        <a:t>……</a:t>
                      </a:r>
                      <a:endParaRPr lang="en-US" altLang="zh-CN" sz="1400" dirty="0" smtClean="0"/>
                    </a:p>
                  </a:txBody>
                  <a:tcPr marL="3600" marR="36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2" name="TextBox 81"/>
          <p:cNvSpPr txBox="1"/>
          <p:nvPr/>
        </p:nvSpPr>
        <p:spPr>
          <a:xfrm>
            <a:off x="5331593" y="1177472"/>
            <a:ext cx="360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路由聚合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3347864" y="1203598"/>
            <a:ext cx="2343769" cy="1152000"/>
          </a:xfrm>
          <a:prstGeom prst="rect">
            <a:avLst/>
          </a:prstGeom>
          <a:solidFill>
            <a:srgbClr val="F98B7F">
              <a:alpha val="5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箭头连接符 83"/>
          <p:cNvCxnSpPr/>
          <p:nvPr/>
        </p:nvCxnSpPr>
        <p:spPr>
          <a:xfrm>
            <a:off x="5691633" y="1795200"/>
            <a:ext cx="1044000" cy="0"/>
          </a:xfrm>
          <a:prstGeom prst="straightConnector1">
            <a:avLst/>
          </a:prstGeom>
          <a:ln w="2540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1和R2之间的文字"/>
          <p:cNvSpPr txBox="1"/>
          <p:nvPr/>
        </p:nvSpPr>
        <p:spPr>
          <a:xfrm>
            <a:off x="5632364" y="1495696"/>
            <a:ext cx="1178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找共同前缀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6" name="5个地址"/>
          <p:cNvGrpSpPr/>
          <p:nvPr/>
        </p:nvGrpSpPr>
        <p:grpSpPr>
          <a:xfrm>
            <a:off x="6686358" y="1131016"/>
            <a:ext cx="1459054" cy="1262169"/>
            <a:chOff x="6686358" y="1131016"/>
            <a:chExt cx="1459054" cy="1262169"/>
          </a:xfrm>
        </p:grpSpPr>
        <p:sp>
          <p:nvSpPr>
            <p:cNvPr id="86" name="TextBox 85"/>
            <p:cNvSpPr txBox="1"/>
            <p:nvPr/>
          </p:nvSpPr>
          <p:spPr>
            <a:xfrm>
              <a:off x="6686358" y="1131016"/>
              <a:ext cx="12506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/>
                <a:t>172.1.4.0/25</a:t>
              </a:r>
              <a:endParaRPr lang="zh-CN" altLang="en-US" sz="1600" dirty="0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686358" y="1361920"/>
              <a:ext cx="145905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/>
                <a:t>172.1.4.128/25</a:t>
              </a:r>
              <a:endParaRPr lang="zh-CN" altLang="en-US" sz="1600" dirty="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686358" y="1592824"/>
              <a:ext cx="12506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/>
                <a:t>172.1.5.0/24</a:t>
              </a:r>
              <a:endParaRPr lang="zh-CN" altLang="en-US" sz="1600" dirty="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6686358" y="1823728"/>
              <a:ext cx="12506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/>
                <a:t>172.1.6.0/24</a:t>
              </a:r>
              <a:endParaRPr lang="zh-CN" altLang="en-US" sz="1600" dirty="0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686358" y="2054631"/>
              <a:ext cx="12506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/>
                <a:t>172.1.7.0/24</a:t>
              </a:r>
              <a:endParaRPr lang="zh-CN" altLang="en-US" sz="1600" dirty="0"/>
            </a:p>
          </p:txBody>
        </p:sp>
      </p:grpSp>
      <p:grpSp>
        <p:nvGrpSpPr>
          <p:cNvPr id="97" name="5个地址二进制"/>
          <p:cNvGrpSpPr/>
          <p:nvPr/>
        </p:nvGrpSpPr>
        <p:grpSpPr>
          <a:xfrm>
            <a:off x="6686570" y="1133199"/>
            <a:ext cx="2188420" cy="1262169"/>
            <a:chOff x="6692189" y="2621077"/>
            <a:chExt cx="2188420" cy="1262169"/>
          </a:xfrm>
        </p:grpSpPr>
        <p:sp>
          <p:nvSpPr>
            <p:cNvPr id="91" name="TextBox 90"/>
            <p:cNvSpPr txBox="1"/>
            <p:nvPr/>
          </p:nvSpPr>
          <p:spPr>
            <a:xfrm>
              <a:off x="6692189" y="2621077"/>
              <a:ext cx="19800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/>
                <a:t>172.1.00000100.0/25</a:t>
              </a:r>
              <a:endParaRPr lang="zh-CN" altLang="en-US" sz="1600" dirty="0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692189" y="2851981"/>
              <a:ext cx="218842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/>
                <a:t>172.1.00000100.128/25</a:t>
              </a:r>
              <a:endParaRPr lang="zh-CN" altLang="en-US" sz="1600" dirty="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692189" y="3082885"/>
              <a:ext cx="19800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/>
                <a:t>172.1.00000101.0/24</a:t>
              </a:r>
              <a:endParaRPr lang="zh-CN" altLang="en-US" sz="1600" dirty="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692189" y="3313789"/>
              <a:ext cx="19800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/>
                <a:t>172.1.00000110.0/24</a:t>
              </a:r>
              <a:endParaRPr lang="zh-CN" altLang="en-US" sz="1600" dirty="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692189" y="3544692"/>
              <a:ext cx="19800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/>
                <a:t>172.1.00000111.0/24</a:t>
              </a:r>
              <a:endParaRPr lang="zh-CN" altLang="en-US" sz="1600" dirty="0"/>
            </a:p>
          </p:txBody>
        </p:sp>
      </p:grpSp>
      <p:sp>
        <p:nvSpPr>
          <p:cNvPr id="98" name="矩形 97"/>
          <p:cNvSpPr/>
          <p:nvPr/>
        </p:nvSpPr>
        <p:spPr>
          <a:xfrm>
            <a:off x="6745423" y="1177472"/>
            <a:ext cx="1152000" cy="1178126"/>
          </a:xfrm>
          <a:prstGeom prst="rect">
            <a:avLst/>
          </a:prstGeom>
          <a:solidFill>
            <a:schemeClr val="accent5"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R1和R2之间的文字"/>
          <p:cNvSpPr txBox="1"/>
          <p:nvPr/>
        </p:nvSpPr>
        <p:spPr>
          <a:xfrm>
            <a:off x="6797555" y="823239"/>
            <a:ext cx="1003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共同前缀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R1和R2之间的文字"/>
          <p:cNvSpPr txBox="1"/>
          <p:nvPr/>
        </p:nvSpPr>
        <p:spPr>
          <a:xfrm>
            <a:off x="6900497" y="2325365"/>
            <a:ext cx="854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sz="1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1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150617" y="3361875"/>
            <a:ext cx="630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/22</a:t>
            </a:r>
            <a:endParaRPr lang="zh-CN" altLang="en-US" sz="2000" b="1" kern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012160" y="2660593"/>
            <a:ext cx="224538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共同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前缀保持不变</a:t>
            </a:r>
            <a:r>
              <a:rPr lang="zh-CN" altLang="en-US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b="1" dirty="0" smtClean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剩余比特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</a:t>
            </a:r>
            <a:r>
              <a:rPr lang="zh-CN" altLang="en-US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取零。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5929500" y="3361875"/>
            <a:ext cx="1485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172.1.4.0</a:t>
            </a:r>
            <a:endParaRPr lang="zh-CN" altLang="en-US" sz="2000" b="1" kern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026146" y="3355549"/>
            <a:ext cx="1485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地址块</a:t>
            </a:r>
            <a:r>
              <a:rPr lang="en-US" altLang="zh-CN" sz="20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:</a:t>
            </a:r>
            <a:endParaRPr lang="zh-CN" altLang="en-US" sz="2000" b="1" kern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730308" y="3348812"/>
            <a:ext cx="1221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构造超网</a:t>
            </a:r>
            <a:endParaRPr lang="zh-CN" altLang="en-US" sz="20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79512" y="4018603"/>
            <a:ext cx="530787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网络前缀越长，地址块越小，路由就越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具体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79512" y="4341193"/>
            <a:ext cx="814164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若路由器查表转发分组时，发现有多条路由可选，则选择网络前缀最长的那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条。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499992" y="3867894"/>
            <a:ext cx="1980000" cy="369332"/>
          </a:xfrm>
          <a:prstGeom prst="rect">
            <a:avLst/>
          </a:prstGeom>
          <a:solidFill>
            <a:srgbClr val="FFC000"/>
          </a:solidFill>
        </p:spPr>
        <p:txBody>
          <a:bodyPr wrap="square" lIns="54000" rIns="54000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最长前缀匹配原则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562098" y="3867894"/>
            <a:ext cx="1980000" cy="369332"/>
          </a:xfrm>
          <a:prstGeom prst="rect">
            <a:avLst/>
          </a:prstGeom>
          <a:solidFill>
            <a:srgbClr val="FFC000"/>
          </a:solidFill>
        </p:spPr>
        <p:txBody>
          <a:bodyPr wrap="square" lIns="54000" rIns="54000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长掩码匹配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0" name="直接箭头连接符 109"/>
          <p:cNvCxnSpPr/>
          <p:nvPr/>
        </p:nvCxnSpPr>
        <p:spPr>
          <a:xfrm flipH="1">
            <a:off x="5521300" y="2368294"/>
            <a:ext cx="1" cy="1008000"/>
          </a:xfrm>
          <a:prstGeom prst="straightConnector1">
            <a:avLst/>
          </a:prstGeom>
          <a:ln w="25400">
            <a:solidFill>
              <a:schemeClr val="tx2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矩形 111"/>
          <p:cNvSpPr/>
          <p:nvPr/>
        </p:nvSpPr>
        <p:spPr>
          <a:xfrm>
            <a:off x="6012160" y="2667248"/>
            <a:ext cx="2133252" cy="648784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下箭头 115"/>
          <p:cNvSpPr/>
          <p:nvPr/>
        </p:nvSpPr>
        <p:spPr>
          <a:xfrm>
            <a:off x="5364088" y="4229462"/>
            <a:ext cx="144000" cy="179597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下箭头 116"/>
          <p:cNvSpPr/>
          <p:nvPr/>
        </p:nvSpPr>
        <p:spPr>
          <a:xfrm>
            <a:off x="7275115" y="4227418"/>
            <a:ext cx="144000" cy="179597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6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8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2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3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4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1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1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21" grpId="0"/>
      <p:bldP spid="59" grpId="0"/>
      <p:bldP spid="69" grpId="0"/>
      <p:bldP spid="82" grpId="0"/>
      <p:bldP spid="83" grpId="0" animBg="1"/>
      <p:bldP spid="85" grpId="0"/>
      <p:bldP spid="98" grpId="0" animBg="1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 animBg="1"/>
      <p:bldP spid="109" grpId="0" animBg="1"/>
      <p:bldP spid="112" grpId="0" animBg="1"/>
      <p:bldP spid="116" grpId="0" animBg="1"/>
      <p:bldP spid="1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51470"/>
            <a:ext cx="576000" cy="57600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60842"/>
            <a:ext cx="576000" cy="57600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169360"/>
            <a:ext cx="1512169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路由聚合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251520" y="614471"/>
            <a:ext cx="8455808" cy="9720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31BDCA">
                <a:shade val="5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282392" y="588345"/>
            <a:ext cx="8424936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7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【2018</a:t>
            </a:r>
            <a:r>
              <a:rPr lang="zh-CN" altLang="en-US" sz="17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年题</a:t>
            </a:r>
            <a:r>
              <a:rPr lang="en-US" altLang="zh-CN" sz="17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38】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某路由表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中有转发接口相同的</a:t>
            </a:r>
            <a:r>
              <a:rPr lang="en-US" altLang="zh-CN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4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条路由表项，其目的网络地址分别为：</a:t>
            </a:r>
            <a:r>
              <a:rPr lang="en-US" altLang="zh-CN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35.230.32.0/21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、</a:t>
            </a:r>
            <a:r>
              <a:rPr lang="en-US" altLang="zh-CN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35.230.40.0/21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、</a:t>
            </a:r>
            <a:r>
              <a:rPr lang="en-US" altLang="zh-CN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35.230.48.0/21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、</a:t>
            </a:r>
            <a:r>
              <a:rPr lang="en-US" altLang="zh-CN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35.230.56.0/21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，将该</a:t>
            </a:r>
            <a:r>
              <a:rPr lang="en-US" altLang="zh-CN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4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条路由聚合后的目的地址为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  <a:sym typeface="Wingdings" panose="05000000000000000000" pitchFamily="2" charset="2"/>
              </a:rPr>
              <a:t>：（   ）</a:t>
            </a:r>
            <a:endParaRPr lang="zh-CN" altLang="en-US" sz="1700" dirty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219624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【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解析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】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66459" y="1585361"/>
            <a:ext cx="194476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700" b="1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A</a:t>
            </a:r>
            <a:r>
              <a:rPr lang="en-US" altLang="zh-CN" sz="1700" b="1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.</a:t>
            </a:r>
            <a:r>
              <a:rPr lang="en-US" altLang="zh-CN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 </a:t>
            </a:r>
            <a:r>
              <a:rPr lang="en-US" altLang="zh-CN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35.230.0.0/19</a:t>
            </a:r>
            <a:endParaRPr lang="zh-CN" altLang="en-US" sz="1700" dirty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383017" y="1575387"/>
            <a:ext cx="193033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700" b="1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B.</a:t>
            </a:r>
            <a:r>
              <a:rPr lang="en-US" altLang="zh-CN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 35.230.0.0/20</a:t>
            </a:r>
            <a:endParaRPr lang="zh-CN" altLang="en-US" sz="1700" dirty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70811" y="1886679"/>
            <a:ext cx="205697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700" b="1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C.</a:t>
            </a:r>
            <a:r>
              <a:rPr lang="en-US" altLang="zh-CN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 35.230.32.0/19</a:t>
            </a:r>
            <a:endParaRPr lang="zh-CN" altLang="en-US" sz="1700" dirty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373705" y="1892177"/>
            <a:ext cx="207050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700" b="1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D.</a:t>
            </a:r>
            <a:r>
              <a:rPr lang="en-US" altLang="zh-CN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 35.230.32.0/20</a:t>
            </a:r>
            <a:endParaRPr lang="zh-CN" altLang="en-US" sz="1700" dirty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998471" y="2558687"/>
            <a:ext cx="1188000" cy="310564"/>
          </a:xfrm>
          <a:prstGeom prst="rect">
            <a:avLst/>
          </a:prstGeom>
          <a:solidFill>
            <a:srgbClr val="FFC000"/>
          </a:solidFill>
        </p:spPr>
        <p:txBody>
          <a:bodyPr wrap="square" lIns="54000" tIns="18000" rIns="54000" rtlCol="0">
            <a:spAutoFit/>
          </a:bodyPr>
          <a:lstStyle/>
          <a:p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找共同前缀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355976" y="2267440"/>
            <a:ext cx="196423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共同</a:t>
            </a:r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前缀保持不变</a:t>
            </a:r>
            <a:r>
              <a:rPr lang="zh-CN" altLang="en-US" sz="16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1600" b="1" dirty="0" smtClean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剩余比特</a:t>
            </a:r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</a:t>
            </a:r>
            <a:r>
              <a:rPr lang="zh-CN" altLang="en-US" sz="16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取零。</a:t>
            </a:r>
            <a:endParaRPr lang="zh-CN" altLang="en-US" sz="1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268874" y="2521228"/>
            <a:ext cx="1977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路由聚合的方法：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534872" y="2875679"/>
            <a:ext cx="1977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35.230.32.0/21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534872" y="3163711"/>
            <a:ext cx="1977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35.230.40.0/21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534872" y="3451743"/>
            <a:ext cx="1977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35.230.48.0/21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534872" y="3745364"/>
            <a:ext cx="1977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35.230.56.0/21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4395154" y="2264987"/>
            <a:ext cx="1925059" cy="587228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" name="直接箭头连接符 119"/>
          <p:cNvCxnSpPr/>
          <p:nvPr/>
        </p:nvCxnSpPr>
        <p:spPr>
          <a:xfrm>
            <a:off x="2163858" y="3060532"/>
            <a:ext cx="1044000" cy="0"/>
          </a:xfrm>
          <a:prstGeom prst="straightConnector1">
            <a:avLst/>
          </a:prstGeom>
          <a:ln w="2540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箭头连接符 120"/>
          <p:cNvCxnSpPr/>
          <p:nvPr/>
        </p:nvCxnSpPr>
        <p:spPr>
          <a:xfrm>
            <a:off x="2163858" y="3356958"/>
            <a:ext cx="1044000" cy="0"/>
          </a:xfrm>
          <a:prstGeom prst="straightConnector1">
            <a:avLst/>
          </a:prstGeom>
          <a:ln w="2540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>
            <a:off x="2136791" y="3624637"/>
            <a:ext cx="1044000" cy="0"/>
          </a:xfrm>
          <a:prstGeom prst="straightConnector1">
            <a:avLst/>
          </a:prstGeom>
          <a:ln w="2540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/>
          <p:cNvCxnSpPr/>
          <p:nvPr/>
        </p:nvCxnSpPr>
        <p:spPr>
          <a:xfrm>
            <a:off x="2136791" y="3903904"/>
            <a:ext cx="1044000" cy="0"/>
          </a:xfrm>
          <a:prstGeom prst="straightConnector1">
            <a:avLst/>
          </a:prstGeom>
          <a:ln w="2540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3243037" y="2881268"/>
            <a:ext cx="2785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35.230.00100000.0/21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3243038" y="3169300"/>
            <a:ext cx="2641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35.230.00101000.0/21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3243038" y="3457332"/>
            <a:ext cx="2641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35.230.00110000.0/21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3243038" y="3724827"/>
            <a:ext cx="2641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35.230.00111000.0/21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3305103" y="2899099"/>
            <a:ext cx="1080000" cy="1152000"/>
          </a:xfrm>
          <a:prstGeom prst="rect">
            <a:avLst/>
          </a:prstGeom>
          <a:solidFill>
            <a:srgbClr val="F98B7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29" name="R1和R2之间的文字"/>
          <p:cNvSpPr txBox="1"/>
          <p:nvPr/>
        </p:nvSpPr>
        <p:spPr>
          <a:xfrm>
            <a:off x="3347864" y="2593236"/>
            <a:ext cx="1033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共同前缀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R1和R2之间的文字"/>
          <p:cNvSpPr txBox="1"/>
          <p:nvPr/>
        </p:nvSpPr>
        <p:spPr>
          <a:xfrm>
            <a:off x="3419872" y="4020333"/>
            <a:ext cx="940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4572000" y="4273543"/>
            <a:ext cx="63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/19</a:t>
            </a:r>
            <a:endParaRPr lang="zh-CN" altLang="en-US" sz="1700" b="1" kern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3275856" y="4279913"/>
            <a:ext cx="169947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35.230.32.0</a:t>
            </a:r>
            <a:endParaRPr lang="zh-CN" altLang="en-US" sz="1700" b="1" kern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323528" y="4253792"/>
            <a:ext cx="2960937" cy="353943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sz="1700" b="1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路由聚合后的目的网络地址：</a:t>
            </a:r>
            <a:endParaRPr lang="zh-CN" altLang="en-US" sz="17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78719" y="2196247"/>
            <a:ext cx="98616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700" b="1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答案为</a:t>
            </a:r>
            <a:r>
              <a:rPr lang="en-US" altLang="zh-CN" sz="1700" b="1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endParaRPr lang="zh-CN" altLang="en-US" sz="1700" dirty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2" grpId="0" animBg="1"/>
      <p:bldP spid="73" grpId="0"/>
      <p:bldP spid="2" grpId="0"/>
      <p:bldP spid="6" grpId="0"/>
      <p:bldP spid="76" grpId="0"/>
      <p:bldP spid="77" grpId="0"/>
      <p:bldP spid="78" grpId="0"/>
      <p:bldP spid="79" grpId="0" animBg="1"/>
      <p:bldP spid="80" grpId="0"/>
      <p:bldP spid="111" grpId="0"/>
      <p:bldP spid="113" grpId="0"/>
      <p:bldP spid="114" grpId="0"/>
      <p:bldP spid="115" grpId="0"/>
      <p:bldP spid="118" grpId="0"/>
      <p:bldP spid="119" grpId="0" animBg="1"/>
      <p:bldP spid="124" grpId="0"/>
      <p:bldP spid="125" grpId="0"/>
      <p:bldP spid="126" grpId="0"/>
      <p:bldP spid="127" grpId="0"/>
      <p:bldP spid="128" grpId="0" animBg="1"/>
      <p:bldP spid="129" grpId="0"/>
      <p:bldP spid="130" grpId="0"/>
      <p:bldP spid="131" grpId="0"/>
      <p:bldP spid="132" grpId="0"/>
      <p:bldP spid="133" grpId="0" animBg="1"/>
      <p:bldP spid="1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1584134" y="1943722"/>
            <a:ext cx="1332000" cy="0"/>
          </a:xfrm>
          <a:prstGeom prst="line">
            <a:avLst/>
          </a:prstGeom>
          <a:ln w="2540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3384224" y="3075806"/>
            <a:ext cx="3204000" cy="1512000"/>
          </a:xfrm>
          <a:prstGeom prst="rect">
            <a:avLst/>
          </a:prstGeom>
          <a:solidFill>
            <a:srgbClr val="F98B7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51470"/>
            <a:ext cx="576000" cy="57600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60842"/>
            <a:ext cx="576000" cy="57600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169360"/>
            <a:ext cx="2201470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小结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348836" y="2453770"/>
            <a:ext cx="2783004" cy="2134036"/>
            <a:chOff x="2142623" y="3766050"/>
            <a:chExt cx="2783004" cy="2134036"/>
          </a:xfrm>
        </p:grpSpPr>
        <p:sp>
          <p:nvSpPr>
            <p:cNvPr id="36" name="矩形 35"/>
            <p:cNvSpPr/>
            <p:nvPr/>
          </p:nvSpPr>
          <p:spPr>
            <a:xfrm>
              <a:off x="2142623" y="4388086"/>
              <a:ext cx="2783004" cy="1512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40000"/>
                </a:lnSpc>
              </a:pPr>
              <a:r>
                <a:rPr lang="zh-CN" altLang="en-US" sz="16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</a:t>
              </a: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长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网络号</a:t>
              </a:r>
              <a:endPara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类网络号：固定为</a:t>
              </a:r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</a:t>
              </a:r>
              <a:endPara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类网络号：固定为</a:t>
              </a:r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</a:t>
              </a:r>
              <a:endPara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类网络号：固定为</a:t>
              </a:r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24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</a:t>
              </a:r>
              <a:endPara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7" name="直接箭头连接符 36"/>
            <p:cNvCxnSpPr/>
            <p:nvPr/>
          </p:nvCxnSpPr>
          <p:spPr>
            <a:xfrm flipH="1" flipV="1">
              <a:off x="2467899" y="3766050"/>
              <a:ext cx="354796" cy="622036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 flipV="1">
              <a:off x="4205547" y="3766050"/>
              <a:ext cx="350669" cy="57600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文本框 1"/>
          <p:cNvSpPr txBox="1"/>
          <p:nvPr/>
        </p:nvSpPr>
        <p:spPr>
          <a:xfrm>
            <a:off x="216535" y="1766570"/>
            <a:ext cx="1769110" cy="363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7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两级结构</a:t>
            </a:r>
            <a:endParaRPr lang="en-US" altLang="zh-CN" sz="17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1" name="文本框 23"/>
          <p:cNvSpPr txBox="1"/>
          <p:nvPr/>
        </p:nvSpPr>
        <p:spPr>
          <a:xfrm>
            <a:off x="2569717" y="2517458"/>
            <a:ext cx="185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子网掩码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24"/>
          <p:cNvSpPr txBox="1"/>
          <p:nvPr/>
        </p:nvSpPr>
        <p:spPr>
          <a:xfrm>
            <a:off x="4788024" y="1766751"/>
            <a:ext cx="147395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两级结构</a:t>
            </a:r>
            <a:endParaRPr lang="en-US" altLang="zh-CN" sz="17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" name="文本框 25"/>
          <p:cNvSpPr txBox="1"/>
          <p:nvPr/>
        </p:nvSpPr>
        <p:spPr>
          <a:xfrm>
            <a:off x="5076056" y="2517458"/>
            <a:ext cx="1595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地址掩码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38"/>
          <p:cNvSpPr txBox="1"/>
          <p:nvPr/>
        </p:nvSpPr>
        <p:spPr>
          <a:xfrm>
            <a:off x="577769" y="1000637"/>
            <a:ext cx="111391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7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1981</a:t>
            </a:r>
            <a:r>
              <a:rPr lang="zh-CN" altLang="en-US" sz="17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zh-CN" altLang="en-US" sz="17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: 圆角 9"/>
          <p:cNvSpPr/>
          <p:nvPr/>
        </p:nvSpPr>
        <p:spPr>
          <a:xfrm>
            <a:off x="493830" y="1340447"/>
            <a:ext cx="1440000" cy="3960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分类编址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: 圆角 10"/>
          <p:cNvSpPr/>
          <p:nvPr/>
        </p:nvSpPr>
        <p:spPr>
          <a:xfrm>
            <a:off x="2601818" y="1340447"/>
            <a:ext cx="1440000" cy="3960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划分子网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: 圆角 11"/>
          <p:cNvSpPr/>
          <p:nvPr/>
        </p:nvSpPr>
        <p:spPr>
          <a:xfrm>
            <a:off x="4644008" y="1340447"/>
            <a:ext cx="1641480" cy="396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无分类编址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38"/>
          <p:cNvSpPr txBox="1"/>
          <p:nvPr/>
        </p:nvSpPr>
        <p:spPr>
          <a:xfrm>
            <a:off x="2759243" y="1013700"/>
            <a:ext cx="111391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7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1985</a:t>
            </a:r>
            <a:r>
              <a:rPr lang="zh-CN" altLang="en-US" sz="17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zh-CN" altLang="en-US" sz="17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38"/>
          <p:cNvSpPr txBox="1"/>
          <p:nvPr/>
        </p:nvSpPr>
        <p:spPr>
          <a:xfrm>
            <a:off x="4978681" y="1013700"/>
            <a:ext cx="111391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7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1993</a:t>
            </a:r>
            <a:r>
              <a:rPr lang="zh-CN" altLang="en-US" sz="17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zh-CN" altLang="en-US" sz="17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3436637" y="2453924"/>
            <a:ext cx="3079579" cy="2211927"/>
            <a:chOff x="6533276" y="3991341"/>
            <a:chExt cx="2933695" cy="2211927"/>
          </a:xfrm>
        </p:grpSpPr>
        <p:sp>
          <p:nvSpPr>
            <p:cNvPr id="53" name="矩形 52"/>
            <p:cNvSpPr/>
            <p:nvPr/>
          </p:nvSpPr>
          <p:spPr>
            <a:xfrm>
              <a:off x="6533276" y="4541215"/>
              <a:ext cx="2933695" cy="16620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4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前缀是</a:t>
              </a: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不定长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的，仅从</a:t>
              </a:r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IPv4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地址自身是无法确定其网络前缀和主机号的，需要配合使用</a:t>
              </a:r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比特的地址掩码。</a:t>
              </a:r>
              <a:endPara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4" name="直接箭头连接符 53"/>
            <p:cNvCxnSpPr/>
            <p:nvPr/>
          </p:nvCxnSpPr>
          <p:spPr>
            <a:xfrm flipV="1">
              <a:off x="7820646" y="3991341"/>
              <a:ext cx="350669" cy="57600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矩形 54"/>
          <p:cNvSpPr/>
          <p:nvPr/>
        </p:nvSpPr>
        <p:spPr>
          <a:xfrm>
            <a:off x="5731591" y="2157161"/>
            <a:ext cx="900000" cy="290318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主机号</a:t>
            </a:r>
            <a:endParaRPr kumimoji="0" lang="zh-CN" altLang="en-US" sz="15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4814150" y="2157161"/>
            <a:ext cx="900000" cy="288578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网络前缀</a:t>
            </a:r>
            <a:endParaRPr kumimoji="0" lang="zh-CN" altLang="en-US" sz="15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050301" y="2157161"/>
            <a:ext cx="900000" cy="290318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主机号</a:t>
            </a:r>
            <a:endParaRPr kumimoji="0" lang="zh-CN" altLang="en-US" sz="15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28908" y="2157161"/>
            <a:ext cx="900000" cy="288578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网络号</a:t>
            </a:r>
            <a:endParaRPr kumimoji="0" lang="zh-CN" altLang="en-US" sz="15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741871" y="2157161"/>
            <a:ext cx="648000" cy="290318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主机号</a:t>
            </a:r>
            <a:endParaRPr kumimoji="0" lang="zh-CN" altLang="en-US" sz="15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411760" y="2157161"/>
            <a:ext cx="648000" cy="288578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网络号</a:t>
            </a:r>
            <a:endParaRPr kumimoji="0" lang="zh-CN" altLang="en-US" sz="15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074043" y="2155557"/>
            <a:ext cx="648000" cy="288578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子网号</a:t>
            </a:r>
            <a:endParaRPr kumimoji="0" lang="zh-CN" altLang="en-US" sz="15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6" name="小标题"/>
          <p:cNvSpPr txBox="1"/>
          <p:nvPr/>
        </p:nvSpPr>
        <p:spPr>
          <a:xfrm>
            <a:off x="179512" y="620841"/>
            <a:ext cx="4896544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en-US" altLang="zh-CN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IPV4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的编址方法经历了如下三个</a:t>
            </a:r>
            <a:r>
              <a:rPr lang="zh-CN" altLang="en-US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阶段：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7" name="直接箭头连接符 66"/>
          <p:cNvCxnSpPr>
            <a:endCxn id="48" idx="1"/>
          </p:cNvCxnSpPr>
          <p:nvPr/>
        </p:nvCxnSpPr>
        <p:spPr>
          <a:xfrm flipV="1">
            <a:off x="1933830" y="1538447"/>
            <a:ext cx="667988" cy="4398"/>
          </a:xfrm>
          <a:prstGeom prst="straightConnector1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6300192" y="1542845"/>
            <a:ext cx="648000" cy="0"/>
          </a:xfrm>
          <a:prstGeom prst="straightConnector1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192575" y="1542845"/>
            <a:ext cx="288000" cy="0"/>
          </a:xfrm>
          <a:prstGeom prst="straightConnector1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4035125" y="1542845"/>
            <a:ext cx="612000" cy="0"/>
          </a:xfrm>
          <a:prstGeom prst="straightConnector1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6012160" y="1943722"/>
            <a:ext cx="720000" cy="0"/>
          </a:xfrm>
          <a:prstGeom prst="straightConnector1">
            <a:avLst/>
          </a:prstGeom>
          <a:ln w="25400">
            <a:solidFill>
              <a:schemeClr val="tx2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264583" y="1943722"/>
            <a:ext cx="360000" cy="0"/>
          </a:xfrm>
          <a:prstGeom prst="line">
            <a:avLst/>
          </a:prstGeom>
          <a:ln w="2540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3825379" y="1943722"/>
            <a:ext cx="1242000" cy="0"/>
          </a:xfrm>
          <a:prstGeom prst="line">
            <a:avLst/>
          </a:prstGeom>
          <a:ln w="2540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22"/>
          <p:cNvSpPr txBox="1"/>
          <p:nvPr/>
        </p:nvSpPr>
        <p:spPr>
          <a:xfrm>
            <a:off x="2339499" y="1766751"/>
            <a:ext cx="202342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三级结构</a:t>
            </a:r>
            <a:endParaRPr lang="en-US" altLang="zh-CN" sz="17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5" grpId="0"/>
      <p:bldP spid="39" grpId="0"/>
      <p:bldP spid="40" grpId="0"/>
      <p:bldP spid="41" grpId="0"/>
      <p:bldP spid="42" grpId="0"/>
      <p:bldP spid="43" grpId="0"/>
      <p:bldP spid="45" grpId="0"/>
      <p:bldP spid="47" grpId="0" animBg="1"/>
      <p:bldP spid="48" grpId="0" animBg="1"/>
      <p:bldP spid="49" grpId="0" animBg="1"/>
      <p:bldP spid="50" grpId="0"/>
      <p:bldP spid="51" grpId="0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dministrator\Desktop\3afe8fe6bfe17e05fe49e17f29526623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880344" y="534988"/>
            <a:ext cx="5775380" cy="4124994"/>
          </a:xfrm>
          <a:prstGeom prst="rect">
            <a:avLst/>
          </a:prstGeom>
          <a:noFill/>
        </p:spPr>
      </p:pic>
      <p:sp>
        <p:nvSpPr>
          <p:cNvPr id="45" name="矩形 44"/>
          <p:cNvSpPr/>
          <p:nvPr/>
        </p:nvSpPr>
        <p:spPr>
          <a:xfrm>
            <a:off x="1310585" y="2429475"/>
            <a:ext cx="26853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spc="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谢谢观看！</a:t>
            </a:r>
            <a:endParaRPr lang="zh-CN" altLang="en-US" sz="3600" b="1" spc="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6" presetClass="entr" presetSubtype="0" fill="hold" grpId="0" nodeType="withEffect">
                                  <p:stCondLst>
                                    <p:cond delay="2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134.96629921259844,&quot;left&quot;:341.90637795275586,&quot;top&quot;:86.0628346456693,&quot;width&quot;:187.21110236220474}"/>
</p:tagLst>
</file>

<file path=ppt/tags/tag2.xml><?xml version="1.0" encoding="utf-8"?>
<p:tagLst xmlns:p="http://schemas.openxmlformats.org/presentationml/2006/main">
  <p:tag name="KSO_WM_DIAGRAM_VIRTUALLY_FRAME" val="{&quot;height&quot;:134.96629921259844,&quot;left&quot;:341.90637795275586,&quot;top&quot;:86.0628346456693,&quot;width&quot;:187.21110236220474}"/>
</p:tagLst>
</file>

<file path=ppt/tags/tag3.xml><?xml version="1.0" encoding="utf-8"?>
<p:tagLst xmlns:p="http://schemas.openxmlformats.org/presentationml/2006/main">
  <p:tag name="KSO_WM_DIAGRAM_VIRTUALLY_FRAME" val="{&quot;height&quot;:134.96629921259844,&quot;left&quot;:341.90637795275586,&quot;top&quot;:86.0628346456693,&quot;width&quot;:187.21110236220474}"/>
</p:tagLst>
</file>

<file path=ppt/tags/tag4.xml><?xml version="1.0" encoding="utf-8"?>
<p:tagLst xmlns:p="http://schemas.openxmlformats.org/presentationml/2006/main">
  <p:tag name="KSO_WM_DIAGRAM_VIRTUALLY_FRAME" val="{&quot;height&quot;:134.96629921259844,&quot;left&quot;:341.90637795275586,&quot;top&quot;:86.0628346456693,&quot;width&quot;:187.21110236220474}"/>
</p:tagLst>
</file>

<file path=ppt/tags/tag5.xml><?xml version="1.0" encoding="utf-8"?>
<p:tagLst xmlns:p="http://schemas.openxmlformats.org/presentationml/2006/main">
  <p:tag name="KSO_WM_DIAGRAM_VIRTUALLY_FRAME" val="{&quot;height&quot;:134.96629921259844,&quot;left&quot;:341.90637795275586,&quot;top&quot;:86.0628346456693,&quot;width&quot;:187.21110236220474}"/>
</p:tagLst>
</file>

<file path=ppt/tags/tag6.xml><?xml version="1.0" encoding="utf-8"?>
<p:tagLst xmlns:p="http://schemas.openxmlformats.org/presentationml/2006/main">
  <p:tag name="KSO_WM_DIAGRAM_VIRTUALLY_FRAME" val="{&quot;height&quot;:134.96629921259844,&quot;left&quot;:341.90637795275586,&quot;top&quot;:86.0628346456693,&quot;width&quot;:187.21110236220474}"/>
</p:tagLst>
</file>

<file path=ppt/tags/tag7.xml><?xml version="1.0" encoding="utf-8"?>
<p:tagLst xmlns:p="http://schemas.openxmlformats.org/presentationml/2006/main">
  <p:tag name="ISPRING_PRESENTATION_TITLE" val="9"/>
  <p:tag name="COMMONDATA" val="eyJoZGlkIjoiMGRlNTMzN2RkYWE0MzMzOTYxMjdhNDQxYTdmMDBkMTAifQ=="/>
  <p:tag name="commondata" val="eyJoZGlkIjoiOTc0MWE2ZDcwOTY0YWQxOTQxMzViMDNhZWY3ZGY1ODEifQ=="/>
</p:tagLst>
</file>

<file path=ppt/theme/theme1.xml><?xml version="1.0" encoding="utf-8"?>
<a:theme xmlns:a="http://schemas.openxmlformats.org/drawingml/2006/main" name="Office 主题​​">
  <a:themeElements>
    <a:clrScheme name="自定义 11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08BC4"/>
      </a:accent1>
      <a:accent2>
        <a:srgbClr val="73C8FF"/>
      </a:accent2>
      <a:accent3>
        <a:srgbClr val="308BC4"/>
      </a:accent3>
      <a:accent4>
        <a:srgbClr val="73C8FF"/>
      </a:accent4>
      <a:accent5>
        <a:srgbClr val="308BC4"/>
      </a:accent5>
      <a:accent6>
        <a:srgbClr val="73C8FF"/>
      </a:accent6>
      <a:hlink>
        <a:srgbClr val="007FA2"/>
      </a:hlink>
      <a:folHlink>
        <a:srgbClr val="FF495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3695</Words>
  <Application>WPS 演示</Application>
  <PresentationFormat>全屏显示(16:9)</PresentationFormat>
  <Paragraphs>800</Paragraphs>
  <Slides>17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Times New Roman</vt:lpstr>
      <vt:lpstr>Open Sans</vt:lpstr>
      <vt:lpstr>Segoe Print</vt:lpstr>
      <vt:lpstr>冬青黑体简体中文 W3</vt:lpstr>
      <vt:lpstr>Arial Unicode MS</vt:lpstr>
      <vt:lpstr>Arial</vt:lpstr>
      <vt:lpstr>Verdana</vt:lpstr>
      <vt:lpstr>Calibri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</dc:title>
  <dc:creator>USER</dc:creator>
  <cp:lastModifiedBy>风子</cp:lastModifiedBy>
  <cp:revision>876</cp:revision>
  <dcterms:created xsi:type="dcterms:W3CDTF">2014-11-09T01:07:00Z</dcterms:created>
  <dcterms:modified xsi:type="dcterms:W3CDTF">2024-08-23T05:54:16Z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D933B7041DB849FAAE7E38202071DAAC</vt:lpwstr>
  </property>
  <property fmtid="{D5CDD505-2E9C-101B-9397-08002B2CF9AE}" pid="3" name="KSOProductBuildVer">
    <vt:lpwstr>2052-12.1.0.17827</vt:lpwstr>
  </property>
</Properties>
</file>