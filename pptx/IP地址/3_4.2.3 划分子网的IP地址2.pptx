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836" r:id="rId3"/>
    <p:sldId id="1056" r:id="rId5"/>
    <p:sldId id="1078" r:id="rId6"/>
    <p:sldId id="1082" r:id="rId7"/>
    <p:sldId id="1087" r:id="rId8"/>
    <p:sldId id="1080" r:id="rId9"/>
    <p:sldId id="1086" r:id="rId10"/>
    <p:sldId id="1088" r:id="rId11"/>
    <p:sldId id="1058" r:id="rId12"/>
    <p:sldId id="1089" r:id="rId13"/>
    <p:sldId id="1090" r:id="rId14"/>
    <p:sldId id="1091" r:id="rId15"/>
    <p:sldId id="1093" r:id="rId16"/>
    <p:sldId id="1094" r:id="rId17"/>
    <p:sldId id="1099" r:id="rId18"/>
    <p:sldId id="1057" r:id="rId19"/>
  </p:sldIdLst>
  <p:sldSz cx="9144000" cy="5143500" type="screen16x9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EA2"/>
    <a:srgbClr val="2D7FAE"/>
    <a:srgbClr val="008487"/>
    <a:srgbClr val="0087CD"/>
    <a:srgbClr val="959C84"/>
    <a:srgbClr val="EBAC07"/>
    <a:srgbClr val="F98B7F"/>
    <a:srgbClr val="0075BF"/>
    <a:srgbClr val="FFF6D9"/>
    <a:srgbClr val="C68F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84" autoAdjust="0"/>
    <p:restoredTop sz="93354" autoAdjust="0"/>
  </p:normalViewPr>
  <p:slideViewPr>
    <p:cSldViewPr>
      <p:cViewPr>
        <p:scale>
          <a:sx n="73" d="100"/>
          <a:sy n="73" d="100"/>
        </p:scale>
        <p:origin x="-1224" y="-258"/>
      </p:cViewPr>
      <p:guideLst>
        <p:guide orient="horz" pos="1818"/>
        <p:guide pos="29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3360" y="-96"/>
      </p:cViewPr>
      <p:guideLst>
        <p:guide orient="horz" pos="3232"/>
        <p:guide pos="21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1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A5992-9D73-4015-9385-ABE035416B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5A699-AB68-4A20-99FB-6F69DC266D4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4BE56-0D4C-487B-A77A-5602763B13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4BE56-0D4C-487B-A77A-5602763B13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4BE56-0D4C-487B-A77A-5602763B13E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4324EA-D88B-4DB6-A454-EECCD39A6D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3"/>
          <p:cNvGrpSpPr/>
          <p:nvPr userDrawn="1"/>
        </p:nvGrpSpPr>
        <p:grpSpPr bwMode="auto">
          <a:xfrm flipH="1">
            <a:off x="-1" y="248018"/>
            <a:ext cx="1797166" cy="507206"/>
            <a:chOff x="2370576" y="533400"/>
            <a:chExt cx="2417494" cy="675969"/>
          </a:xfrm>
          <a:solidFill>
            <a:srgbClr val="EE1C39"/>
          </a:solidFill>
        </p:grpSpPr>
        <p:sp>
          <p:nvSpPr>
            <p:cNvPr id="13" name="矩形 12"/>
            <p:cNvSpPr/>
            <p:nvPr/>
          </p:nvSpPr>
          <p:spPr>
            <a:xfrm>
              <a:off x="2738030" y="533400"/>
              <a:ext cx="2050040" cy="6759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00" dirty="0">
                <a:cs typeface="+mn-ea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2370576" y="533400"/>
              <a:ext cx="623734" cy="6759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15" name="文本框 12"/>
          <p:cNvSpPr txBox="1">
            <a:spLocks noChangeArrowheads="1"/>
          </p:cNvSpPr>
          <p:nvPr userDrawn="1"/>
        </p:nvSpPr>
        <p:spPr bwMode="auto">
          <a:xfrm>
            <a:off x="-1" y="370296"/>
            <a:ext cx="1796090" cy="250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BD0C8-D35A-439E-96FB-C8D4A64305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15A6-E82C-4E1E-834E-C415C51F7D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" y="0"/>
            <a:ext cx="9143499" cy="51435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6949041" y="3951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湖南涉外经济学院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6967922" y="337393"/>
            <a:ext cx="199356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Hunan International Economics U</a:t>
            </a:r>
            <a:endParaRPr lang="zh-CN" altLang="en-US" sz="1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30956" y="65317"/>
            <a:ext cx="411342" cy="43162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3436" cy="5143184"/>
          </a:xfrm>
          <a:prstGeom prst="rect">
            <a:avLst/>
          </a:prstGeom>
          <a:solidFill>
            <a:srgbClr val="FBFA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23" tIns="32511" rIns="65023" bIns="32511"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6949041" y="3951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湖南涉外经济学院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6967922" y="337393"/>
            <a:ext cx="199356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Hunan International Economics U</a:t>
            </a:r>
            <a:endParaRPr lang="zh-CN" altLang="en-US" sz="1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30956" y="65317"/>
            <a:ext cx="411342" cy="43162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200151"/>
            <a:ext cx="8229600" cy="3394472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4767264"/>
            <a:ext cx="2133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54A03-91AF-448A-9954-517C0577E5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4"/>
            <a:ext cx="2895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1" y="4767264"/>
            <a:ext cx="2133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FC946-6D13-4F8C-9740-992A906A613E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949041" y="3951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湖南涉外经济学院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67922" y="337393"/>
            <a:ext cx="199356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Hunan International Economics U</a:t>
            </a:r>
            <a:endParaRPr lang="zh-CN" altLang="en-US" sz="1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956" y="65317"/>
            <a:ext cx="411342" cy="4316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/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11.wmf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3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3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dministrator\Desktop\3afe8fe6bfe17e05fe49e17f29526623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125212" y="534988"/>
            <a:ext cx="5775380" cy="4124994"/>
          </a:xfrm>
          <a:prstGeom prst="rect">
            <a:avLst/>
          </a:prstGeom>
          <a:noFill/>
        </p:spPr>
      </p:pic>
      <p:sp>
        <p:nvSpPr>
          <p:cNvPr id="42" name="矩形 41"/>
          <p:cNvSpPr/>
          <p:nvPr/>
        </p:nvSpPr>
        <p:spPr>
          <a:xfrm>
            <a:off x="251520" y="2067694"/>
            <a:ext cx="400782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b="1" spc="300" dirty="0" smtClean="0">
                <a:solidFill>
                  <a:srgbClr val="C68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第四章 网络层</a:t>
            </a:r>
            <a:endParaRPr lang="zh-CN" altLang="en-US" sz="4400" b="1" spc="300" dirty="0">
              <a:solidFill>
                <a:srgbClr val="C68F0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281458" y="3291830"/>
            <a:ext cx="57307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spc="3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4.2.3 </a:t>
            </a:r>
            <a:r>
              <a:rPr lang="zh-CN" altLang="en-US" sz="3600" b="1" spc="3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划分子网的</a:t>
            </a:r>
            <a:r>
              <a:rPr lang="en-US" altLang="zh-CN" sz="3600" b="1" spc="3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</a:t>
            </a:r>
            <a:r>
              <a:rPr lang="zh-CN" altLang="en-US" sz="3600" b="1" spc="3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</a:t>
            </a:r>
            <a:endParaRPr lang="zh-CN" altLang="en-US" sz="3600" b="1" spc="3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5077101" y="1059582"/>
            <a:ext cx="1907540" cy="433705"/>
          </a:xfrm>
          <a:prstGeom prst="rect">
            <a:avLst/>
          </a:prstGeom>
          <a:effectLst/>
        </p:spPr>
        <p:txBody>
          <a:bodyPr wrap="none" lIns="65023" tIns="32511" rIns="65023" bIns="32511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2000" dirty="0">
                <a:solidFill>
                  <a:srgbClr val="C68F06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子网划分的背景</a:t>
            </a:r>
            <a:endParaRPr lang="zh-CN" altLang="en-US" sz="2000" dirty="0">
              <a:solidFill>
                <a:srgbClr val="C68F06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094734" y="1710134"/>
            <a:ext cx="1907540" cy="433705"/>
          </a:xfrm>
          <a:prstGeom prst="rect">
            <a:avLst/>
          </a:prstGeom>
          <a:effectLst/>
        </p:spPr>
        <p:txBody>
          <a:bodyPr wrap="none" lIns="65023" tIns="32511" rIns="65023" bIns="32511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2000" dirty="0">
                <a:solidFill>
                  <a:srgbClr val="C68F06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子网划分</a:t>
            </a:r>
            <a:r>
              <a:rPr lang="zh-CN" altLang="en-US" sz="2000" dirty="0" smtClean="0">
                <a:solidFill>
                  <a:srgbClr val="C68F06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的原则</a:t>
            </a:r>
            <a:endParaRPr lang="en-US" altLang="zh-CN" sz="2000" dirty="0">
              <a:solidFill>
                <a:srgbClr val="C68F06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8" name="TextBox 148"/>
          <p:cNvSpPr txBox="1"/>
          <p:nvPr/>
        </p:nvSpPr>
        <p:spPr>
          <a:xfrm>
            <a:off x="1551963" y="1131590"/>
            <a:ext cx="2299957" cy="730454"/>
          </a:xfrm>
          <a:prstGeom prst="rect">
            <a:avLst/>
          </a:prstGeom>
          <a:noFill/>
        </p:spPr>
        <p:txBody>
          <a:bodyPr vert="horz" wrap="square" lIns="65023" tIns="32511" rIns="65023" bIns="3251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 cap="all" spc="213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主要内容</a:t>
            </a:r>
            <a:endParaRPr lang="en-US" altLang="zh-CN" sz="3600" b="1" cap="all" spc="213" dirty="0" smtClean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TextBox 148"/>
          <p:cNvSpPr txBox="1"/>
          <p:nvPr/>
        </p:nvSpPr>
        <p:spPr>
          <a:xfrm>
            <a:off x="1551963" y="1891212"/>
            <a:ext cx="2380001" cy="638121"/>
          </a:xfrm>
          <a:prstGeom prst="rect">
            <a:avLst/>
          </a:prstGeom>
          <a:noFill/>
        </p:spPr>
        <p:txBody>
          <a:bodyPr vert="horz" wrap="square" lIns="65023" tIns="32511" rIns="65023" bIns="3251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100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CONTENTS</a:t>
            </a:r>
            <a:endParaRPr lang="en-US" altLang="zh-CN" sz="3100" b="1" dirty="0" smtClean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Freeform 6"/>
          <p:cNvSpPr/>
          <p:nvPr/>
        </p:nvSpPr>
        <p:spPr bwMode="auto">
          <a:xfrm>
            <a:off x="252" y="3838725"/>
            <a:ext cx="9143498" cy="1304775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  <p:txBody>
          <a:bodyPr vert="horz" wrap="square" lIns="91433" tIns="45717" rIns="91433" bIns="45717" numCol="1" anchor="t" anchorCtr="0" compatLnSpc="1"/>
          <a:lstStyle/>
          <a:p>
            <a:endParaRPr lang="zh-CN" altLang="en-US"/>
          </a:p>
        </p:txBody>
      </p:sp>
      <p:sp>
        <p:nvSpPr>
          <p:cNvPr id="18" name="Freeform 7"/>
          <p:cNvSpPr/>
          <p:nvPr/>
        </p:nvSpPr>
        <p:spPr bwMode="auto">
          <a:xfrm>
            <a:off x="252" y="3647129"/>
            <a:ext cx="9143498" cy="421724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</a:ln>
        </p:spPr>
        <p:txBody>
          <a:bodyPr vert="horz" wrap="square" lIns="91433" tIns="45717" rIns="91433" bIns="45717" numCol="1" anchor="t" anchorCtr="0" compatLnSpc="1"/>
          <a:lstStyle/>
          <a:p>
            <a:endParaRPr lang="zh-CN" altLang="en-US"/>
          </a:p>
        </p:txBody>
      </p:sp>
      <p:pic>
        <p:nvPicPr>
          <p:cNvPr id="14" name="Picture 3" descr="C:\Users\Administrator\Desktop\3afe8fe6bfe17e05fe49e17f29526623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55576" y="2571750"/>
            <a:ext cx="5775380" cy="4124994"/>
          </a:xfrm>
          <a:prstGeom prst="rect">
            <a:avLst/>
          </a:prstGeom>
          <a:noFill/>
        </p:spPr>
      </p:pic>
      <p:sp>
        <p:nvSpPr>
          <p:cNvPr id="11" name="矩形 10"/>
          <p:cNvSpPr/>
          <p:nvPr/>
        </p:nvSpPr>
        <p:spPr>
          <a:xfrm>
            <a:off x="6949041" y="3951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湖南涉外经济学院</a:t>
            </a:r>
            <a:endParaRPr lang="zh-CN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967922" y="337393"/>
            <a:ext cx="199356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Hunan International Economics U</a:t>
            </a:r>
            <a:endParaRPr lang="zh-CN" altLang="en-US" sz="1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956" y="65317"/>
            <a:ext cx="411342" cy="431624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4342211" y="1102804"/>
            <a:ext cx="416651" cy="401070"/>
          </a:xfrm>
          <a:prstGeom prst="rect">
            <a:avLst/>
          </a:prstGeom>
          <a:solidFill>
            <a:schemeClr val="accent1"/>
          </a:solidFill>
          <a:effectLst/>
        </p:spPr>
        <p:txBody>
          <a:bodyPr wrap="none" lIns="65023" tIns="32511" rIns="65023" bIns="32511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355976" y="1750876"/>
            <a:ext cx="416651" cy="401070"/>
          </a:xfrm>
          <a:prstGeom prst="rect">
            <a:avLst/>
          </a:prstGeom>
          <a:solidFill>
            <a:schemeClr val="accent1"/>
          </a:solidFill>
          <a:effectLst/>
        </p:spPr>
        <p:txBody>
          <a:bodyPr wrap="none" lIns="65023" tIns="32511" rIns="65023" bIns="32511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117612" y="2335970"/>
            <a:ext cx="1145540" cy="433705"/>
          </a:xfrm>
          <a:prstGeom prst="rect">
            <a:avLst/>
          </a:prstGeom>
          <a:effectLst/>
        </p:spPr>
        <p:txBody>
          <a:bodyPr wrap="none" lIns="65023" tIns="32511" rIns="65023" bIns="32511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2000" dirty="0" smtClean="0">
                <a:solidFill>
                  <a:srgbClr val="C68F06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子网掩码</a:t>
            </a:r>
            <a:endParaRPr lang="zh-CN" altLang="en-US" sz="2000" dirty="0" smtClean="0">
              <a:solidFill>
                <a:srgbClr val="C68F06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355976" y="2371215"/>
            <a:ext cx="416651" cy="401070"/>
          </a:xfrm>
          <a:prstGeom prst="rect">
            <a:avLst/>
          </a:prstGeom>
          <a:solidFill>
            <a:schemeClr val="accent1"/>
          </a:solidFill>
          <a:effectLst/>
        </p:spPr>
        <p:txBody>
          <a:bodyPr wrap="none" lIns="65023" tIns="32511" rIns="65023" bIns="32511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21" grpId="0" bldLvl="0" animBg="1"/>
      <p:bldP spid="38" grpId="0"/>
      <p:bldP spid="15" grpId="0"/>
      <p:bldP spid="16" grpId="0" animBg="1"/>
      <p:bldP spid="18" grpId="0" animBg="1"/>
      <p:bldP spid="17" grpId="0" animBg="1"/>
      <p:bldP spid="22" grpId="0" animBg="1"/>
      <p:bldP spid="20" grpId="0" bldLvl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 descr="C:\Users\Administrator\Desktop\3afe8fe6bfe17e05fe49e17f29526623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-3114092" y="483518"/>
            <a:ext cx="6228184" cy="4448404"/>
          </a:xfrm>
          <a:prstGeom prst="rect">
            <a:avLst/>
          </a:prstGeom>
          <a:noFill/>
        </p:spPr>
      </p:pic>
      <p:cxnSp>
        <p:nvCxnSpPr>
          <p:cNvPr id="24" name="直接连接符 23"/>
          <p:cNvCxnSpPr/>
          <p:nvPr/>
        </p:nvCxnSpPr>
        <p:spPr>
          <a:xfrm flipV="1">
            <a:off x="4438183" y="1777237"/>
            <a:ext cx="0" cy="142041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3"/>
          <p:cNvSpPr txBox="1"/>
          <p:nvPr/>
        </p:nvSpPr>
        <p:spPr>
          <a:xfrm>
            <a:off x="3184399" y="2951483"/>
            <a:ext cx="902574" cy="2461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PART 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3059832" y="1773997"/>
            <a:ext cx="1004222" cy="10042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80808"/>
              </a:solidFill>
              <a:latin typeface="+mj-ea"/>
              <a:ea typeface="+mj-ea"/>
            </a:endParaRPr>
          </a:p>
        </p:txBody>
      </p:sp>
      <p:sp>
        <p:nvSpPr>
          <p:cNvPr id="31" name="TextBox 13"/>
          <p:cNvSpPr txBox="1"/>
          <p:nvPr/>
        </p:nvSpPr>
        <p:spPr>
          <a:xfrm>
            <a:off x="3214460" y="1895094"/>
            <a:ext cx="902574" cy="7692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5000" b="1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50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4572909" y="1875352"/>
            <a:ext cx="3588994" cy="742765"/>
          </a:xfrm>
          <a:prstGeom prst="rect">
            <a:avLst/>
          </a:prstGeom>
          <a:noFill/>
        </p:spPr>
        <p:txBody>
          <a:bodyPr wrap="none" lIns="65023" tIns="32511" rIns="65023" bIns="32511" rtlCol="0">
            <a:spAutoFit/>
          </a:bodyPr>
          <a:lstStyle/>
          <a:p>
            <a:pPr marL="0" lvl="1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/>
            <a:r>
              <a:rPr lang="zh-CN" altLang="en-US" sz="2400" b="1" dirty="0" smtClean="0">
                <a:solidFill>
                  <a:srgbClr val="C68F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子网掩码的背景</a:t>
            </a:r>
            <a:endParaRPr lang="en-US" altLang="zh-CN" sz="2400" b="1" dirty="0">
              <a:solidFill>
                <a:srgbClr val="C68F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8" grpId="0" animBg="1"/>
      <p:bldP spid="31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251520" y="1851670"/>
            <a:ext cx="2592288" cy="1148356"/>
          </a:xfrm>
          <a:prstGeom prst="rect">
            <a:avLst/>
          </a:prstGeom>
          <a:solidFill>
            <a:srgbClr val="F0F0F0">
              <a:lumMod val="90000"/>
            </a:srgbClr>
          </a:solidFill>
          <a:ln w="12700" cap="flat" cmpd="sng" algn="ctr">
            <a:solidFill>
              <a:srgbClr val="F0F0F0">
                <a:lumMod val="9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/>
                <a:ea typeface="微软雅黑" panose="020B0503020204020204" pitchFamily="34" charset="-122"/>
                <a:cs typeface="+mn-cs"/>
              </a:rPr>
              <a:t>A</a:t>
            </a:r>
            <a:r>
              <a:rPr kumimoji="0" lang="zh-CN" altLang="en-US" sz="16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/>
                <a:ea typeface="微软雅黑" panose="020B0503020204020204" pitchFamily="34" charset="-122"/>
                <a:cs typeface="+mn-cs"/>
              </a:rPr>
              <a:t>类网络号：固定为</a:t>
            </a:r>
            <a:r>
              <a:rPr kumimoji="0" lang="en-US" altLang="zh-CN" sz="16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/>
                <a:ea typeface="微软雅黑" panose="020B0503020204020204" pitchFamily="34" charset="-122"/>
                <a:cs typeface="+mn-cs"/>
              </a:rPr>
              <a:t>8</a:t>
            </a:r>
            <a:r>
              <a:rPr kumimoji="0" lang="zh-CN" altLang="en-US" sz="16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/>
                <a:ea typeface="微软雅黑" panose="020B0503020204020204" pitchFamily="34" charset="-122"/>
                <a:cs typeface="+mn-cs"/>
              </a:rPr>
              <a:t>比特</a:t>
            </a:r>
            <a:endParaRPr kumimoji="0" lang="en-US" altLang="zh-CN" sz="160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/>
              <a:ea typeface="微软雅黑" panose="020B0503020204020204" pitchFamily="34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/>
                <a:ea typeface="微软雅黑" panose="020B0503020204020204" pitchFamily="34" charset="-122"/>
                <a:cs typeface="+mn-cs"/>
              </a:rPr>
              <a:t>B</a:t>
            </a:r>
            <a:r>
              <a:rPr kumimoji="0" lang="zh-CN" altLang="en-US" sz="16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/>
                <a:ea typeface="微软雅黑" panose="020B0503020204020204" pitchFamily="34" charset="-122"/>
                <a:cs typeface="+mn-cs"/>
              </a:rPr>
              <a:t>类网络号：固定为</a:t>
            </a:r>
            <a:r>
              <a:rPr kumimoji="0" lang="en-US" altLang="zh-CN" sz="16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/>
                <a:ea typeface="微软雅黑" panose="020B0503020204020204" pitchFamily="34" charset="-122"/>
                <a:cs typeface="+mn-cs"/>
              </a:rPr>
              <a:t>16</a:t>
            </a:r>
            <a:r>
              <a:rPr kumimoji="0" lang="zh-CN" altLang="en-US" sz="16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/>
                <a:ea typeface="微软雅黑" panose="020B0503020204020204" pitchFamily="34" charset="-122"/>
                <a:cs typeface="+mn-cs"/>
              </a:rPr>
              <a:t>比特</a:t>
            </a:r>
            <a:endParaRPr kumimoji="0" lang="en-US" altLang="zh-CN" sz="160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/>
              <a:ea typeface="微软雅黑" panose="020B0503020204020204" pitchFamily="34" charset="-122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/>
                <a:ea typeface="微软雅黑" panose="020B0503020204020204" pitchFamily="34" charset="-122"/>
                <a:cs typeface="+mn-cs"/>
              </a:rPr>
              <a:t>C</a:t>
            </a:r>
            <a:r>
              <a:rPr kumimoji="0" lang="zh-CN" altLang="en-US" sz="16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/>
                <a:ea typeface="微软雅黑" panose="020B0503020204020204" pitchFamily="34" charset="-122"/>
                <a:cs typeface="+mn-cs"/>
              </a:rPr>
              <a:t>类网络号：固定为</a:t>
            </a:r>
            <a:r>
              <a:rPr kumimoji="0" lang="en-US" altLang="zh-CN" sz="16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/>
                <a:ea typeface="微软雅黑" panose="020B0503020204020204" pitchFamily="34" charset="-122"/>
                <a:cs typeface="+mn-cs"/>
              </a:rPr>
              <a:t>24</a:t>
            </a:r>
            <a:r>
              <a:rPr kumimoji="0" lang="zh-CN" altLang="en-US" sz="16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/>
                <a:ea typeface="微软雅黑" panose="020B0503020204020204" pitchFamily="34" charset="-122"/>
                <a:cs typeface="+mn-cs"/>
              </a:rPr>
              <a:t>比特</a:t>
            </a:r>
            <a:endParaRPr kumimoji="0" lang="zh-CN" altLang="en-US" sz="160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3478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927" y="132850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15616" y="221612"/>
            <a:ext cx="2448273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子网划分的背景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323528" y="555526"/>
            <a:ext cx="8299343" cy="820892"/>
            <a:chOff x="953177" y="2818796"/>
            <a:chExt cx="10292316" cy="820892"/>
          </a:xfrm>
        </p:grpSpPr>
        <p:sp>
          <p:nvSpPr>
            <p:cNvPr id="91" name="文本框 38"/>
            <p:cNvSpPr txBox="1"/>
            <p:nvPr/>
          </p:nvSpPr>
          <p:spPr>
            <a:xfrm>
              <a:off x="1602071" y="2818796"/>
              <a:ext cx="1583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b="1" dirty="0">
                  <a:latin typeface="+mn-ea"/>
                </a:rPr>
                <a:t>1981</a:t>
              </a:r>
              <a:r>
                <a:rPr lang="zh-CN" altLang="en-US" sz="2000" b="1" dirty="0">
                  <a:latin typeface="+mn-ea"/>
                </a:rPr>
                <a:t>年</a:t>
              </a:r>
              <a:endParaRPr lang="zh-CN" altLang="en-US" sz="2000" b="1" dirty="0">
                <a:latin typeface="+mn-ea"/>
              </a:endParaRPr>
            </a:p>
          </p:txBody>
        </p:sp>
        <p:cxnSp>
          <p:nvCxnSpPr>
            <p:cNvPr id="92" name="直接箭头连接符 91"/>
            <p:cNvCxnSpPr/>
            <p:nvPr/>
          </p:nvCxnSpPr>
          <p:spPr>
            <a:xfrm>
              <a:off x="953177" y="3466868"/>
              <a:ext cx="10292316" cy="0"/>
            </a:xfrm>
            <a:prstGeom prst="straightConnector1">
              <a:avLst/>
            </a:prstGeom>
            <a:ln w="1016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矩形: 圆角 9"/>
            <p:cNvSpPr/>
            <p:nvPr/>
          </p:nvSpPr>
          <p:spPr>
            <a:xfrm>
              <a:off x="1606947" y="3243688"/>
              <a:ext cx="1634163" cy="396000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分类编址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矩形: 圆角 10"/>
            <p:cNvSpPr/>
            <p:nvPr/>
          </p:nvSpPr>
          <p:spPr>
            <a:xfrm>
              <a:off x="5030917" y="3243688"/>
              <a:ext cx="1726743" cy="396000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划分子网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矩形: 圆角 11"/>
            <p:cNvSpPr/>
            <p:nvPr/>
          </p:nvSpPr>
          <p:spPr>
            <a:xfrm>
              <a:off x="8310107" y="3243688"/>
              <a:ext cx="1937436" cy="396000"/>
            </a:xfrm>
            <a:prstGeom prst="roundRect">
              <a:avLst>
                <a:gd name="adj" fmla="val 50000"/>
              </a:avLst>
            </a:prstGeom>
            <a:solidFill>
              <a:srgbClr val="EBAC0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无分类编址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文本框 38"/>
            <p:cNvSpPr txBox="1"/>
            <p:nvPr/>
          </p:nvSpPr>
          <p:spPr>
            <a:xfrm>
              <a:off x="5239564" y="2818796"/>
              <a:ext cx="13290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b="1" dirty="0">
                  <a:latin typeface="+mn-ea"/>
                </a:rPr>
                <a:t>1985</a:t>
              </a:r>
              <a:r>
                <a:rPr lang="zh-CN" altLang="en-US" sz="2000" b="1" dirty="0">
                  <a:latin typeface="+mn-ea"/>
                </a:rPr>
                <a:t>年</a:t>
              </a:r>
              <a:endParaRPr lang="zh-CN" altLang="en-US" sz="2000" b="1" dirty="0">
                <a:latin typeface="+mn-ea"/>
              </a:endParaRPr>
            </a:p>
          </p:txBody>
        </p:sp>
        <p:sp>
          <p:nvSpPr>
            <p:cNvPr id="97" name="文本框 38"/>
            <p:cNvSpPr txBox="1"/>
            <p:nvPr/>
          </p:nvSpPr>
          <p:spPr>
            <a:xfrm>
              <a:off x="8722254" y="2818796"/>
              <a:ext cx="13112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b="1" dirty="0">
                  <a:latin typeface="+mn-ea"/>
                </a:rPr>
                <a:t>1993</a:t>
              </a:r>
              <a:r>
                <a:rPr lang="zh-CN" altLang="en-US" sz="2000" b="1" dirty="0">
                  <a:latin typeface="+mn-ea"/>
                </a:rPr>
                <a:t>年</a:t>
              </a:r>
              <a:endParaRPr lang="zh-CN" altLang="en-US" sz="2000" b="1" dirty="0">
                <a:latin typeface="+mn-ea"/>
              </a:endParaRPr>
            </a:p>
          </p:txBody>
        </p:sp>
      </p:grpSp>
      <p:sp>
        <p:nvSpPr>
          <p:cNvPr id="99" name="íşlïḍè"/>
          <p:cNvSpPr txBox="1"/>
          <p:nvPr/>
        </p:nvSpPr>
        <p:spPr>
          <a:xfrm>
            <a:off x="215515" y="1491630"/>
            <a:ext cx="8515367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dirty="0" smtClean="0">
                <a:solidFill>
                  <a:srgbClr val="000000"/>
                </a:solidFill>
                <a:latin typeface="Arial Narrow" panose="020B0606020202030204"/>
                <a:ea typeface="微软雅黑" panose="020B0503020204020204" pitchFamily="34" charset="-122"/>
              </a:rPr>
              <a:t>案例：某</a:t>
            </a:r>
            <a:r>
              <a:rPr lang="zh-CN" altLang="en-US" dirty="0">
                <a:solidFill>
                  <a:srgbClr val="000000"/>
                </a:solidFill>
                <a:latin typeface="Arial Narrow" panose="020B0606020202030204"/>
                <a:ea typeface="微软雅黑" panose="020B0503020204020204" pitchFamily="34" charset="-122"/>
              </a:rPr>
              <a:t>单位有一个大型的</a:t>
            </a:r>
            <a:r>
              <a:rPr lang="zh-CN" altLang="en-US" dirty="0" smtClean="0">
                <a:solidFill>
                  <a:srgbClr val="000000"/>
                </a:solidFill>
                <a:latin typeface="Arial Narrow" panose="020B0606020202030204"/>
                <a:ea typeface="微软雅黑" panose="020B0503020204020204" pitchFamily="34" charset="-122"/>
              </a:rPr>
              <a:t>局域网，</a:t>
            </a:r>
            <a:r>
              <a:rPr lang="zh-CN" altLang="en-US" dirty="0">
                <a:solidFill>
                  <a:srgbClr val="000000"/>
                </a:solidFill>
                <a:latin typeface="Arial Narrow" panose="020B0606020202030204"/>
                <a:ea typeface="微软雅黑" panose="020B0503020204020204" pitchFamily="34" charset="-122"/>
              </a:rPr>
              <a:t>信息点大约</a:t>
            </a:r>
            <a:r>
              <a:rPr lang="en-US" altLang="zh-CN" dirty="0">
                <a:solidFill>
                  <a:srgbClr val="000000"/>
                </a:solidFill>
                <a:latin typeface="Arial Narrow" panose="020B0606020202030204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Arial Narrow" panose="020B0606020202030204"/>
                <a:ea typeface="微软雅黑" panose="020B0503020204020204" pitchFamily="34" charset="-122"/>
              </a:rPr>
              <a:t>万左右</a:t>
            </a:r>
            <a:r>
              <a:rPr lang="zh-CN" altLang="en-US" dirty="0" smtClean="0">
                <a:solidFill>
                  <a:srgbClr val="000000"/>
                </a:solidFill>
                <a:latin typeface="Arial Narrow" panose="020B0606020202030204"/>
                <a:ea typeface="微软雅黑" panose="020B0503020204020204" pitchFamily="34" charset="-122"/>
              </a:rPr>
              <a:t>。应该申请哪一类</a:t>
            </a:r>
            <a:r>
              <a:rPr lang="en-US" altLang="zh-CN" dirty="0" smtClean="0">
                <a:solidFill>
                  <a:srgbClr val="000000"/>
                </a:solidFill>
                <a:latin typeface="Arial Narrow" panose="020B0606020202030204"/>
                <a:ea typeface="微软雅黑" panose="020B0503020204020204" pitchFamily="34" charset="-122"/>
              </a:rPr>
              <a:t>IP</a:t>
            </a:r>
            <a:r>
              <a:rPr lang="zh-CN" altLang="en-US" dirty="0" smtClean="0">
                <a:solidFill>
                  <a:srgbClr val="000000"/>
                </a:solidFill>
                <a:latin typeface="Arial Narrow" panose="020B0606020202030204"/>
                <a:ea typeface="微软雅黑" panose="020B0503020204020204" pitchFamily="34" charset="-122"/>
              </a:rPr>
              <a:t>地址？</a:t>
            </a:r>
            <a:endParaRPr lang="en-US" altLang="zh-CN" dirty="0">
              <a:solidFill>
                <a:srgbClr val="000000"/>
              </a:solidFill>
              <a:latin typeface="Arial Narrow" panose="020B0606020202030204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1751" y="2342008"/>
            <a:ext cx="343841" cy="361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1751" y="3040372"/>
            <a:ext cx="330436" cy="361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8784" y="3752648"/>
            <a:ext cx="328760" cy="361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5795" y="2050232"/>
            <a:ext cx="4362714" cy="637006"/>
            <a:chOff x="525795" y="2050232"/>
            <a:chExt cx="4362714" cy="637006"/>
          </a:xfrm>
        </p:grpSpPr>
        <p:sp>
          <p:nvSpPr>
            <p:cNvPr id="21" name="矩形 20"/>
            <p:cNvSpPr/>
            <p:nvPr/>
          </p:nvSpPr>
          <p:spPr>
            <a:xfrm>
              <a:off x="1629009" y="2333435"/>
              <a:ext cx="3259500" cy="314399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/>
              <a:endParaRPr lang="zh-CN" altLang="en-US" sz="1500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25795" y="2333435"/>
              <a:ext cx="1103215" cy="314399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/>
              <a:endParaRPr lang="zh-CN" altLang="en-US" sz="1500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26379" y="2323682"/>
              <a:ext cx="796262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网络号</a:t>
              </a:r>
              <a:endPara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26672" y="2050232"/>
              <a:ext cx="511404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kumimoji="0" lang="zh-CN" altLang="en-US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033102" y="2056317"/>
              <a:ext cx="628699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24</a:t>
              </a:r>
              <a:r>
                <a:rPr kumimoji="0" lang="zh-CN" altLang="en-US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894891" y="2325251"/>
              <a:ext cx="796262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主机号</a:t>
              </a:r>
              <a:endPara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25795" y="2715396"/>
            <a:ext cx="4362714" cy="654060"/>
            <a:chOff x="525795" y="2715396"/>
            <a:chExt cx="4362714" cy="654060"/>
          </a:xfrm>
        </p:grpSpPr>
        <p:sp>
          <p:nvSpPr>
            <p:cNvPr id="19" name="矩形 18"/>
            <p:cNvSpPr/>
            <p:nvPr/>
          </p:nvSpPr>
          <p:spPr>
            <a:xfrm>
              <a:off x="2501576" y="3013409"/>
              <a:ext cx="2386933" cy="314399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/>
              <a:endParaRPr lang="zh-CN" altLang="en-US" sz="1500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525795" y="3012332"/>
              <a:ext cx="1975781" cy="314399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/>
              <a:endParaRPr lang="zh-CN" altLang="en-US" sz="1500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157976" y="3007469"/>
              <a:ext cx="796262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网络号</a:t>
              </a:r>
              <a:endPara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227841" y="2715396"/>
              <a:ext cx="628699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r>
                <a:rPr kumimoji="0" lang="zh-CN" altLang="en-US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33980" y="2718051"/>
              <a:ext cx="628699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r>
                <a:rPr kumimoji="0" lang="zh-CN" altLang="en-US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326833" y="3000046"/>
              <a:ext cx="796262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主机号</a:t>
              </a:r>
              <a:endPara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58527" y="3407413"/>
            <a:ext cx="4362715" cy="645000"/>
            <a:chOff x="525794" y="3407413"/>
            <a:chExt cx="4362715" cy="645000"/>
          </a:xfrm>
        </p:grpSpPr>
        <p:sp>
          <p:nvSpPr>
            <p:cNvPr id="17" name="矩形 16"/>
            <p:cNvSpPr/>
            <p:nvPr/>
          </p:nvSpPr>
          <p:spPr>
            <a:xfrm>
              <a:off x="3789923" y="3714117"/>
              <a:ext cx="1098586" cy="314399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/>
              <a:endParaRPr lang="zh-CN" altLang="en-US" sz="1500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525794" y="3712898"/>
              <a:ext cx="3264129" cy="314399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/>
              <a:endParaRPr lang="zh-CN" altLang="en-US" sz="1500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840351" y="3688263"/>
              <a:ext cx="796262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网络号</a:t>
              </a:r>
              <a:endPara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829594" y="3407413"/>
              <a:ext cx="628699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24</a:t>
              </a:r>
              <a:r>
                <a:rPr kumimoji="0" lang="zh-CN" altLang="en-US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036025" y="3436677"/>
              <a:ext cx="511404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kumimoji="0" lang="zh-CN" altLang="en-US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935732" y="3690426"/>
              <a:ext cx="796262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主机号</a:t>
              </a:r>
              <a:endPara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5059460" y="3725180"/>
            <a:ext cx="52129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/>
            <a:r>
              <a:rPr lang="en-US" altLang="zh-CN" sz="1500" kern="0" dirty="0" smtClean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254</a:t>
            </a:r>
            <a:endParaRPr lang="en-US" altLang="zh-CN" sz="1500" kern="0" dirty="0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988530" y="3055977"/>
            <a:ext cx="9309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/>
            <a:r>
              <a:rPr lang="en-US" altLang="zh-CN" sz="1500" kern="0" dirty="0" smtClean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65535</a:t>
            </a:r>
            <a:endParaRPr lang="en-US" altLang="zh-CN" sz="1500" kern="0" dirty="0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914254" y="2355726"/>
            <a:ext cx="11389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500" kern="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16777214</a:t>
            </a:r>
            <a:endParaRPr lang="en-US" altLang="zh-CN" sz="1500" kern="0" dirty="0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76609" y="2895740"/>
            <a:ext cx="6545529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该单位使用这样一个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B</a:t>
            </a:r>
            <a:r>
              <a:rPr lang="zh-CN" altLang="en-US" sz="14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类</a:t>
            </a:r>
            <a:r>
              <a:rPr lang="en-US" altLang="zh-CN" sz="14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4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的时候会</a:t>
            </a:r>
            <a:r>
              <a:rPr lang="zh-CN" altLang="en-US" sz="14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出现什么情况呢</a:t>
            </a:r>
            <a:endParaRPr lang="zh-CN" altLang="en-US" sz="14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" name="上箭头 3"/>
          <p:cNvSpPr/>
          <p:nvPr/>
        </p:nvSpPr>
        <p:spPr>
          <a:xfrm flipH="1">
            <a:off x="1477623" y="1406559"/>
            <a:ext cx="72000" cy="414000"/>
          </a:xfrm>
          <a:prstGeom prst="upArrow">
            <a:avLst/>
          </a:prstGeom>
          <a:solidFill>
            <a:srgbClr val="FFC0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10471" y="2530929"/>
            <a:ext cx="4540602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假设该单位申请</a:t>
            </a:r>
            <a:r>
              <a:rPr lang="zh-CN" altLang="en-US" sz="14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到</a:t>
            </a:r>
            <a:r>
              <a:rPr lang="en-US" altLang="zh-CN" sz="14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B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类地址：</a:t>
            </a:r>
            <a:r>
              <a:rPr lang="en-US" altLang="zh-CN" sz="1400" dirty="0" smtClean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168.16.0.0</a:t>
            </a:r>
            <a:endParaRPr lang="zh-CN" altLang="en-US" sz="1400" dirty="0">
              <a:solidFill>
                <a:srgbClr val="FF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75" name="直接连接符 74"/>
          <p:cNvCxnSpPr/>
          <p:nvPr/>
        </p:nvCxnSpPr>
        <p:spPr>
          <a:xfrm flipV="1">
            <a:off x="323528" y="3290955"/>
            <a:ext cx="8280000" cy="26639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8" name="Group 6"/>
          <p:cNvGrpSpPr/>
          <p:nvPr/>
        </p:nvGrpSpPr>
        <p:grpSpPr>
          <a:xfrm>
            <a:off x="395536" y="4300067"/>
            <a:ext cx="2160000" cy="315176"/>
            <a:chOff x="0" y="3554568"/>
            <a:chExt cx="3979572" cy="572276"/>
          </a:xfrm>
          <a:solidFill>
            <a:schemeClr val="accent1"/>
          </a:solidFill>
        </p:grpSpPr>
        <p:sp>
          <p:nvSpPr>
            <p:cNvPr id="199" name="Rectangle 7"/>
            <p:cNvSpPr/>
            <p:nvPr/>
          </p:nvSpPr>
          <p:spPr>
            <a:xfrm>
              <a:off x="0" y="4001971"/>
              <a:ext cx="3979572" cy="10821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0" name="Rectangle 8"/>
            <p:cNvSpPr/>
            <p:nvPr/>
          </p:nvSpPr>
          <p:spPr>
            <a:xfrm>
              <a:off x="629499" y="3554568"/>
              <a:ext cx="2538703" cy="4507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1" name="TextBox 9"/>
            <p:cNvSpPr txBox="1"/>
            <p:nvPr/>
          </p:nvSpPr>
          <p:spPr>
            <a:xfrm>
              <a:off x="615928" y="3557267"/>
              <a:ext cx="2568530" cy="569577"/>
            </a:xfrm>
            <a:prstGeom prst="rect">
              <a:avLst/>
            </a:prstGeom>
            <a:grpFill/>
          </p:spPr>
          <p:txBody>
            <a:bodyPr wrap="square" tIns="3600" bIns="3600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  <a:latin typeface="+mj-lt"/>
                </a:rPr>
                <a:t>01</a:t>
              </a:r>
              <a:endParaRPr lang="en-US" sz="20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202" name="TextBox 20"/>
          <p:cNvSpPr txBox="1"/>
          <p:nvPr/>
        </p:nvSpPr>
        <p:spPr>
          <a:xfrm>
            <a:off x="4572000" y="4579779"/>
            <a:ext cx="225811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65">
              <a:lnSpc>
                <a:spcPct val="130000"/>
              </a:lnSpc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不方便管理，不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3" name="TextBox 24"/>
          <p:cNvSpPr txBox="1"/>
          <p:nvPr/>
        </p:nvSpPr>
        <p:spPr>
          <a:xfrm>
            <a:off x="673434" y="4579779"/>
            <a:ext cx="1651286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65">
              <a:lnSpc>
                <a:spcPct val="130000"/>
              </a:lnSpc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无法正常工作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4" name="Group 30"/>
          <p:cNvGrpSpPr/>
          <p:nvPr/>
        </p:nvGrpSpPr>
        <p:grpSpPr>
          <a:xfrm>
            <a:off x="2483768" y="4299942"/>
            <a:ext cx="2160000" cy="320873"/>
            <a:chOff x="3979572" y="3554566"/>
            <a:chExt cx="4232852" cy="580712"/>
          </a:xfrm>
          <a:solidFill>
            <a:schemeClr val="accent2"/>
          </a:solidFill>
        </p:grpSpPr>
        <p:sp>
          <p:nvSpPr>
            <p:cNvPr id="205" name="Rectangle 31"/>
            <p:cNvSpPr/>
            <p:nvPr/>
          </p:nvSpPr>
          <p:spPr>
            <a:xfrm>
              <a:off x="4826648" y="3554566"/>
              <a:ext cx="2538703" cy="4507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" name="Rectangle 33"/>
            <p:cNvSpPr/>
            <p:nvPr/>
          </p:nvSpPr>
          <p:spPr>
            <a:xfrm>
              <a:off x="3979572" y="4001973"/>
              <a:ext cx="4232852" cy="10638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7" name="TextBox 32"/>
            <p:cNvSpPr txBox="1"/>
            <p:nvPr/>
          </p:nvSpPr>
          <p:spPr>
            <a:xfrm>
              <a:off x="4914010" y="3573312"/>
              <a:ext cx="2368147" cy="561966"/>
            </a:xfrm>
            <a:prstGeom prst="rect">
              <a:avLst/>
            </a:prstGeom>
            <a:grpFill/>
          </p:spPr>
          <p:txBody>
            <a:bodyPr wrap="square" tIns="0" bIns="3600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  <a:latin typeface="+mj-lt"/>
                </a:rPr>
                <a:t>02</a:t>
              </a:r>
              <a:endParaRPr lang="en-US" sz="2000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208" name="组合 207"/>
          <p:cNvGrpSpPr/>
          <p:nvPr/>
        </p:nvGrpSpPr>
        <p:grpSpPr>
          <a:xfrm>
            <a:off x="971600" y="3399942"/>
            <a:ext cx="900000" cy="864000"/>
            <a:chOff x="1962488" y="2625950"/>
            <a:chExt cx="973589" cy="917700"/>
          </a:xfrm>
        </p:grpSpPr>
        <p:grpSp>
          <p:nvGrpSpPr>
            <p:cNvPr id="209" name="Group 38"/>
            <p:cNvGrpSpPr/>
            <p:nvPr/>
          </p:nvGrpSpPr>
          <p:grpSpPr>
            <a:xfrm>
              <a:off x="1962488" y="2625950"/>
              <a:ext cx="973589" cy="917700"/>
              <a:chOff x="3435697" y="1762781"/>
              <a:chExt cx="2790385" cy="2841564"/>
            </a:xfrm>
          </p:grpSpPr>
          <p:grpSp>
            <p:nvGrpSpPr>
              <p:cNvPr id="211" name="组合 79"/>
              <p:cNvGrpSpPr/>
              <p:nvPr/>
            </p:nvGrpSpPr>
            <p:grpSpPr>
              <a:xfrm>
                <a:off x="3435697" y="1762781"/>
                <a:ext cx="2790385" cy="2841564"/>
                <a:chOff x="6148381" y="2506882"/>
                <a:chExt cx="2513020" cy="2553947"/>
              </a:xfrm>
            </p:grpSpPr>
            <p:sp>
              <p:nvSpPr>
                <p:cNvPr id="213" name="任意多边形 82"/>
                <p:cNvSpPr/>
                <p:nvPr/>
              </p:nvSpPr>
              <p:spPr>
                <a:xfrm rot="3738964">
                  <a:off x="6148382" y="2547810"/>
                  <a:ext cx="2513018" cy="2513020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srgbClr val="FFFFFF"/>
                    </a:solidFill>
                    <a:latin typeface="Arial" panose="020B060402020202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4" name="任意多边形 83"/>
                <p:cNvSpPr/>
                <p:nvPr/>
              </p:nvSpPr>
              <p:spPr>
                <a:xfrm rot="16377237">
                  <a:off x="6167323" y="2506885"/>
                  <a:ext cx="2476801" cy="2476795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212" name="椭圆 80"/>
              <p:cNvSpPr/>
              <p:nvPr/>
            </p:nvSpPr>
            <p:spPr bwMode="auto">
              <a:xfrm>
                <a:off x="3869423" y="2246190"/>
                <a:ext cx="2016473" cy="2020561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210" name="Picture 5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0629" y="2943835"/>
              <a:ext cx="379137" cy="350937"/>
            </a:xfrm>
            <a:prstGeom prst="rect">
              <a:avLst/>
            </a:prstGeom>
          </p:spPr>
        </p:pic>
      </p:grpSp>
      <p:grpSp>
        <p:nvGrpSpPr>
          <p:cNvPr id="215" name="组合 214"/>
          <p:cNvGrpSpPr/>
          <p:nvPr/>
        </p:nvGrpSpPr>
        <p:grpSpPr>
          <a:xfrm>
            <a:off x="3131840" y="3414758"/>
            <a:ext cx="900000" cy="864000"/>
            <a:chOff x="4346135" y="2618172"/>
            <a:chExt cx="973585" cy="902992"/>
          </a:xfrm>
        </p:grpSpPr>
        <p:grpSp>
          <p:nvGrpSpPr>
            <p:cNvPr id="216" name="Group 43"/>
            <p:cNvGrpSpPr/>
            <p:nvPr/>
          </p:nvGrpSpPr>
          <p:grpSpPr>
            <a:xfrm>
              <a:off x="4346135" y="2618172"/>
              <a:ext cx="973585" cy="902992"/>
              <a:chOff x="3692576" y="1742634"/>
              <a:chExt cx="2790379" cy="2796023"/>
            </a:xfrm>
          </p:grpSpPr>
          <p:grpSp>
            <p:nvGrpSpPr>
              <p:cNvPr id="218" name="组合 79"/>
              <p:cNvGrpSpPr/>
              <p:nvPr/>
            </p:nvGrpSpPr>
            <p:grpSpPr>
              <a:xfrm>
                <a:off x="3692576" y="1742634"/>
                <a:ext cx="2790379" cy="2796023"/>
                <a:chOff x="6379729" y="2488774"/>
                <a:chExt cx="2513016" cy="2513016"/>
              </a:xfrm>
            </p:grpSpPr>
            <p:sp>
              <p:nvSpPr>
                <p:cNvPr id="220" name="任意多边形 82"/>
                <p:cNvSpPr/>
                <p:nvPr/>
              </p:nvSpPr>
              <p:spPr>
                <a:xfrm rot="3738964">
                  <a:off x="6379729" y="2488774"/>
                  <a:ext cx="2513016" cy="2513016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srgbClr val="FFFFFF"/>
                    </a:solidFill>
                    <a:latin typeface="Arial" panose="020B060402020202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1" name="任意多边形 83"/>
                <p:cNvSpPr/>
                <p:nvPr/>
              </p:nvSpPr>
              <p:spPr>
                <a:xfrm rot="16377237">
                  <a:off x="6409518" y="2506881"/>
                  <a:ext cx="2476803" cy="2476800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219" name="椭圆 80"/>
              <p:cNvSpPr/>
              <p:nvPr/>
            </p:nvSpPr>
            <p:spPr bwMode="auto">
              <a:xfrm>
                <a:off x="4101618" y="2137562"/>
                <a:ext cx="2016471" cy="2020558"/>
              </a:xfrm>
              <a:prstGeom prst="ellipse">
                <a:avLst/>
              </a:prstGeom>
              <a:solidFill>
                <a:schemeClr val="accent2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217" name="Picture 5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1504" y="2849609"/>
              <a:ext cx="447035" cy="413784"/>
            </a:xfrm>
            <a:prstGeom prst="rect">
              <a:avLst/>
            </a:prstGeom>
          </p:spPr>
        </p:pic>
      </p:grpSp>
      <p:grpSp>
        <p:nvGrpSpPr>
          <p:cNvPr id="222" name="组合 221"/>
          <p:cNvGrpSpPr/>
          <p:nvPr/>
        </p:nvGrpSpPr>
        <p:grpSpPr>
          <a:xfrm>
            <a:off x="5292080" y="3403524"/>
            <a:ext cx="900000" cy="864000"/>
            <a:chOff x="6659881" y="2665636"/>
            <a:chExt cx="1006425" cy="902991"/>
          </a:xfrm>
        </p:grpSpPr>
        <p:grpSp>
          <p:nvGrpSpPr>
            <p:cNvPr id="223" name="Group 48"/>
            <p:cNvGrpSpPr/>
            <p:nvPr/>
          </p:nvGrpSpPr>
          <p:grpSpPr>
            <a:xfrm>
              <a:off x="6659881" y="2665636"/>
              <a:ext cx="1006425" cy="902991"/>
              <a:chOff x="3499174" y="1840715"/>
              <a:chExt cx="2884502" cy="2796023"/>
            </a:xfrm>
          </p:grpSpPr>
          <p:grpSp>
            <p:nvGrpSpPr>
              <p:cNvPr id="225" name="组合 79"/>
              <p:cNvGrpSpPr/>
              <p:nvPr/>
            </p:nvGrpSpPr>
            <p:grpSpPr>
              <a:xfrm>
                <a:off x="3499174" y="1840715"/>
                <a:ext cx="2884502" cy="2796023"/>
                <a:chOff x="6205545" y="2576927"/>
                <a:chExt cx="2597781" cy="2513016"/>
              </a:xfrm>
            </p:grpSpPr>
            <p:sp>
              <p:nvSpPr>
                <p:cNvPr id="227" name="任意多边形 82"/>
                <p:cNvSpPr/>
                <p:nvPr/>
              </p:nvSpPr>
              <p:spPr>
                <a:xfrm rot="3738964">
                  <a:off x="6205544" y="2576928"/>
                  <a:ext cx="2513016" cy="2513013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srgbClr val="FFFFFF"/>
                    </a:solidFill>
                    <a:latin typeface="Arial" panose="020B060402020202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8" name="任意多边形 83"/>
                <p:cNvSpPr/>
                <p:nvPr/>
              </p:nvSpPr>
              <p:spPr>
                <a:xfrm rot="16377237">
                  <a:off x="6326526" y="2595034"/>
                  <a:ext cx="2476805" cy="2476795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226" name="椭圆 80"/>
              <p:cNvSpPr/>
              <p:nvPr/>
            </p:nvSpPr>
            <p:spPr bwMode="auto">
              <a:xfrm>
                <a:off x="4009468" y="2235641"/>
                <a:ext cx="2016467" cy="2020561"/>
              </a:xfrm>
              <a:prstGeom prst="ellipse">
                <a:avLst/>
              </a:prstGeom>
              <a:solidFill>
                <a:schemeClr val="accent3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224" name="Picture 5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1884" y="2928779"/>
              <a:ext cx="395724" cy="366289"/>
            </a:xfrm>
            <a:prstGeom prst="rect">
              <a:avLst/>
            </a:prstGeom>
          </p:spPr>
        </p:pic>
      </p:grpSp>
      <p:sp>
        <p:nvSpPr>
          <p:cNvPr id="229" name="TextBox 24"/>
          <p:cNvSpPr txBox="1"/>
          <p:nvPr/>
        </p:nvSpPr>
        <p:spPr>
          <a:xfrm>
            <a:off x="2915816" y="4597316"/>
            <a:ext cx="1636052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65">
              <a:lnSpc>
                <a:spcPct val="130000"/>
              </a:lnSpc>
              <a:defRPr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地址浪费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0" name="Group 6"/>
          <p:cNvGrpSpPr/>
          <p:nvPr/>
        </p:nvGrpSpPr>
        <p:grpSpPr>
          <a:xfrm>
            <a:off x="4644008" y="4306326"/>
            <a:ext cx="2283517" cy="315174"/>
            <a:chOff x="0" y="3554568"/>
            <a:chExt cx="3979572" cy="572271"/>
          </a:xfrm>
          <a:solidFill>
            <a:schemeClr val="accent1"/>
          </a:solidFill>
        </p:grpSpPr>
        <p:sp>
          <p:nvSpPr>
            <p:cNvPr id="231" name="Rectangle 7"/>
            <p:cNvSpPr/>
            <p:nvPr/>
          </p:nvSpPr>
          <p:spPr>
            <a:xfrm>
              <a:off x="0" y="4001971"/>
              <a:ext cx="3979572" cy="1111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2" name="Rectangle 8"/>
            <p:cNvSpPr/>
            <p:nvPr/>
          </p:nvSpPr>
          <p:spPr>
            <a:xfrm>
              <a:off x="629499" y="3554568"/>
              <a:ext cx="2538703" cy="4507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3" name="TextBox 9"/>
            <p:cNvSpPr txBox="1"/>
            <p:nvPr/>
          </p:nvSpPr>
          <p:spPr>
            <a:xfrm>
              <a:off x="637161" y="3557262"/>
              <a:ext cx="2568529" cy="569577"/>
            </a:xfrm>
            <a:prstGeom prst="rect">
              <a:avLst/>
            </a:prstGeom>
            <a:grpFill/>
          </p:spPr>
          <p:txBody>
            <a:bodyPr wrap="square" tIns="3600" bIns="3600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  <a:latin typeface="+mj-lt"/>
                </a:rPr>
                <a:t>03</a:t>
              </a:r>
              <a:endParaRPr lang="en-US" sz="2000" dirty="0">
                <a:solidFill>
                  <a:schemeClr val="bg1"/>
                </a:solidFill>
                <a:latin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8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5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0.01358 L -0.0007 -0.1752 " pathEditMode="relative" rAng="0" ptsTypes="AA">
                                      <p:cBhvr>
                                        <p:cTn id="1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9439"/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3 0.01665 L 0.0007 -0.18199 " pathEditMode="relative" rAng="0" ptsTypes="AA">
                                      <p:cBhvr>
                                        <p:cTn id="1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" y="-9932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33868E-6 L -0.00191 -0.19556 " pathEditMode="relative" rAng="0" ptsTypes="AA">
                                      <p:cBhvr>
                                        <p:cTn id="12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9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3" grpId="1" animBg="1"/>
      <p:bldP spid="5" grpId="0"/>
      <p:bldP spid="99" grpId="0"/>
      <p:bldP spid="15" grpId="0"/>
      <p:bldP spid="15" grpId="1"/>
      <p:bldP spid="16" grpId="0"/>
      <p:bldP spid="16" grpId="1"/>
      <p:bldP spid="16" grpId="2"/>
      <p:bldP spid="23" grpId="0"/>
      <p:bldP spid="23" grpId="1"/>
      <p:bldP spid="23" grpId="2"/>
      <p:bldP spid="58" grpId="0"/>
      <p:bldP spid="58" grpId="1"/>
      <p:bldP spid="58" grpId="2"/>
      <p:bldP spid="59" grpId="0"/>
      <p:bldP spid="59" grpId="1"/>
      <p:bldP spid="59" grpId="2"/>
      <p:bldP spid="60" grpId="0"/>
      <p:bldP spid="60" grpId="1"/>
      <p:bldP spid="62" grpId="0"/>
      <p:bldP spid="4" grpId="0" animBg="1"/>
      <p:bldP spid="4" grpId="1" animBg="1"/>
      <p:bldP spid="69" grpId="0"/>
      <p:bldP spid="202" grpId="0"/>
      <p:bldP spid="203" grpId="0"/>
      <p:bldP spid="2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右箭头 211"/>
          <p:cNvSpPr/>
          <p:nvPr/>
        </p:nvSpPr>
        <p:spPr>
          <a:xfrm>
            <a:off x="4107173" y="3112213"/>
            <a:ext cx="360000" cy="236147"/>
          </a:xfrm>
          <a:prstGeom prst="rightArrow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3" name="直接连接符 212"/>
          <p:cNvCxnSpPr/>
          <p:nvPr/>
        </p:nvCxnSpPr>
        <p:spPr>
          <a:xfrm flipV="1">
            <a:off x="251520" y="1570331"/>
            <a:ext cx="8640000" cy="25324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/>
        </p:nvGrpSpPr>
        <p:grpSpPr>
          <a:xfrm>
            <a:off x="4452516" y="1778592"/>
            <a:ext cx="4367956" cy="3025406"/>
            <a:chOff x="4452516" y="1778592"/>
            <a:chExt cx="4367956" cy="3025406"/>
          </a:xfrm>
        </p:grpSpPr>
        <p:pic>
          <p:nvPicPr>
            <p:cNvPr id="127" name="Picture 53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52516" y="2946690"/>
              <a:ext cx="936000" cy="6311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7" name="直接连接符 136"/>
            <p:cNvCxnSpPr/>
            <p:nvPr/>
          </p:nvCxnSpPr>
          <p:spPr>
            <a:xfrm>
              <a:off x="5783974" y="3215306"/>
              <a:ext cx="850674" cy="143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flipV="1">
              <a:off x="5783974" y="2931129"/>
              <a:ext cx="494265" cy="28417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>
              <a:off x="5783974" y="3215306"/>
              <a:ext cx="500161" cy="3244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文本框 2"/>
            <p:cNvSpPr txBox="1">
              <a:spLocks noChangeArrowheads="1"/>
            </p:cNvSpPr>
            <p:nvPr/>
          </p:nvSpPr>
          <p:spPr bwMode="auto">
            <a:xfrm>
              <a:off x="7613018" y="2636456"/>
              <a:ext cx="1175949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</a:t>
              </a:r>
              <a:r>
                <a:rPr lang="en-US" altLang="zh-CN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.32.145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124" name="文本框 2"/>
            <p:cNvSpPr txBox="1">
              <a:spLocks noChangeArrowheads="1"/>
            </p:cNvSpPr>
            <p:nvPr/>
          </p:nvSpPr>
          <p:spPr bwMode="auto">
            <a:xfrm>
              <a:off x="7599466" y="3839447"/>
              <a:ext cx="1175949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</a:t>
              </a:r>
              <a:r>
                <a:rPr lang="en-US" altLang="zh-CN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.32.156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cxnSp>
          <p:nvCxnSpPr>
            <p:cNvPr id="126" name="直接连接符 125"/>
            <p:cNvCxnSpPr/>
            <p:nvPr/>
          </p:nvCxnSpPr>
          <p:spPr>
            <a:xfrm>
              <a:off x="5002374" y="3197708"/>
              <a:ext cx="400903" cy="38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文本框 2"/>
            <p:cNvSpPr txBox="1">
              <a:spLocks noChangeArrowheads="1"/>
            </p:cNvSpPr>
            <p:nvPr/>
          </p:nvSpPr>
          <p:spPr bwMode="auto">
            <a:xfrm>
              <a:off x="4508285" y="3095443"/>
              <a:ext cx="89499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Internet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grpSp>
          <p:nvGrpSpPr>
            <p:cNvPr id="129" name="组合 17"/>
            <p:cNvGrpSpPr/>
            <p:nvPr/>
          </p:nvGrpSpPr>
          <p:grpSpPr bwMode="auto">
            <a:xfrm>
              <a:off x="5423934" y="3100966"/>
              <a:ext cx="540000" cy="217365"/>
              <a:chOff x="0" y="0"/>
              <a:chExt cx="21658" cy="3477"/>
            </a:xfrm>
          </p:grpSpPr>
          <p:sp>
            <p:nvSpPr>
              <p:cNvPr id="207" name="矩形 206"/>
              <p:cNvSpPr>
                <a:spLocks noChangeArrowheads="1"/>
              </p:cNvSpPr>
              <p:nvPr/>
            </p:nvSpPr>
            <p:spPr bwMode="auto">
              <a:xfrm>
                <a:off x="0" y="664"/>
                <a:ext cx="21658" cy="2330"/>
              </a:xfrm>
              <a:prstGeom prst="rect">
                <a:avLst/>
              </a:prstGeom>
              <a:solidFill>
                <a:srgbClr val="DAEEF3"/>
              </a:solidFill>
              <a:ln w="9525">
                <a:solidFill>
                  <a:srgbClr val="0070C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endParaRPr lang="zh-CN" altLang="en-US"/>
              </a:p>
            </p:txBody>
          </p:sp>
          <p:sp>
            <p:nvSpPr>
              <p:cNvPr id="208" name="梯形 10"/>
              <p:cNvSpPr/>
              <p:nvPr/>
            </p:nvSpPr>
            <p:spPr bwMode="auto">
              <a:xfrm>
                <a:off x="0" y="0"/>
                <a:ext cx="21617" cy="627"/>
              </a:xfrm>
              <a:custGeom>
                <a:avLst/>
                <a:gdLst>
                  <a:gd name="T0" fmla="*/ 0 w 2161783"/>
                  <a:gd name="T1" fmla="*/ 627 h 62753"/>
                  <a:gd name="T2" fmla="*/ 157 w 2161783"/>
                  <a:gd name="T3" fmla="*/ 0 h 62753"/>
                  <a:gd name="T4" fmla="*/ 21460 w 2161783"/>
                  <a:gd name="T5" fmla="*/ 0 h 62753"/>
                  <a:gd name="T6" fmla="*/ 21617 w 2161783"/>
                  <a:gd name="T7" fmla="*/ 627 h 62753"/>
                  <a:gd name="T8" fmla="*/ 0 w 2161783"/>
                  <a:gd name="T9" fmla="*/ 627 h 6275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1783" h="62753">
                    <a:moveTo>
                      <a:pt x="0" y="62753"/>
                    </a:moveTo>
                    <a:lnTo>
                      <a:pt x="15688" y="0"/>
                    </a:lnTo>
                    <a:lnTo>
                      <a:pt x="2146095" y="0"/>
                    </a:lnTo>
                    <a:lnTo>
                      <a:pt x="2161783" y="62753"/>
                    </a:lnTo>
                    <a:lnTo>
                      <a:pt x="0" y="62753"/>
                    </a:lnTo>
                    <a:close/>
                  </a:path>
                </a:pathLst>
              </a:custGeom>
              <a:noFill/>
              <a:ln w="9525">
                <a:solidFill>
                  <a:srgbClr val="0070C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endParaRPr lang="zh-CN" altLang="en-US"/>
              </a:p>
            </p:txBody>
          </p:sp>
          <p:sp>
            <p:nvSpPr>
              <p:cNvPr id="209" name="矩形 14"/>
              <p:cNvSpPr>
                <a:spLocks noChangeArrowheads="1"/>
              </p:cNvSpPr>
              <p:nvPr/>
            </p:nvSpPr>
            <p:spPr bwMode="auto">
              <a:xfrm>
                <a:off x="20188" y="3013"/>
                <a:ext cx="1422" cy="464"/>
              </a:xfrm>
              <a:prstGeom prst="rect">
                <a:avLst/>
              </a:prstGeom>
              <a:solidFill>
                <a:srgbClr val="000000"/>
              </a:solidFill>
              <a:ln w="25400">
                <a:solidFill>
                  <a:srgbClr val="0070C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endParaRPr lang="zh-CN" altLang="en-US"/>
              </a:p>
            </p:txBody>
          </p:sp>
          <p:sp>
            <p:nvSpPr>
              <p:cNvPr id="210" name="矩形 15"/>
              <p:cNvSpPr>
                <a:spLocks noChangeArrowheads="1"/>
              </p:cNvSpPr>
              <p:nvPr/>
            </p:nvSpPr>
            <p:spPr bwMode="auto">
              <a:xfrm>
                <a:off x="102" y="3013"/>
                <a:ext cx="1422" cy="464"/>
              </a:xfrm>
              <a:prstGeom prst="rect">
                <a:avLst/>
              </a:prstGeom>
              <a:solidFill>
                <a:srgbClr val="000000"/>
              </a:solidFill>
              <a:ln w="25400">
                <a:solidFill>
                  <a:srgbClr val="0070C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endParaRPr lang="zh-CN" altLang="en-US"/>
              </a:p>
            </p:txBody>
          </p:sp>
          <p:sp>
            <p:nvSpPr>
              <p:cNvPr id="211" name="矩形 16"/>
              <p:cNvSpPr>
                <a:spLocks noChangeArrowheads="1"/>
              </p:cNvSpPr>
              <p:nvPr/>
            </p:nvSpPr>
            <p:spPr bwMode="auto">
              <a:xfrm>
                <a:off x="19207" y="1277"/>
                <a:ext cx="1407" cy="541"/>
              </a:xfrm>
              <a:prstGeom prst="rect">
                <a:avLst/>
              </a:prstGeom>
              <a:noFill/>
              <a:ln w="9525">
                <a:solidFill>
                  <a:srgbClr val="0070C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30" name="TextBox 129"/>
            <p:cNvSpPr txBox="1"/>
            <p:nvPr/>
          </p:nvSpPr>
          <p:spPr>
            <a:xfrm>
              <a:off x="5338917" y="3350556"/>
              <a:ext cx="775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路由器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椭圆 130"/>
            <p:cNvSpPr/>
            <p:nvPr/>
          </p:nvSpPr>
          <p:spPr>
            <a:xfrm>
              <a:off x="6483397" y="2997007"/>
              <a:ext cx="1395307" cy="465322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138" name="直接连接符 137"/>
            <p:cNvCxnSpPr/>
            <p:nvPr/>
          </p:nvCxnSpPr>
          <p:spPr>
            <a:xfrm>
              <a:off x="6542230" y="2335836"/>
              <a:ext cx="219598" cy="2784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 flipH="1">
              <a:off x="6948759" y="2253607"/>
              <a:ext cx="306572" cy="30105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 flipH="1">
              <a:off x="7134602" y="2554666"/>
              <a:ext cx="533742" cy="4423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>
              <a:endCxn id="131" idx="7"/>
            </p:cNvCxnSpPr>
            <p:nvPr/>
          </p:nvCxnSpPr>
          <p:spPr>
            <a:xfrm flipH="1">
              <a:off x="7674366" y="2993805"/>
              <a:ext cx="338338" cy="713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/>
          </p:nvCxnSpPr>
          <p:spPr>
            <a:xfrm flipH="1" flipV="1">
              <a:off x="7582602" y="3407247"/>
              <a:ext cx="423624" cy="1502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>
              <a:stCxn id="225" idx="0"/>
              <a:endCxn id="131" idx="4"/>
            </p:cNvCxnSpPr>
            <p:nvPr/>
          </p:nvCxnSpPr>
          <p:spPr>
            <a:xfrm flipH="1" flipV="1">
              <a:off x="7181051" y="3462329"/>
              <a:ext cx="293828" cy="3962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文本框 2"/>
            <p:cNvSpPr txBox="1">
              <a:spLocks noChangeArrowheads="1"/>
            </p:cNvSpPr>
            <p:nvPr/>
          </p:nvSpPr>
          <p:spPr bwMode="auto">
            <a:xfrm>
              <a:off x="6555405" y="3119278"/>
              <a:ext cx="1298535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子</a:t>
              </a:r>
              <a:r>
                <a:rPr kumimoji="0" lang="zh-CN" altLang="en-US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网</a:t>
              </a: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168.16.32.0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145" name="文本框 2"/>
            <p:cNvSpPr txBox="1">
              <a:spLocks noChangeArrowheads="1"/>
            </p:cNvSpPr>
            <p:nvPr/>
          </p:nvSpPr>
          <p:spPr bwMode="auto">
            <a:xfrm>
              <a:off x="6260614" y="4230436"/>
              <a:ext cx="438807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…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146" name="文本框 2"/>
            <p:cNvSpPr txBox="1">
              <a:spLocks noChangeArrowheads="1"/>
            </p:cNvSpPr>
            <p:nvPr/>
          </p:nvSpPr>
          <p:spPr bwMode="auto">
            <a:xfrm rot="16200000">
              <a:off x="8050983" y="3164883"/>
              <a:ext cx="438807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…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147" name="文本框 2"/>
            <p:cNvSpPr txBox="1">
              <a:spLocks noChangeArrowheads="1"/>
            </p:cNvSpPr>
            <p:nvPr/>
          </p:nvSpPr>
          <p:spPr bwMode="auto">
            <a:xfrm>
              <a:off x="5451464" y="4542388"/>
              <a:ext cx="1175949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</a:t>
              </a:r>
              <a:r>
                <a:rPr lang="en-US" altLang="zh-CN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.20.123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148" name="文本框 2"/>
            <p:cNvSpPr txBox="1">
              <a:spLocks noChangeArrowheads="1"/>
            </p:cNvSpPr>
            <p:nvPr/>
          </p:nvSpPr>
          <p:spPr bwMode="auto">
            <a:xfrm>
              <a:off x="7113644" y="4275335"/>
              <a:ext cx="1175949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</a:t>
              </a:r>
              <a:r>
                <a:rPr lang="en-US" altLang="zh-CN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.32.220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150" name="椭圆 149"/>
            <p:cNvSpPr/>
            <p:nvPr/>
          </p:nvSpPr>
          <p:spPr>
            <a:xfrm>
              <a:off x="5739978" y="2538957"/>
              <a:ext cx="1527845" cy="379731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00"/>
                </a:solidFill>
              </a:endParaRPr>
            </a:p>
          </p:txBody>
        </p:sp>
        <p:sp>
          <p:nvSpPr>
            <p:cNvPr id="152" name="文本框 2"/>
            <p:cNvSpPr txBox="1">
              <a:spLocks noChangeArrowheads="1"/>
            </p:cNvSpPr>
            <p:nvPr/>
          </p:nvSpPr>
          <p:spPr bwMode="auto">
            <a:xfrm>
              <a:off x="5934434" y="2601565"/>
              <a:ext cx="1298535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子</a:t>
              </a:r>
              <a:r>
                <a:rPr kumimoji="0" lang="zh-CN" altLang="en-US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网</a:t>
              </a: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168.16.15.0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153" name="文本框 2"/>
            <p:cNvSpPr txBox="1">
              <a:spLocks noChangeArrowheads="1"/>
            </p:cNvSpPr>
            <p:nvPr/>
          </p:nvSpPr>
          <p:spPr bwMode="auto">
            <a:xfrm>
              <a:off x="6091902" y="1785289"/>
              <a:ext cx="97285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</a:t>
              </a:r>
              <a:r>
                <a:rPr lang="en-US" altLang="zh-CN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.15.3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154" name="文本框 2"/>
            <p:cNvSpPr txBox="1">
              <a:spLocks noChangeArrowheads="1"/>
            </p:cNvSpPr>
            <p:nvPr/>
          </p:nvSpPr>
          <p:spPr bwMode="auto">
            <a:xfrm>
              <a:off x="7017252" y="1778592"/>
              <a:ext cx="1175949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</a:t>
              </a:r>
              <a:r>
                <a:rPr lang="en-US" altLang="zh-CN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.15.136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155" name="文本框 2"/>
            <p:cNvSpPr txBox="1">
              <a:spLocks noChangeArrowheads="1"/>
            </p:cNvSpPr>
            <p:nvPr/>
          </p:nvSpPr>
          <p:spPr bwMode="auto">
            <a:xfrm>
              <a:off x="6737224" y="2069452"/>
              <a:ext cx="438807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…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>
              <a:off x="5752212" y="3537533"/>
              <a:ext cx="1527845" cy="379731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158" name="文本框 2"/>
            <p:cNvSpPr txBox="1">
              <a:spLocks noChangeArrowheads="1"/>
            </p:cNvSpPr>
            <p:nvPr/>
          </p:nvSpPr>
          <p:spPr bwMode="auto">
            <a:xfrm>
              <a:off x="5938435" y="3602323"/>
              <a:ext cx="1298535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子</a:t>
              </a:r>
              <a:r>
                <a:rPr kumimoji="0" lang="zh-CN" altLang="en-US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网</a:t>
              </a: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168.16.20.0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159" name="文本框 2"/>
            <p:cNvSpPr txBox="1">
              <a:spLocks noChangeArrowheads="1"/>
            </p:cNvSpPr>
            <p:nvPr/>
          </p:nvSpPr>
          <p:spPr bwMode="auto">
            <a:xfrm>
              <a:off x="7635525" y="1988384"/>
              <a:ext cx="1175949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</a:t>
              </a:r>
              <a:r>
                <a:rPr lang="en-US" altLang="zh-CN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.32.54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161" name="文本框 2"/>
            <p:cNvSpPr txBox="1">
              <a:spLocks noChangeArrowheads="1"/>
            </p:cNvSpPr>
            <p:nvPr/>
          </p:nvSpPr>
          <p:spPr bwMode="auto">
            <a:xfrm>
              <a:off x="6483397" y="4535086"/>
              <a:ext cx="1175949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</a:t>
              </a:r>
              <a:r>
                <a:rPr lang="en-US" altLang="zh-CN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.20.31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cxnSp>
          <p:nvCxnSpPr>
            <p:cNvPr id="162" name="直接连接符 161"/>
            <p:cNvCxnSpPr/>
            <p:nvPr/>
          </p:nvCxnSpPr>
          <p:spPr>
            <a:xfrm flipH="1">
              <a:off x="6142199" y="3932600"/>
              <a:ext cx="141937" cy="2747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>
              <a:off x="6771429" y="3889518"/>
              <a:ext cx="74029" cy="2862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矩形 165"/>
            <p:cNvSpPr/>
            <p:nvPr/>
          </p:nvSpPr>
          <p:spPr>
            <a:xfrm>
              <a:off x="5400472" y="1782801"/>
              <a:ext cx="3420000" cy="30211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65" name="Picture 2" descr="C:\Program Files (x86)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1309" y="4155857"/>
              <a:ext cx="597695" cy="410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9" name="Picture 2" descr="C:\Program Files (x86)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2199" y="2006045"/>
              <a:ext cx="597695" cy="410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0" name="Picture 2" descr="C:\Program Files (x86)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5405" y="4175727"/>
              <a:ext cx="597695" cy="410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1" name="Picture 2" descr="C:\Program Files (x86)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7830" y="2006045"/>
              <a:ext cx="597695" cy="410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2" name="Picture 2" descr="C:\Program Files (x86)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5474" y="2227158"/>
              <a:ext cx="597695" cy="410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3" name="Picture 2" descr="C:\Program Files (x86)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0622" y="2840673"/>
              <a:ext cx="597695" cy="410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4" name="Picture 2" descr="C:\Program Files (x86)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538" y="3453166"/>
              <a:ext cx="597695" cy="410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5" name="Picture 2" descr="C:\Program Files (x86)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76031" y="3858579"/>
              <a:ext cx="597695" cy="410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29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3478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927" y="132850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1" name="文本框 12"/>
          <p:cNvSpPr txBox="1">
            <a:spLocks noChangeArrowheads="1"/>
          </p:cNvSpPr>
          <p:nvPr/>
        </p:nvSpPr>
        <p:spPr bwMode="auto">
          <a:xfrm>
            <a:off x="1115616" y="221612"/>
            <a:ext cx="2448273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子网划分的背景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-6191" y="1768818"/>
            <a:ext cx="4116345" cy="3035180"/>
            <a:chOff x="-6191" y="1768818"/>
            <a:chExt cx="4116345" cy="3035180"/>
          </a:xfrm>
        </p:grpSpPr>
        <p:cxnSp>
          <p:nvCxnSpPr>
            <p:cNvPr id="44" name="直接连接符 43"/>
            <p:cNvCxnSpPr>
              <a:endCxn id="117" idx="1"/>
            </p:cNvCxnSpPr>
            <p:nvPr/>
          </p:nvCxnSpPr>
          <p:spPr>
            <a:xfrm>
              <a:off x="420517" y="3105573"/>
              <a:ext cx="584670" cy="17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Picture 53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6191" y="2858729"/>
              <a:ext cx="977791" cy="685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文本框 2"/>
            <p:cNvSpPr txBox="1">
              <a:spLocks noChangeArrowheads="1"/>
            </p:cNvSpPr>
            <p:nvPr/>
          </p:nvSpPr>
          <p:spPr bwMode="auto">
            <a:xfrm>
              <a:off x="128832" y="2996858"/>
              <a:ext cx="812446" cy="257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Internet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grpSp>
          <p:nvGrpSpPr>
            <p:cNvPr id="47" name="组合 17"/>
            <p:cNvGrpSpPr/>
            <p:nvPr/>
          </p:nvGrpSpPr>
          <p:grpSpPr bwMode="auto">
            <a:xfrm>
              <a:off x="1005187" y="3010439"/>
              <a:ext cx="540000" cy="213750"/>
              <a:chOff x="0" y="0"/>
              <a:chExt cx="21658" cy="3477"/>
            </a:xfrm>
          </p:grpSpPr>
          <p:sp>
            <p:nvSpPr>
              <p:cNvPr id="117" name="矩形 116"/>
              <p:cNvSpPr>
                <a:spLocks noChangeArrowheads="1"/>
              </p:cNvSpPr>
              <p:nvPr/>
            </p:nvSpPr>
            <p:spPr bwMode="auto">
              <a:xfrm>
                <a:off x="0" y="664"/>
                <a:ext cx="21658" cy="2330"/>
              </a:xfrm>
              <a:prstGeom prst="rect">
                <a:avLst/>
              </a:prstGeom>
              <a:solidFill>
                <a:srgbClr val="DAEEF3"/>
              </a:solidFill>
              <a:ln w="9525">
                <a:solidFill>
                  <a:srgbClr val="0070C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梯形 10"/>
              <p:cNvSpPr/>
              <p:nvPr/>
            </p:nvSpPr>
            <p:spPr bwMode="auto">
              <a:xfrm>
                <a:off x="0" y="0"/>
                <a:ext cx="21617" cy="627"/>
              </a:xfrm>
              <a:custGeom>
                <a:avLst/>
                <a:gdLst>
                  <a:gd name="T0" fmla="*/ 0 w 2161783"/>
                  <a:gd name="T1" fmla="*/ 627 h 62753"/>
                  <a:gd name="T2" fmla="*/ 157 w 2161783"/>
                  <a:gd name="T3" fmla="*/ 0 h 62753"/>
                  <a:gd name="T4" fmla="*/ 21460 w 2161783"/>
                  <a:gd name="T5" fmla="*/ 0 h 62753"/>
                  <a:gd name="T6" fmla="*/ 21617 w 2161783"/>
                  <a:gd name="T7" fmla="*/ 627 h 62753"/>
                  <a:gd name="T8" fmla="*/ 0 w 2161783"/>
                  <a:gd name="T9" fmla="*/ 627 h 6275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1783" h="62753">
                    <a:moveTo>
                      <a:pt x="0" y="62753"/>
                    </a:moveTo>
                    <a:lnTo>
                      <a:pt x="15688" y="0"/>
                    </a:lnTo>
                    <a:lnTo>
                      <a:pt x="2146095" y="0"/>
                    </a:lnTo>
                    <a:lnTo>
                      <a:pt x="2161783" y="62753"/>
                    </a:lnTo>
                    <a:lnTo>
                      <a:pt x="0" y="62753"/>
                    </a:lnTo>
                    <a:close/>
                  </a:path>
                </a:pathLst>
              </a:custGeom>
              <a:noFill/>
              <a:ln w="9525">
                <a:solidFill>
                  <a:srgbClr val="0070C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矩形 14"/>
              <p:cNvSpPr>
                <a:spLocks noChangeArrowheads="1"/>
              </p:cNvSpPr>
              <p:nvPr/>
            </p:nvSpPr>
            <p:spPr bwMode="auto">
              <a:xfrm>
                <a:off x="20188" y="3013"/>
                <a:ext cx="1422" cy="464"/>
              </a:xfrm>
              <a:prstGeom prst="rect">
                <a:avLst/>
              </a:prstGeom>
              <a:solidFill>
                <a:srgbClr val="000000"/>
              </a:solidFill>
              <a:ln w="25400">
                <a:solidFill>
                  <a:srgbClr val="0070C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矩形 15"/>
              <p:cNvSpPr>
                <a:spLocks noChangeArrowheads="1"/>
              </p:cNvSpPr>
              <p:nvPr/>
            </p:nvSpPr>
            <p:spPr bwMode="auto">
              <a:xfrm>
                <a:off x="102" y="3013"/>
                <a:ext cx="1422" cy="464"/>
              </a:xfrm>
              <a:prstGeom prst="rect">
                <a:avLst/>
              </a:prstGeom>
              <a:solidFill>
                <a:srgbClr val="000000"/>
              </a:solidFill>
              <a:ln w="25400">
                <a:solidFill>
                  <a:srgbClr val="0070C0"/>
                </a:solidFill>
                <a:miter lim="800000"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矩形 16"/>
              <p:cNvSpPr>
                <a:spLocks noChangeArrowheads="1"/>
              </p:cNvSpPr>
              <p:nvPr/>
            </p:nvSpPr>
            <p:spPr bwMode="auto">
              <a:xfrm>
                <a:off x="19207" y="1277"/>
                <a:ext cx="1407" cy="541"/>
              </a:xfrm>
              <a:prstGeom prst="rect">
                <a:avLst/>
              </a:prstGeom>
              <a:noFill/>
              <a:ln w="9525">
                <a:solidFill>
                  <a:srgbClr val="0070C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48" name="TextBox 47"/>
            <p:cNvSpPr txBox="1"/>
            <p:nvPr/>
          </p:nvSpPr>
          <p:spPr>
            <a:xfrm>
              <a:off x="917707" y="3253920"/>
              <a:ext cx="7994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路由器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1661191" y="2803303"/>
              <a:ext cx="1191653" cy="643016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58" name="直接连接符 57"/>
            <p:cNvCxnSpPr>
              <a:stCxn id="117" idx="3"/>
              <a:endCxn id="50" idx="2"/>
            </p:cNvCxnSpPr>
            <p:nvPr/>
          </p:nvCxnSpPr>
          <p:spPr>
            <a:xfrm>
              <a:off x="1545187" y="3122878"/>
              <a:ext cx="116004" cy="19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>
              <a:endCxn id="50" idx="1"/>
            </p:cNvCxnSpPr>
            <p:nvPr/>
          </p:nvCxnSpPr>
          <p:spPr>
            <a:xfrm>
              <a:off x="1459914" y="2672503"/>
              <a:ext cx="375791" cy="2249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2365149" y="2460852"/>
              <a:ext cx="6348" cy="3692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>
              <a:endCxn id="50" idx="7"/>
            </p:cNvCxnSpPr>
            <p:nvPr/>
          </p:nvCxnSpPr>
          <p:spPr>
            <a:xfrm flipH="1">
              <a:off x="2678330" y="2420432"/>
              <a:ext cx="246523" cy="4770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2813319" y="2729854"/>
              <a:ext cx="504000" cy="2666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>
              <a:stCxn id="218" idx="1"/>
            </p:cNvCxnSpPr>
            <p:nvPr/>
          </p:nvCxnSpPr>
          <p:spPr>
            <a:xfrm flipH="1" flipV="1">
              <a:off x="2741311" y="3304225"/>
              <a:ext cx="432048" cy="2699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 flipV="1">
              <a:off x="2519029" y="3408679"/>
              <a:ext cx="333816" cy="4307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V="1">
              <a:off x="1773902" y="3378537"/>
              <a:ext cx="117167" cy="2528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>
              <a:stCxn id="227" idx="0"/>
              <a:endCxn id="50" idx="4"/>
            </p:cNvCxnSpPr>
            <p:nvPr/>
          </p:nvCxnSpPr>
          <p:spPr>
            <a:xfrm flipV="1">
              <a:off x="2108268" y="3446319"/>
              <a:ext cx="148750" cy="5819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文本框 2"/>
            <p:cNvSpPr txBox="1">
              <a:spLocks noChangeArrowheads="1"/>
            </p:cNvSpPr>
            <p:nvPr/>
          </p:nvSpPr>
          <p:spPr bwMode="auto">
            <a:xfrm>
              <a:off x="1733199" y="3001934"/>
              <a:ext cx="1159768" cy="257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网络</a:t>
              </a: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168.16.0.0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68" name="文本框 2"/>
            <p:cNvSpPr txBox="1">
              <a:spLocks noChangeArrowheads="1"/>
            </p:cNvSpPr>
            <p:nvPr/>
          </p:nvSpPr>
          <p:spPr bwMode="auto">
            <a:xfrm>
              <a:off x="899592" y="2101474"/>
              <a:ext cx="104146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</a:t>
              </a:r>
              <a:r>
                <a:rPr lang="en-US" altLang="zh-CN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.15.3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69" name="文本框 2"/>
            <p:cNvSpPr txBox="1">
              <a:spLocks noChangeArrowheads="1"/>
            </p:cNvSpPr>
            <p:nvPr/>
          </p:nvSpPr>
          <p:spPr bwMode="auto">
            <a:xfrm>
              <a:off x="1832486" y="1801667"/>
              <a:ext cx="117996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</a:t>
              </a:r>
              <a:r>
                <a:rPr lang="en-US" altLang="zh-CN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.15.136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70" name="文本框 2"/>
            <p:cNvSpPr txBox="1">
              <a:spLocks noChangeArrowheads="1"/>
            </p:cNvSpPr>
            <p:nvPr/>
          </p:nvSpPr>
          <p:spPr bwMode="auto">
            <a:xfrm rot="20766936">
              <a:off x="1686332" y="2235637"/>
              <a:ext cx="391914" cy="257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…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71" name="文本框 2"/>
            <p:cNvSpPr txBox="1">
              <a:spLocks noChangeArrowheads="1"/>
            </p:cNvSpPr>
            <p:nvPr/>
          </p:nvSpPr>
          <p:spPr bwMode="auto">
            <a:xfrm>
              <a:off x="2893321" y="1840222"/>
              <a:ext cx="1050282" cy="257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</a:t>
              </a:r>
              <a:r>
                <a:rPr lang="en-US" altLang="zh-CN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.20.31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72" name="文本框 2"/>
            <p:cNvSpPr txBox="1">
              <a:spLocks noChangeArrowheads="1"/>
            </p:cNvSpPr>
            <p:nvPr/>
          </p:nvSpPr>
          <p:spPr bwMode="auto">
            <a:xfrm rot="21147621">
              <a:off x="2282928" y="3904273"/>
              <a:ext cx="391914" cy="257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…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73" name="文本框 2"/>
            <p:cNvSpPr txBox="1">
              <a:spLocks noChangeArrowheads="1"/>
            </p:cNvSpPr>
            <p:nvPr/>
          </p:nvSpPr>
          <p:spPr bwMode="auto">
            <a:xfrm rot="16200000">
              <a:off x="3104920" y="3095962"/>
              <a:ext cx="431510" cy="233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…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74" name="文本框 2"/>
            <p:cNvSpPr txBox="1">
              <a:spLocks noChangeArrowheads="1"/>
            </p:cNvSpPr>
            <p:nvPr/>
          </p:nvSpPr>
          <p:spPr bwMode="auto">
            <a:xfrm>
              <a:off x="2852844" y="2958371"/>
              <a:ext cx="118500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</a:t>
              </a:r>
              <a:r>
                <a:rPr lang="en-US" altLang="zh-CN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.20.123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75" name="文本框 2"/>
            <p:cNvSpPr txBox="1">
              <a:spLocks noChangeArrowheads="1"/>
            </p:cNvSpPr>
            <p:nvPr/>
          </p:nvSpPr>
          <p:spPr bwMode="auto">
            <a:xfrm>
              <a:off x="2444597" y="4274417"/>
              <a:ext cx="1119291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</a:t>
              </a:r>
              <a:r>
                <a:rPr lang="en-US" altLang="zh-CN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.32.220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76" name="文本框 2"/>
            <p:cNvSpPr txBox="1">
              <a:spLocks noChangeArrowheads="1"/>
            </p:cNvSpPr>
            <p:nvPr/>
          </p:nvSpPr>
          <p:spPr bwMode="auto">
            <a:xfrm>
              <a:off x="1471841" y="4436656"/>
              <a:ext cx="1155943" cy="266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</a:t>
              </a:r>
              <a:r>
                <a:rPr lang="en-US" altLang="zh-CN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.32.145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pic>
          <p:nvPicPr>
            <p:cNvPr id="214" name="Picture 2" descr="C:\Program Files (x86)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9114" y="2349283"/>
              <a:ext cx="597695" cy="410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5" name="Picture 2" descr="C:\Program Files (x86)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6877" y="2117001"/>
              <a:ext cx="597695" cy="410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6" name="Picture 2" descr="C:\Program Files (x86)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3319" y="2139906"/>
              <a:ext cx="597695" cy="410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7" name="Picture 2" descr="C:\Program Files (x86)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6101" y="2543693"/>
              <a:ext cx="597695" cy="410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8" name="Picture 2" descr="C:\Program Files (x86)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3359" y="3368773"/>
              <a:ext cx="597695" cy="410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6" name="Picture 2" descr="C:\Program Files (x86)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7784" y="3881873"/>
              <a:ext cx="597695" cy="410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7" name="Picture 2" descr="C:\Program Files (x86)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9420" y="4028304"/>
              <a:ext cx="597695" cy="410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8" name="Picture 2" descr="C:\Program Files (x86)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7440" y="3580794"/>
              <a:ext cx="597695" cy="410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8" name="矩形 267"/>
            <p:cNvSpPr/>
            <p:nvPr/>
          </p:nvSpPr>
          <p:spPr>
            <a:xfrm>
              <a:off x="995816" y="1768818"/>
              <a:ext cx="3111358" cy="3035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文本框 2"/>
            <p:cNvSpPr txBox="1">
              <a:spLocks noChangeArrowheads="1"/>
            </p:cNvSpPr>
            <p:nvPr/>
          </p:nvSpPr>
          <p:spPr bwMode="auto">
            <a:xfrm>
              <a:off x="895005" y="4008452"/>
              <a:ext cx="1155943" cy="266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</a:t>
              </a:r>
              <a:r>
                <a:rPr lang="en-US" altLang="zh-CN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.32.54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233" name="文本框 2"/>
            <p:cNvSpPr txBox="1">
              <a:spLocks noChangeArrowheads="1"/>
            </p:cNvSpPr>
            <p:nvPr/>
          </p:nvSpPr>
          <p:spPr bwMode="auto">
            <a:xfrm>
              <a:off x="2987824" y="3742998"/>
              <a:ext cx="112233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168.16</a:t>
              </a:r>
              <a:r>
                <a:rPr lang="en-US" altLang="zh-CN" sz="11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.32.156</a:t>
              </a:r>
              <a:endParaRPr kumimoji="0" lang="en-US" altLang="zh-CN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234" name="íşlïḍè"/>
          <p:cNvSpPr txBox="1"/>
          <p:nvPr/>
        </p:nvSpPr>
        <p:spPr>
          <a:xfrm>
            <a:off x="283335" y="766094"/>
            <a:ext cx="1490567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dirty="0" smtClean="0">
                <a:solidFill>
                  <a:srgbClr val="000000"/>
                </a:solidFill>
                <a:latin typeface="Arial Narrow" panose="020B0606020202030204"/>
                <a:ea typeface="微软雅黑" panose="020B0503020204020204" pitchFamily="34" charset="-122"/>
              </a:rPr>
              <a:t>如何解决？</a:t>
            </a:r>
            <a:endParaRPr lang="en-US" altLang="zh-CN" dirty="0">
              <a:solidFill>
                <a:srgbClr val="000000"/>
              </a:solidFill>
              <a:latin typeface="Arial Narrow" panose="020B0606020202030204"/>
              <a:ea typeface="微软雅黑" panose="020B0503020204020204" pitchFamily="34" charset="-122"/>
            </a:endParaRPr>
          </a:p>
        </p:txBody>
      </p:sp>
      <p:sp>
        <p:nvSpPr>
          <p:cNvPr id="235" name="íşlïḍè"/>
          <p:cNvSpPr txBox="1"/>
          <p:nvPr/>
        </p:nvSpPr>
        <p:spPr>
          <a:xfrm>
            <a:off x="264583" y="1131590"/>
            <a:ext cx="8515367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子网划分</a:t>
            </a:r>
            <a:r>
              <a:rPr lang="zh-CN" altLang="en-US" dirty="0">
                <a:solidFill>
                  <a:srgbClr val="000000"/>
                </a:solidFill>
                <a:latin typeface="Arial Narrow" panose="020B0606020202030204"/>
                <a:ea typeface="微软雅黑" panose="020B0503020204020204" pitchFamily="34" charset="-122"/>
              </a:rPr>
              <a:t>就是将原来的网络划分为若干个彼此隔离的子</a:t>
            </a:r>
            <a:r>
              <a:rPr lang="zh-CN" altLang="en-US" dirty="0" smtClean="0">
                <a:solidFill>
                  <a:srgbClr val="000000"/>
                </a:solidFill>
                <a:latin typeface="Arial Narrow" panose="020B0606020202030204"/>
                <a:ea typeface="微软雅黑" panose="020B0503020204020204" pitchFamily="34" charset="-122"/>
              </a:rPr>
              <a:t>网络。</a:t>
            </a:r>
            <a:endParaRPr lang="en-US" altLang="zh-CN" dirty="0">
              <a:solidFill>
                <a:srgbClr val="000000"/>
              </a:solidFill>
              <a:latin typeface="Arial Narrow" panose="020B0606020202030204"/>
              <a:ea typeface="微软雅黑" panose="020B0503020204020204" pitchFamily="34" charset="-122"/>
            </a:endParaRPr>
          </a:p>
        </p:txBody>
      </p:sp>
      <p:sp>
        <p:nvSpPr>
          <p:cNvPr id="236" name="íşlïḍè"/>
          <p:cNvSpPr txBox="1"/>
          <p:nvPr/>
        </p:nvSpPr>
        <p:spPr>
          <a:xfrm>
            <a:off x="1604428" y="742451"/>
            <a:ext cx="1248418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  <a:latin typeface="Arial Narrow" panose="020B0606020202030204"/>
                <a:ea typeface="微软雅黑" panose="020B0503020204020204" pitchFamily="34" charset="-122"/>
              </a:rPr>
              <a:t>子网划分</a:t>
            </a:r>
            <a:endParaRPr lang="en-US" altLang="zh-CN" sz="2000" b="1" dirty="0">
              <a:solidFill>
                <a:srgbClr val="FF0000"/>
              </a:solidFill>
              <a:latin typeface="Arial Narrow" panose="020B0606020202030204"/>
              <a:ea typeface="微软雅黑" panose="020B0503020204020204" pitchFamily="34" charset="-122"/>
            </a:endParaRPr>
          </a:p>
        </p:txBody>
      </p:sp>
      <p:cxnSp>
        <p:nvCxnSpPr>
          <p:cNvPr id="292" name="直接连接符 291"/>
          <p:cNvCxnSpPr/>
          <p:nvPr/>
        </p:nvCxnSpPr>
        <p:spPr>
          <a:xfrm>
            <a:off x="4932040" y="1748055"/>
            <a:ext cx="0" cy="3048641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TextBox 24"/>
          <p:cNvSpPr txBox="1"/>
          <p:nvPr/>
        </p:nvSpPr>
        <p:spPr>
          <a:xfrm>
            <a:off x="6640947" y="1976718"/>
            <a:ext cx="1651286" cy="417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65">
              <a:lnSpc>
                <a:spcPct val="13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提高网络性能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5" name="组合 294"/>
          <p:cNvGrpSpPr/>
          <p:nvPr/>
        </p:nvGrpSpPr>
        <p:grpSpPr>
          <a:xfrm>
            <a:off x="5220072" y="1851670"/>
            <a:ext cx="684000" cy="648000"/>
            <a:chOff x="5863584" y="1131590"/>
            <a:chExt cx="900000" cy="864000"/>
          </a:xfrm>
        </p:grpSpPr>
        <p:grpSp>
          <p:nvGrpSpPr>
            <p:cNvPr id="296" name="Group 38"/>
            <p:cNvGrpSpPr/>
            <p:nvPr/>
          </p:nvGrpSpPr>
          <p:grpSpPr>
            <a:xfrm>
              <a:off x="5863584" y="1131590"/>
              <a:ext cx="900000" cy="864000"/>
              <a:chOff x="3435697" y="1762781"/>
              <a:chExt cx="2790385" cy="2841564"/>
            </a:xfrm>
          </p:grpSpPr>
          <p:grpSp>
            <p:nvGrpSpPr>
              <p:cNvPr id="298" name="组合 79"/>
              <p:cNvGrpSpPr/>
              <p:nvPr/>
            </p:nvGrpSpPr>
            <p:grpSpPr>
              <a:xfrm>
                <a:off x="3435697" y="1762781"/>
                <a:ext cx="2790385" cy="2841564"/>
                <a:chOff x="6148381" y="2506882"/>
                <a:chExt cx="2513020" cy="2553947"/>
              </a:xfrm>
            </p:grpSpPr>
            <p:sp>
              <p:nvSpPr>
                <p:cNvPr id="300" name="任意多边形 82"/>
                <p:cNvSpPr/>
                <p:nvPr/>
              </p:nvSpPr>
              <p:spPr>
                <a:xfrm rot="3738964">
                  <a:off x="6148382" y="2547810"/>
                  <a:ext cx="2513018" cy="2513020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srgbClr val="FFFFFF"/>
                    </a:solidFill>
                    <a:latin typeface="Arial" panose="020B060402020202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01" name="任意多边形 83"/>
                <p:cNvSpPr/>
                <p:nvPr/>
              </p:nvSpPr>
              <p:spPr>
                <a:xfrm rot="16377237">
                  <a:off x="6167323" y="2506885"/>
                  <a:ext cx="2476801" cy="2476795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299" name="椭圆 80"/>
              <p:cNvSpPr/>
              <p:nvPr/>
            </p:nvSpPr>
            <p:spPr bwMode="auto">
              <a:xfrm>
                <a:off x="3828921" y="2203227"/>
                <a:ext cx="2016472" cy="2020562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297" name="Picture 5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8434" y="1430874"/>
              <a:ext cx="350480" cy="330402"/>
            </a:xfrm>
            <a:prstGeom prst="rect">
              <a:avLst/>
            </a:prstGeom>
          </p:spPr>
        </p:pic>
      </p:grpSp>
      <p:grpSp>
        <p:nvGrpSpPr>
          <p:cNvPr id="302" name="组合 301"/>
          <p:cNvGrpSpPr/>
          <p:nvPr/>
        </p:nvGrpSpPr>
        <p:grpSpPr>
          <a:xfrm>
            <a:off x="5220072" y="2823782"/>
            <a:ext cx="684000" cy="648000"/>
            <a:chOff x="4346135" y="2618172"/>
            <a:chExt cx="973585" cy="902992"/>
          </a:xfrm>
        </p:grpSpPr>
        <p:grpSp>
          <p:nvGrpSpPr>
            <p:cNvPr id="303" name="Group 43"/>
            <p:cNvGrpSpPr/>
            <p:nvPr/>
          </p:nvGrpSpPr>
          <p:grpSpPr>
            <a:xfrm>
              <a:off x="4346135" y="2618172"/>
              <a:ext cx="973585" cy="902992"/>
              <a:chOff x="3692576" y="1742634"/>
              <a:chExt cx="2790379" cy="2796023"/>
            </a:xfrm>
          </p:grpSpPr>
          <p:grpSp>
            <p:nvGrpSpPr>
              <p:cNvPr id="305" name="组合 79"/>
              <p:cNvGrpSpPr/>
              <p:nvPr/>
            </p:nvGrpSpPr>
            <p:grpSpPr>
              <a:xfrm>
                <a:off x="3692576" y="1742634"/>
                <a:ext cx="2790379" cy="2796023"/>
                <a:chOff x="6379729" y="2488774"/>
                <a:chExt cx="2513016" cy="2513016"/>
              </a:xfrm>
            </p:grpSpPr>
            <p:sp>
              <p:nvSpPr>
                <p:cNvPr id="307" name="任意多边形 82"/>
                <p:cNvSpPr/>
                <p:nvPr/>
              </p:nvSpPr>
              <p:spPr>
                <a:xfrm rot="3738964">
                  <a:off x="6379729" y="2488774"/>
                  <a:ext cx="2513016" cy="2513016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srgbClr val="FFFFFF"/>
                    </a:solidFill>
                    <a:latin typeface="Arial" panose="020B060402020202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08" name="任意多边形 83"/>
                <p:cNvSpPr/>
                <p:nvPr/>
              </p:nvSpPr>
              <p:spPr>
                <a:xfrm rot="16377237">
                  <a:off x="6409518" y="2506881"/>
                  <a:ext cx="2476803" cy="2476800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306" name="椭圆 80"/>
              <p:cNvSpPr/>
              <p:nvPr/>
            </p:nvSpPr>
            <p:spPr bwMode="auto">
              <a:xfrm>
                <a:off x="4101618" y="2137562"/>
                <a:ext cx="2016471" cy="2020558"/>
              </a:xfrm>
              <a:prstGeom prst="ellipse">
                <a:avLst/>
              </a:prstGeom>
              <a:solidFill>
                <a:schemeClr val="accent2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304" name="Picture 5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1504" y="2849609"/>
              <a:ext cx="447035" cy="413784"/>
            </a:xfrm>
            <a:prstGeom prst="rect">
              <a:avLst/>
            </a:prstGeom>
          </p:spPr>
        </p:pic>
      </p:grpSp>
      <p:grpSp>
        <p:nvGrpSpPr>
          <p:cNvPr id="309" name="组合 308"/>
          <p:cNvGrpSpPr/>
          <p:nvPr/>
        </p:nvGrpSpPr>
        <p:grpSpPr>
          <a:xfrm>
            <a:off x="5220072" y="3889271"/>
            <a:ext cx="684000" cy="648000"/>
            <a:chOff x="6659881" y="2665636"/>
            <a:chExt cx="1006425" cy="902991"/>
          </a:xfrm>
        </p:grpSpPr>
        <p:grpSp>
          <p:nvGrpSpPr>
            <p:cNvPr id="310" name="Group 48"/>
            <p:cNvGrpSpPr/>
            <p:nvPr/>
          </p:nvGrpSpPr>
          <p:grpSpPr>
            <a:xfrm>
              <a:off x="6659881" y="2665636"/>
              <a:ext cx="1006425" cy="902991"/>
              <a:chOff x="3499174" y="1840715"/>
              <a:chExt cx="2884502" cy="2796023"/>
            </a:xfrm>
          </p:grpSpPr>
          <p:grpSp>
            <p:nvGrpSpPr>
              <p:cNvPr id="312" name="组合 79"/>
              <p:cNvGrpSpPr/>
              <p:nvPr/>
            </p:nvGrpSpPr>
            <p:grpSpPr>
              <a:xfrm>
                <a:off x="3499174" y="1840715"/>
                <a:ext cx="2884502" cy="2796023"/>
                <a:chOff x="6205545" y="2576927"/>
                <a:chExt cx="2597781" cy="2513016"/>
              </a:xfrm>
            </p:grpSpPr>
            <p:sp>
              <p:nvSpPr>
                <p:cNvPr id="314" name="任意多边形 82"/>
                <p:cNvSpPr/>
                <p:nvPr/>
              </p:nvSpPr>
              <p:spPr>
                <a:xfrm rot="3738964">
                  <a:off x="6205544" y="2576928"/>
                  <a:ext cx="2513016" cy="2513013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srgbClr val="FFFFFF"/>
                    </a:solidFill>
                    <a:latin typeface="Arial" panose="020B060402020202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15" name="任意多边形 83"/>
                <p:cNvSpPr/>
                <p:nvPr/>
              </p:nvSpPr>
              <p:spPr>
                <a:xfrm rot="16377237">
                  <a:off x="6326526" y="2595034"/>
                  <a:ext cx="2476805" cy="2476795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313" name="椭圆 80"/>
              <p:cNvSpPr/>
              <p:nvPr/>
            </p:nvSpPr>
            <p:spPr bwMode="auto">
              <a:xfrm>
                <a:off x="4009468" y="2235641"/>
                <a:ext cx="2016467" cy="2020561"/>
              </a:xfrm>
              <a:prstGeom prst="ellipse">
                <a:avLst/>
              </a:prstGeom>
              <a:solidFill>
                <a:schemeClr val="accent3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311" name="Picture 5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1884" y="2928779"/>
              <a:ext cx="395724" cy="366289"/>
            </a:xfrm>
            <a:prstGeom prst="rect">
              <a:avLst/>
            </a:prstGeom>
          </p:spPr>
        </p:pic>
      </p:grpSp>
      <p:sp>
        <p:nvSpPr>
          <p:cNvPr id="316" name="TextBox 9"/>
          <p:cNvSpPr txBox="1"/>
          <p:nvPr/>
        </p:nvSpPr>
        <p:spPr>
          <a:xfrm>
            <a:off x="5940152" y="2032164"/>
            <a:ext cx="576000" cy="376602"/>
          </a:xfrm>
          <a:prstGeom prst="rect">
            <a:avLst/>
          </a:prstGeom>
          <a:solidFill>
            <a:schemeClr val="accent1"/>
          </a:solidFill>
        </p:spPr>
        <p:txBody>
          <a:bodyPr wrap="square" tIns="3600" bIns="3600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+mj-lt"/>
              </a:rPr>
              <a:t>01</a:t>
            </a: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17" name="TextBox 32"/>
          <p:cNvSpPr txBox="1"/>
          <p:nvPr/>
        </p:nvSpPr>
        <p:spPr>
          <a:xfrm>
            <a:off x="5940152" y="3004962"/>
            <a:ext cx="576000" cy="372967"/>
          </a:xfrm>
          <a:prstGeom prst="rect">
            <a:avLst/>
          </a:prstGeom>
          <a:solidFill>
            <a:schemeClr val="accent2"/>
          </a:solidFill>
        </p:spPr>
        <p:txBody>
          <a:bodyPr wrap="square" tIns="0" bIns="3600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+mj-lt"/>
              </a:rPr>
              <a:t>02</a:t>
            </a: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18" name="TextBox 24"/>
          <p:cNvSpPr txBox="1"/>
          <p:nvPr/>
        </p:nvSpPr>
        <p:spPr>
          <a:xfrm>
            <a:off x="6640947" y="2794083"/>
            <a:ext cx="1651286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65">
              <a:lnSpc>
                <a:spcPct val="13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充分有效利用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9" name="TextBox 24"/>
          <p:cNvSpPr txBox="1"/>
          <p:nvPr/>
        </p:nvSpPr>
        <p:spPr>
          <a:xfrm>
            <a:off x="6667195" y="3867822"/>
            <a:ext cx="1651286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65">
              <a:lnSpc>
                <a:spcPct val="13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方便管理，增强安全性。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0" name="TextBox 9"/>
          <p:cNvSpPr txBox="1"/>
          <p:nvPr/>
        </p:nvSpPr>
        <p:spPr>
          <a:xfrm>
            <a:off x="5940152" y="4072219"/>
            <a:ext cx="576000" cy="376602"/>
          </a:xfrm>
          <a:prstGeom prst="rect">
            <a:avLst/>
          </a:prstGeom>
          <a:solidFill>
            <a:schemeClr val="accent1"/>
          </a:solidFill>
        </p:spPr>
        <p:txBody>
          <a:bodyPr wrap="square" tIns="3600" bIns="3600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  <a:latin typeface="+mj-lt"/>
              </a:rPr>
              <a:t>03</a:t>
            </a: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1.11043E-7 L -0.46979 0.00031 " pathEditMode="relative" rAng="0" ptsTypes="AA">
                                      <p:cBhvr>
                                        <p:cTn id="7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5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5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5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5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25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25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25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25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25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" grpId="0" animBg="1"/>
      <p:bldP spid="212" grpId="1" animBg="1"/>
      <p:bldP spid="231" grpId="0"/>
      <p:bldP spid="234" grpId="0"/>
      <p:bldP spid="235" grpId="0"/>
      <p:bldP spid="236" grpId="0"/>
      <p:bldP spid="294" grpId="0"/>
      <p:bldP spid="316" grpId="0" animBg="1"/>
      <p:bldP spid="317" grpId="0" animBg="1"/>
      <p:bldP spid="318" grpId="0"/>
      <p:bldP spid="319" grpId="0"/>
      <p:bldP spid="3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 descr="C:\Users\Administrator\Desktop\3afe8fe6bfe17e05fe49e17f29526623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-3114092" y="483518"/>
            <a:ext cx="6228184" cy="4448404"/>
          </a:xfrm>
          <a:prstGeom prst="rect">
            <a:avLst/>
          </a:prstGeom>
          <a:noFill/>
        </p:spPr>
      </p:pic>
      <p:cxnSp>
        <p:nvCxnSpPr>
          <p:cNvPr id="24" name="直接连接符 23"/>
          <p:cNvCxnSpPr/>
          <p:nvPr/>
        </p:nvCxnSpPr>
        <p:spPr>
          <a:xfrm flipV="1">
            <a:off x="4438183" y="1777237"/>
            <a:ext cx="0" cy="142041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3"/>
          <p:cNvSpPr txBox="1"/>
          <p:nvPr/>
        </p:nvSpPr>
        <p:spPr>
          <a:xfrm>
            <a:off x="3184399" y="2951483"/>
            <a:ext cx="902574" cy="2461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PART 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02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3059832" y="1773997"/>
            <a:ext cx="1004222" cy="10042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80808"/>
              </a:solidFill>
              <a:latin typeface="+mj-ea"/>
              <a:ea typeface="+mj-ea"/>
            </a:endParaRPr>
          </a:p>
        </p:txBody>
      </p:sp>
      <p:sp>
        <p:nvSpPr>
          <p:cNvPr id="31" name="TextBox 13"/>
          <p:cNvSpPr txBox="1"/>
          <p:nvPr/>
        </p:nvSpPr>
        <p:spPr>
          <a:xfrm>
            <a:off x="3214460" y="1895094"/>
            <a:ext cx="902574" cy="7692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5000" b="1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02</a:t>
            </a:r>
            <a:endParaRPr lang="zh-CN" altLang="en-US" sz="50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4572909" y="1875352"/>
            <a:ext cx="2925351" cy="742765"/>
          </a:xfrm>
          <a:prstGeom prst="rect">
            <a:avLst/>
          </a:prstGeom>
          <a:noFill/>
        </p:spPr>
        <p:txBody>
          <a:bodyPr wrap="none" lIns="65023" tIns="32511" rIns="65023" bIns="32511" rtlCol="0">
            <a:spAutoFit/>
          </a:bodyPr>
          <a:lstStyle/>
          <a:p>
            <a:pPr marL="0" lvl="1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第二部分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/>
            <a:r>
              <a:rPr lang="zh-CN" altLang="en-US" sz="2400" b="1" dirty="0" smtClean="0">
                <a:solidFill>
                  <a:srgbClr val="C68F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子网划分的原则</a:t>
            </a:r>
            <a:endParaRPr lang="en-US" altLang="zh-CN" sz="2400" b="1" dirty="0">
              <a:solidFill>
                <a:srgbClr val="C68F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8" grpId="0" animBg="1"/>
      <p:bldP spid="31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95486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35" y="204858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187623" y="280557"/>
            <a:ext cx="2520281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子网划分的原则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64583" y="771550"/>
            <a:ext cx="7272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地址具有层次结构，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标准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的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地址分为</a:t>
            </a:r>
            <a:r>
              <a:rPr lang="zh-CN" altLang="en-US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网络位和主机位两级结构。</a:t>
            </a:r>
            <a:endParaRPr lang="en-US" altLang="zh-CN" dirty="0" smtClean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251520" y="2012998"/>
            <a:ext cx="1251137" cy="3699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B</a:t>
            </a:r>
            <a:r>
              <a:rPr lang="zh-CN" altLang="en-US" sz="16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类</a:t>
            </a:r>
            <a:r>
              <a:rPr lang="en-US" altLang="zh-CN" sz="16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6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地址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51713" y="285978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子网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划分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294263" y="3219822"/>
            <a:ext cx="6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16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位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277821" y="3193696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m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位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436096" y="3193696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n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位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987680" y="3193696"/>
            <a:ext cx="3369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+</a:t>
            </a:r>
            <a:endParaRPr lang="en-US" altLang="zh-CN" sz="16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5986034" y="3193696"/>
            <a:ext cx="3369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</a:t>
            </a:r>
            <a:endParaRPr lang="en-US" altLang="zh-CN" sz="16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333011" y="3193696"/>
            <a:ext cx="6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16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位</a:t>
            </a:r>
            <a:endParaRPr lang="en-US" altLang="zh-CN" sz="16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6" name="下箭头 95"/>
          <p:cNvSpPr/>
          <p:nvPr/>
        </p:nvSpPr>
        <p:spPr>
          <a:xfrm>
            <a:off x="4944314" y="2436157"/>
            <a:ext cx="140490" cy="324000"/>
          </a:xfrm>
          <a:prstGeom prst="down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3768017" y="1966817"/>
            <a:ext cx="2731832" cy="396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600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主机号</a:t>
            </a:r>
            <a:endParaRPr lang="zh-CN" altLang="en-US" sz="16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1403648" y="1974162"/>
            <a:ext cx="2377621" cy="396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网络号</a:t>
            </a:r>
            <a:endParaRPr kumimoji="0" lang="zh-CN" alt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1403648" y="2800348"/>
            <a:ext cx="2377621" cy="396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网络号</a:t>
            </a:r>
            <a:endParaRPr kumimoji="0" lang="zh-CN" altLang="en-US" sz="16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3781269" y="1956709"/>
            <a:ext cx="1219042" cy="396000"/>
          </a:xfrm>
          <a:prstGeom prst="rect">
            <a:avLst/>
          </a:prstGeom>
          <a:solidFill>
            <a:srgbClr val="F07B1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600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子网号</a:t>
            </a:r>
            <a:endParaRPr lang="zh-CN" altLang="en-US" sz="16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5000313" y="1953563"/>
            <a:ext cx="1499536" cy="396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600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主机号</a:t>
            </a:r>
            <a:endParaRPr lang="zh-CN" altLang="en-US" sz="16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119" name="组合 118"/>
          <p:cNvGrpSpPr/>
          <p:nvPr/>
        </p:nvGrpSpPr>
        <p:grpSpPr>
          <a:xfrm>
            <a:off x="1403648" y="3592925"/>
            <a:ext cx="5096202" cy="765877"/>
            <a:chOff x="3451696" y="4890352"/>
            <a:chExt cx="5096202" cy="765877"/>
          </a:xfrm>
        </p:grpSpPr>
        <p:sp>
          <p:nvSpPr>
            <p:cNvPr id="120" name="矩形 119"/>
            <p:cNvSpPr/>
            <p:nvPr/>
          </p:nvSpPr>
          <p:spPr>
            <a:xfrm>
              <a:off x="3451696" y="4890353"/>
              <a:ext cx="3586864" cy="396000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网络号</a:t>
              </a:r>
              <a:endParaRPr kumimoji="0" lang="zh-CN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21" name="矩形 120"/>
            <p:cNvSpPr/>
            <p:nvPr/>
          </p:nvSpPr>
          <p:spPr>
            <a:xfrm>
              <a:off x="7038562" y="4890352"/>
              <a:ext cx="1509336" cy="39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主机号</a:t>
              </a:r>
              <a:endParaRPr kumimoji="0" lang="zh-CN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4312259" y="5296274"/>
              <a:ext cx="6303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16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位</a:t>
              </a:r>
              <a:endParaRPr kumimoji="0" lang="zh-CN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5443191" y="5296274"/>
              <a:ext cx="5822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m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位</a:t>
              </a:r>
              <a:endParaRPr kumimoji="0" lang="zh-CN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5048615" y="5296274"/>
              <a:ext cx="3369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+</a:t>
              </a:r>
              <a:endPara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7574130" y="5317675"/>
              <a:ext cx="5164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n</a:t>
              </a:r>
              <a:r>
                <a:rPr kumimoji="0" lang="zh-CN" alt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位</a:t>
              </a:r>
              <a:endParaRPr kumimoji="0" lang="zh-CN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26" name="TextBox 125"/>
          <p:cNvSpPr txBox="1"/>
          <p:nvPr/>
        </p:nvSpPr>
        <p:spPr>
          <a:xfrm>
            <a:off x="2276492" y="2401608"/>
            <a:ext cx="6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16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位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5144999" y="2411614"/>
            <a:ext cx="6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16</a:t>
            </a:r>
            <a:r>
              <a:rPr lang="zh-CN" altLang="en-US" sz="1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位</a:t>
            </a:r>
            <a:endParaRPr lang="zh-CN" altLang="en-US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51521" y="1177472"/>
            <a:ext cx="878475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 smtClean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子网划分</a:t>
            </a:r>
            <a:r>
              <a:rPr lang="zh-CN" altLang="en-US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的原则是：在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地址的主机号中借用若干位，</a:t>
            </a:r>
            <a:r>
              <a:rPr lang="zh-CN" altLang="en-US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增加一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个“子网号字段”，此时两级的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地址变成了三级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地址。</a:t>
            </a:r>
            <a:endParaRPr lang="zh-CN" altLang="en-US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251520" y="4382414"/>
            <a:ext cx="7225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划分子网后，原来的网络号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+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子网号变成</a:t>
            </a:r>
            <a:r>
              <a:rPr lang="zh-CN" altLang="en-US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了新的网络号，</a:t>
            </a:r>
            <a:r>
              <a:rPr lang="zh-CN" altLang="en-US" dirty="0" smtClean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网络位变长</a:t>
            </a:r>
            <a:r>
              <a:rPr lang="zh-CN" altLang="en-US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了。</a:t>
            </a:r>
            <a:endParaRPr lang="zh-CN" altLang="en-US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131" name="直接连接符 130"/>
          <p:cNvCxnSpPr/>
          <p:nvPr/>
        </p:nvCxnSpPr>
        <p:spPr>
          <a:xfrm flipV="1">
            <a:off x="200533" y="2381852"/>
            <a:ext cx="8640000" cy="25324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340951" y="2453860"/>
            <a:ext cx="3054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子网划分有如下几个特点：</a:t>
            </a:r>
            <a:endParaRPr lang="en-US" altLang="zh-CN" dirty="0" smtClean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133" name="Group 6"/>
          <p:cNvGrpSpPr/>
          <p:nvPr/>
        </p:nvGrpSpPr>
        <p:grpSpPr>
          <a:xfrm>
            <a:off x="287784" y="3759908"/>
            <a:ext cx="2340000" cy="307486"/>
            <a:chOff x="-265334" y="3554568"/>
            <a:chExt cx="4311203" cy="558312"/>
          </a:xfrm>
          <a:solidFill>
            <a:schemeClr val="accent1"/>
          </a:solidFill>
        </p:grpSpPr>
        <p:sp>
          <p:nvSpPr>
            <p:cNvPr id="134" name="Rectangle 7"/>
            <p:cNvSpPr/>
            <p:nvPr/>
          </p:nvSpPr>
          <p:spPr>
            <a:xfrm>
              <a:off x="-265334" y="4001971"/>
              <a:ext cx="4311203" cy="1082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5" name="Rectangle 8"/>
            <p:cNvSpPr/>
            <p:nvPr/>
          </p:nvSpPr>
          <p:spPr>
            <a:xfrm>
              <a:off x="629499" y="3554568"/>
              <a:ext cx="2538703" cy="4507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6" name="TextBox 9"/>
            <p:cNvSpPr txBox="1"/>
            <p:nvPr/>
          </p:nvSpPr>
          <p:spPr>
            <a:xfrm>
              <a:off x="615928" y="3557266"/>
              <a:ext cx="2568530" cy="555614"/>
            </a:xfrm>
            <a:prstGeom prst="rect">
              <a:avLst/>
            </a:prstGeom>
            <a:grpFill/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sz="2400" dirty="0" smtClean="0">
                  <a:solidFill>
                    <a:schemeClr val="bg1"/>
                  </a:solidFill>
                  <a:latin typeface="+mj-lt"/>
                </a:rPr>
                <a:t>01</a:t>
              </a:r>
              <a:endParaRPr lang="en-US" sz="24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37" name="TextBox 20"/>
          <p:cNvSpPr txBox="1"/>
          <p:nvPr/>
        </p:nvSpPr>
        <p:spPr>
          <a:xfrm>
            <a:off x="5422900" y="4110355"/>
            <a:ext cx="2025015" cy="37084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30000"/>
              </a:lnSpc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子网位的位数是可变的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TextBox 24"/>
          <p:cNvSpPr txBox="1"/>
          <p:nvPr/>
        </p:nvSpPr>
        <p:spPr>
          <a:xfrm>
            <a:off x="251760" y="4121839"/>
            <a:ext cx="2304016" cy="65024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30000"/>
              </a:lnSpc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子网位是从主机位的最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左边开始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连续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借位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9" name="Group 30"/>
          <p:cNvGrpSpPr/>
          <p:nvPr/>
        </p:nvGrpSpPr>
        <p:grpSpPr>
          <a:xfrm>
            <a:off x="2628064" y="3730328"/>
            <a:ext cx="2520000" cy="337863"/>
            <a:chOff x="3748626" y="3501268"/>
            <a:chExt cx="4938327" cy="611462"/>
          </a:xfrm>
          <a:solidFill>
            <a:schemeClr val="accent2"/>
          </a:solidFill>
        </p:grpSpPr>
        <p:sp>
          <p:nvSpPr>
            <p:cNvPr id="141" name="Rectangle 33"/>
            <p:cNvSpPr/>
            <p:nvPr/>
          </p:nvSpPr>
          <p:spPr>
            <a:xfrm>
              <a:off x="3748626" y="4001971"/>
              <a:ext cx="4938327" cy="11075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2" name="TextBox 32"/>
            <p:cNvSpPr txBox="1"/>
            <p:nvPr/>
          </p:nvSpPr>
          <p:spPr>
            <a:xfrm>
              <a:off x="5033716" y="3501268"/>
              <a:ext cx="2368147" cy="553796"/>
            </a:xfrm>
            <a:prstGeom prst="rect">
              <a:avLst/>
            </a:prstGeom>
            <a:grpFill/>
          </p:spPr>
          <p:txBody>
            <a:bodyPr wrap="square" tIns="0" bIns="3600" rtlCol="0">
              <a:spAutoFit/>
            </a:bodyPr>
            <a:lstStyle/>
            <a:p>
              <a:pPr algn="ctr"/>
              <a:r>
                <a:rPr lang="en-US" sz="2400" dirty="0" smtClean="0">
                  <a:solidFill>
                    <a:schemeClr val="bg1"/>
                  </a:solidFill>
                  <a:latin typeface="+mj-lt"/>
                </a:rPr>
                <a:t>02</a:t>
              </a:r>
              <a:endParaRPr lang="en-US" sz="2400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1007704" y="2859782"/>
            <a:ext cx="900000" cy="864000"/>
            <a:chOff x="1962488" y="2625950"/>
            <a:chExt cx="973589" cy="917700"/>
          </a:xfrm>
        </p:grpSpPr>
        <p:grpSp>
          <p:nvGrpSpPr>
            <p:cNvPr id="144" name="Group 38"/>
            <p:cNvGrpSpPr/>
            <p:nvPr/>
          </p:nvGrpSpPr>
          <p:grpSpPr>
            <a:xfrm>
              <a:off x="1962488" y="2625950"/>
              <a:ext cx="973589" cy="917700"/>
              <a:chOff x="3435697" y="1762781"/>
              <a:chExt cx="2790385" cy="2841564"/>
            </a:xfrm>
          </p:grpSpPr>
          <p:grpSp>
            <p:nvGrpSpPr>
              <p:cNvPr id="146" name="组合 79"/>
              <p:cNvGrpSpPr/>
              <p:nvPr/>
            </p:nvGrpSpPr>
            <p:grpSpPr>
              <a:xfrm>
                <a:off x="3435697" y="1762781"/>
                <a:ext cx="2790385" cy="2841564"/>
                <a:chOff x="6148381" y="2506882"/>
                <a:chExt cx="2513020" cy="2553947"/>
              </a:xfrm>
            </p:grpSpPr>
            <p:sp>
              <p:nvSpPr>
                <p:cNvPr id="148" name="任意多边形 82"/>
                <p:cNvSpPr/>
                <p:nvPr/>
              </p:nvSpPr>
              <p:spPr>
                <a:xfrm rot="3738964">
                  <a:off x="6148382" y="2547810"/>
                  <a:ext cx="2513018" cy="2513020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srgbClr val="FFFFFF"/>
                    </a:solidFill>
                    <a:latin typeface="Arial" panose="020B060402020202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9" name="任意多边形 83"/>
                <p:cNvSpPr/>
                <p:nvPr/>
              </p:nvSpPr>
              <p:spPr>
                <a:xfrm rot="16377237">
                  <a:off x="6167323" y="2506885"/>
                  <a:ext cx="2476801" cy="2476795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147" name="椭圆 80"/>
              <p:cNvSpPr/>
              <p:nvPr/>
            </p:nvSpPr>
            <p:spPr bwMode="auto">
              <a:xfrm>
                <a:off x="3869423" y="2246190"/>
                <a:ext cx="2016473" cy="2020561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145" name="Picture 5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0629" y="2943835"/>
              <a:ext cx="379137" cy="350937"/>
            </a:xfrm>
            <a:prstGeom prst="rect">
              <a:avLst/>
            </a:prstGeom>
          </p:spPr>
        </p:pic>
      </p:grpSp>
      <p:grpSp>
        <p:nvGrpSpPr>
          <p:cNvPr id="150" name="组合 149"/>
          <p:cNvGrpSpPr/>
          <p:nvPr/>
        </p:nvGrpSpPr>
        <p:grpSpPr>
          <a:xfrm>
            <a:off x="3407049" y="2874598"/>
            <a:ext cx="900000" cy="864000"/>
            <a:chOff x="4346135" y="2618172"/>
            <a:chExt cx="973585" cy="902992"/>
          </a:xfrm>
        </p:grpSpPr>
        <p:grpSp>
          <p:nvGrpSpPr>
            <p:cNvPr id="151" name="Group 43"/>
            <p:cNvGrpSpPr/>
            <p:nvPr/>
          </p:nvGrpSpPr>
          <p:grpSpPr>
            <a:xfrm>
              <a:off x="4346135" y="2618172"/>
              <a:ext cx="973585" cy="902992"/>
              <a:chOff x="3692576" y="1742634"/>
              <a:chExt cx="2790379" cy="2796023"/>
            </a:xfrm>
          </p:grpSpPr>
          <p:grpSp>
            <p:nvGrpSpPr>
              <p:cNvPr id="153" name="组合 79"/>
              <p:cNvGrpSpPr/>
              <p:nvPr/>
            </p:nvGrpSpPr>
            <p:grpSpPr>
              <a:xfrm>
                <a:off x="3692576" y="1742634"/>
                <a:ext cx="2790379" cy="2796023"/>
                <a:chOff x="6379729" y="2488774"/>
                <a:chExt cx="2513016" cy="2513016"/>
              </a:xfrm>
            </p:grpSpPr>
            <p:sp>
              <p:nvSpPr>
                <p:cNvPr id="155" name="任意多边形 82"/>
                <p:cNvSpPr/>
                <p:nvPr/>
              </p:nvSpPr>
              <p:spPr>
                <a:xfrm rot="3738964">
                  <a:off x="6379729" y="2488774"/>
                  <a:ext cx="2513016" cy="2513016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srgbClr val="FFFFFF"/>
                    </a:solidFill>
                    <a:latin typeface="Arial" panose="020B060402020202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6" name="任意多边形 83"/>
                <p:cNvSpPr/>
                <p:nvPr/>
              </p:nvSpPr>
              <p:spPr>
                <a:xfrm rot="16377237">
                  <a:off x="6409518" y="2506881"/>
                  <a:ext cx="2476803" cy="2476800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154" name="椭圆 80"/>
              <p:cNvSpPr/>
              <p:nvPr/>
            </p:nvSpPr>
            <p:spPr bwMode="auto">
              <a:xfrm>
                <a:off x="4101618" y="2137562"/>
                <a:ext cx="2016471" cy="2020558"/>
              </a:xfrm>
              <a:prstGeom prst="ellipse">
                <a:avLst/>
              </a:prstGeom>
              <a:solidFill>
                <a:schemeClr val="accent2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152" name="Picture 5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1504" y="2849609"/>
              <a:ext cx="447035" cy="413784"/>
            </a:xfrm>
            <a:prstGeom prst="rect">
              <a:avLst/>
            </a:prstGeom>
          </p:spPr>
        </p:pic>
      </p:grpSp>
      <p:grpSp>
        <p:nvGrpSpPr>
          <p:cNvPr id="157" name="组合 156"/>
          <p:cNvGrpSpPr/>
          <p:nvPr/>
        </p:nvGrpSpPr>
        <p:grpSpPr>
          <a:xfrm>
            <a:off x="5898317" y="2863364"/>
            <a:ext cx="900000" cy="864000"/>
            <a:chOff x="6659881" y="2665636"/>
            <a:chExt cx="1006425" cy="902991"/>
          </a:xfrm>
        </p:grpSpPr>
        <p:grpSp>
          <p:nvGrpSpPr>
            <p:cNvPr id="158" name="Group 48"/>
            <p:cNvGrpSpPr/>
            <p:nvPr/>
          </p:nvGrpSpPr>
          <p:grpSpPr>
            <a:xfrm>
              <a:off x="6659881" y="2665636"/>
              <a:ext cx="1006425" cy="902991"/>
              <a:chOff x="3499174" y="1840715"/>
              <a:chExt cx="2884502" cy="2796023"/>
            </a:xfrm>
          </p:grpSpPr>
          <p:grpSp>
            <p:nvGrpSpPr>
              <p:cNvPr id="160" name="组合 79"/>
              <p:cNvGrpSpPr/>
              <p:nvPr/>
            </p:nvGrpSpPr>
            <p:grpSpPr>
              <a:xfrm>
                <a:off x="3499174" y="1840715"/>
                <a:ext cx="2884502" cy="2796023"/>
                <a:chOff x="6205545" y="2576927"/>
                <a:chExt cx="2597781" cy="2513016"/>
              </a:xfrm>
            </p:grpSpPr>
            <p:sp>
              <p:nvSpPr>
                <p:cNvPr id="162" name="任意多边形 82"/>
                <p:cNvSpPr/>
                <p:nvPr/>
              </p:nvSpPr>
              <p:spPr>
                <a:xfrm rot="3738964">
                  <a:off x="6205544" y="2576928"/>
                  <a:ext cx="2513016" cy="2513013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srgbClr val="FFFFFF"/>
                    </a:solidFill>
                    <a:latin typeface="Arial" panose="020B060402020202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63" name="任意多边形 83"/>
                <p:cNvSpPr/>
                <p:nvPr/>
              </p:nvSpPr>
              <p:spPr>
                <a:xfrm rot="16377237">
                  <a:off x="6326526" y="2595034"/>
                  <a:ext cx="2476805" cy="2476795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161" name="椭圆 80"/>
              <p:cNvSpPr/>
              <p:nvPr/>
            </p:nvSpPr>
            <p:spPr bwMode="auto">
              <a:xfrm>
                <a:off x="4009468" y="2235641"/>
                <a:ext cx="2016467" cy="2020561"/>
              </a:xfrm>
              <a:prstGeom prst="ellipse">
                <a:avLst/>
              </a:prstGeom>
              <a:solidFill>
                <a:schemeClr val="accent3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159" name="Picture 5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1884" y="2928779"/>
              <a:ext cx="395724" cy="366289"/>
            </a:xfrm>
            <a:prstGeom prst="rect">
              <a:avLst/>
            </a:prstGeom>
          </p:spPr>
        </p:pic>
      </p:grpSp>
      <p:sp>
        <p:nvSpPr>
          <p:cNvPr id="164" name="TextBox 24"/>
          <p:cNvSpPr txBox="1"/>
          <p:nvPr/>
        </p:nvSpPr>
        <p:spPr>
          <a:xfrm>
            <a:off x="2772081" y="4120256"/>
            <a:ext cx="2519999" cy="65024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30000"/>
              </a:lnSpc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子网号在网络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外不可见仅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在网络内部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5" name="Group 6"/>
          <p:cNvGrpSpPr/>
          <p:nvPr/>
        </p:nvGrpSpPr>
        <p:grpSpPr>
          <a:xfrm>
            <a:off x="5145139" y="3753103"/>
            <a:ext cx="2340000" cy="307604"/>
            <a:chOff x="-137640" y="3554568"/>
            <a:chExt cx="4078007" cy="558526"/>
          </a:xfrm>
          <a:solidFill>
            <a:schemeClr val="accent1"/>
          </a:solidFill>
        </p:grpSpPr>
        <p:sp>
          <p:nvSpPr>
            <p:cNvPr id="166" name="Rectangle 7"/>
            <p:cNvSpPr/>
            <p:nvPr/>
          </p:nvSpPr>
          <p:spPr>
            <a:xfrm>
              <a:off x="-137640" y="4001971"/>
              <a:ext cx="4078007" cy="1111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7" name="Rectangle 8"/>
            <p:cNvSpPr/>
            <p:nvPr/>
          </p:nvSpPr>
          <p:spPr>
            <a:xfrm>
              <a:off x="629499" y="3554568"/>
              <a:ext cx="2538703" cy="4507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TextBox 9"/>
            <p:cNvSpPr txBox="1"/>
            <p:nvPr/>
          </p:nvSpPr>
          <p:spPr>
            <a:xfrm>
              <a:off x="637161" y="3557262"/>
              <a:ext cx="2568529" cy="533208"/>
            </a:xfrm>
            <a:prstGeom prst="rect">
              <a:avLst/>
            </a:prstGeom>
            <a:grpFill/>
          </p:spPr>
          <p:txBody>
            <a:bodyPr wrap="square" tIns="3600" bIns="3600" rtlCol="0">
              <a:spAutoFit/>
            </a:bodyPr>
            <a:lstStyle/>
            <a:p>
              <a:pPr algn="ctr"/>
              <a:r>
                <a:rPr lang="en-US" sz="2400" dirty="0" smtClean="0">
                  <a:solidFill>
                    <a:schemeClr val="bg1"/>
                  </a:solidFill>
                  <a:latin typeface="+mj-lt"/>
                </a:rPr>
                <a:t>03</a:t>
              </a:r>
              <a:endParaRPr lang="en-US" sz="2400" dirty="0">
                <a:solidFill>
                  <a:schemeClr val="bg1"/>
                </a:solidFill>
                <a:latin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42" presetClass="path" presetSubtype="0" accel="50000" decel="5000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3.05556E-6 4.89821E-6 L 3.05556E-6 0.1644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2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8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300"/>
                            </p:stCondLst>
                            <p:childTnLst>
                              <p:par>
                                <p:cTn id="6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80136E-6 L 5E-6 0.16502 " pathEditMode="relative" rAng="0" ptsTypes="AA">
                                      <p:cBhvr>
                                        <p:cTn id="6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3.6644E-6 L 5.55556E-7 -0.48335 " pathEditMode="relative" rAng="0" ptsTypes="AA">
                                      <p:cBhvr>
                                        <p:cTn id="157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1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0" grpId="0"/>
      <p:bldP spid="81" grpId="0"/>
      <p:bldP spid="81" grpId="1"/>
      <p:bldP spid="82" grpId="0"/>
      <p:bldP spid="82" grpId="1"/>
      <p:bldP spid="89" grpId="0"/>
      <p:bldP spid="89" grpId="1"/>
      <p:bldP spid="90" grpId="0"/>
      <p:bldP spid="90" grpId="1"/>
      <p:bldP spid="92" grpId="0"/>
      <p:bldP spid="92" grpId="1"/>
      <p:bldP spid="93" grpId="0"/>
      <p:bldP spid="93" grpId="1"/>
      <p:bldP spid="94" grpId="0"/>
      <p:bldP spid="94" grpId="1"/>
      <p:bldP spid="95" grpId="0"/>
      <p:bldP spid="95" grpId="1"/>
      <p:bldP spid="96" grpId="0" animBg="1"/>
      <p:bldP spid="96" grpId="1" animBg="1"/>
      <p:bldP spid="113" grpId="0" animBg="1"/>
      <p:bldP spid="113" grpId="1" animBg="1"/>
      <p:bldP spid="115" grpId="0" animBg="1"/>
      <p:bldP spid="115" grpId="1" animBg="1"/>
      <p:bldP spid="116" grpId="0" animBg="1"/>
      <p:bldP spid="116" grpId="1" animBg="1"/>
      <p:bldP spid="117" grpId="0" animBg="1"/>
      <p:bldP spid="117" grpId="1" animBg="1"/>
      <p:bldP spid="117" grpId="2" animBg="1"/>
      <p:bldP spid="118" grpId="0" animBg="1"/>
      <p:bldP spid="118" grpId="1" animBg="1"/>
      <p:bldP spid="118" grpId="2" animBg="1"/>
      <p:bldP spid="126" grpId="0"/>
      <p:bldP spid="126" grpId="1"/>
      <p:bldP spid="127" grpId="0"/>
      <p:bldP spid="127" grpId="1"/>
      <p:bldP spid="128" grpId="0"/>
      <p:bldP spid="129" grpId="0"/>
      <p:bldP spid="129" grpId="1"/>
      <p:bldP spid="132" grpId="0"/>
      <p:bldP spid="137" grpId="0"/>
      <p:bldP spid="138" grpId="0"/>
      <p:bldP spid="1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 descr="C:\Users\Administrator\Desktop\3afe8fe6bfe17e05fe49e17f29526623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-3114092" y="483518"/>
            <a:ext cx="6228184" cy="4448404"/>
          </a:xfrm>
          <a:prstGeom prst="rect">
            <a:avLst/>
          </a:prstGeom>
          <a:noFill/>
        </p:spPr>
      </p:pic>
      <p:cxnSp>
        <p:nvCxnSpPr>
          <p:cNvPr id="24" name="直接连接符 23"/>
          <p:cNvCxnSpPr/>
          <p:nvPr/>
        </p:nvCxnSpPr>
        <p:spPr>
          <a:xfrm flipV="1">
            <a:off x="4438183" y="1777237"/>
            <a:ext cx="0" cy="142041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3"/>
          <p:cNvSpPr txBox="1"/>
          <p:nvPr/>
        </p:nvSpPr>
        <p:spPr>
          <a:xfrm>
            <a:off x="3184399" y="2951483"/>
            <a:ext cx="902574" cy="2461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</a:t>
            </a:r>
            <a:r>
              <a:rPr lang="en-US" altLang="zh-CN" sz="1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zh-CN" altLang="en-US" sz="1600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3059832" y="1773997"/>
            <a:ext cx="1004222" cy="10042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80808"/>
              </a:solidFill>
              <a:latin typeface="宋体" panose="02010600030101010101" pitchFamily="2" charset="-122"/>
            </a:endParaRPr>
          </a:p>
        </p:txBody>
      </p:sp>
      <p:sp>
        <p:nvSpPr>
          <p:cNvPr id="31" name="TextBox 13"/>
          <p:cNvSpPr txBox="1"/>
          <p:nvPr/>
        </p:nvSpPr>
        <p:spPr>
          <a:xfrm>
            <a:off x="3214460" y="1895094"/>
            <a:ext cx="902574" cy="7692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5000" b="1" dirty="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zh-CN" altLang="en-US" sz="5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4572909" y="1875352"/>
            <a:ext cx="2002021" cy="742765"/>
          </a:xfrm>
          <a:prstGeom prst="rect">
            <a:avLst/>
          </a:prstGeom>
          <a:noFill/>
        </p:spPr>
        <p:txBody>
          <a:bodyPr wrap="none" lIns="65023" tIns="32511" rIns="65023" bIns="32511" rtlCol="0">
            <a:spAutoFit/>
          </a:bodyPr>
          <a:lstStyle/>
          <a:p>
            <a:pPr marL="0" lvl="1"/>
            <a:r>
              <a:rPr lang="zh-CN" altLang="en-US" sz="1400" b="1" dirty="0">
                <a:solidFill>
                  <a:srgbClr val="73C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 smtClean="0">
                <a:solidFill>
                  <a:srgbClr val="73C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zh-CN" altLang="en-US" sz="2000" b="1" dirty="0">
                <a:solidFill>
                  <a:srgbClr val="73C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zh-CN" altLang="en-US" sz="2000" b="1" dirty="0" smtClean="0">
                <a:solidFill>
                  <a:srgbClr val="73C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en-US" altLang="zh-CN" sz="2000" b="1" dirty="0">
              <a:solidFill>
                <a:srgbClr val="73C8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/>
            <a:r>
              <a:rPr lang="zh-CN" altLang="en-US" sz="2400" b="1" dirty="0" smtClean="0">
                <a:solidFill>
                  <a:srgbClr val="C68F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子网掩码</a:t>
            </a:r>
            <a:endParaRPr lang="en-US" altLang="zh-CN" sz="2400" b="1" dirty="0">
              <a:solidFill>
                <a:srgbClr val="C68F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8" grpId="0" animBg="1"/>
      <p:bldP spid="31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3478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19" y="132850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043609" y="221612"/>
            <a:ext cx="1656184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子网掩码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8" name="íşlïḍè"/>
          <p:cNvSpPr txBox="1"/>
          <p:nvPr/>
        </p:nvSpPr>
        <p:spPr>
          <a:xfrm>
            <a:off x="229107" y="660353"/>
            <a:ext cx="2536786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）子网掩码的概念</a:t>
            </a:r>
            <a:endParaRPr lang="en-US" altLang="zh-CN" dirty="0">
              <a:solidFill>
                <a:srgbClr val="000000"/>
              </a:solidFill>
              <a:latin typeface="Arial Narrow" panose="020B0606020202030204"/>
              <a:ea typeface="微软雅黑" panose="020B0503020204020204" pitchFamily="34" charset="-122"/>
            </a:endParaRPr>
          </a:p>
        </p:txBody>
      </p:sp>
      <p:sp>
        <p:nvSpPr>
          <p:cNvPr id="242" name="TextBox 241"/>
          <p:cNvSpPr txBox="1"/>
          <p:nvPr/>
        </p:nvSpPr>
        <p:spPr>
          <a:xfrm>
            <a:off x="229106" y="1000637"/>
            <a:ext cx="8591366" cy="681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子网掩码是一种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位掩码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，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每一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位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子网掩码对应一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位</a:t>
            </a:r>
            <a:r>
              <a:rPr lang="en-US" altLang="zh-CN" sz="1600" b="1" dirty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600" b="1" dirty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，用来指明一个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</a:t>
            </a: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中哪些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位标识的是主机所在的子网，哪些位标识的是</a:t>
            </a: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主机。</a:t>
            </a:r>
            <a:endParaRPr lang="en-US" altLang="zh-CN" sz="1600" dirty="0" smtClean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51" name="矩形 250"/>
          <p:cNvSpPr/>
          <p:nvPr/>
        </p:nvSpPr>
        <p:spPr>
          <a:xfrm>
            <a:off x="404159" y="1779915"/>
            <a:ext cx="864095" cy="270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比特</a:t>
            </a:r>
            <a:r>
              <a:rPr lang="en-US" altLang="zh-CN" sz="16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2628250" y="1780550"/>
            <a:ext cx="864095" cy="270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比特</a:t>
            </a:r>
            <a:r>
              <a:rPr lang="en-US" altLang="zh-CN" sz="14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0</a:t>
            </a:r>
            <a:endParaRPr kumimoji="0" lang="zh-CN" altLang="en-US" sz="14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" name="上箭头 5"/>
          <p:cNvSpPr/>
          <p:nvPr/>
        </p:nvSpPr>
        <p:spPr>
          <a:xfrm>
            <a:off x="681436" y="1563962"/>
            <a:ext cx="180000" cy="180000"/>
          </a:xfrm>
          <a:prstGeom prst="upArrow">
            <a:avLst/>
          </a:prstGeom>
          <a:solidFill>
            <a:srgbClr val="2D7FAE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7" name="上箭头 256"/>
          <p:cNvSpPr/>
          <p:nvPr/>
        </p:nvSpPr>
        <p:spPr>
          <a:xfrm>
            <a:off x="2915687" y="1564234"/>
            <a:ext cx="180000" cy="180000"/>
          </a:xfrm>
          <a:prstGeom prst="upArrow">
            <a:avLst/>
          </a:prstGeom>
          <a:solidFill>
            <a:srgbClr val="EBAC07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200533" y="2107136"/>
            <a:ext cx="8640000" cy="25324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51751" y="2609072"/>
            <a:ext cx="343841" cy="361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1751" y="3382406"/>
            <a:ext cx="330436" cy="361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8784" y="4174494"/>
            <a:ext cx="328760" cy="361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kumimoji="0" lang="zh-CN" altLang="en-US" sz="1500" b="1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25795" y="2336444"/>
            <a:ext cx="4362714" cy="617858"/>
            <a:chOff x="525795" y="2069380"/>
            <a:chExt cx="4362714" cy="617858"/>
          </a:xfrm>
        </p:grpSpPr>
        <p:sp>
          <p:nvSpPr>
            <p:cNvPr id="16" name="矩形 15"/>
            <p:cNvSpPr/>
            <p:nvPr/>
          </p:nvSpPr>
          <p:spPr>
            <a:xfrm>
              <a:off x="1629009" y="2333435"/>
              <a:ext cx="32595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/>
              <a:endParaRPr lang="zh-CN" altLang="en-US" sz="1500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525795" y="2333435"/>
              <a:ext cx="1103215" cy="288000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/>
              <a:endParaRPr lang="zh-CN" altLang="en-US" sz="1500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26379" y="2323682"/>
              <a:ext cx="796262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网络号</a:t>
              </a:r>
              <a:endPara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26672" y="2076358"/>
              <a:ext cx="511404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kumimoji="0" lang="zh-CN" altLang="en-US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033102" y="2069380"/>
              <a:ext cx="628699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24</a:t>
              </a:r>
              <a:r>
                <a:rPr kumimoji="0" lang="zh-CN" altLang="en-US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894891" y="2325251"/>
              <a:ext cx="796262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主机号</a:t>
              </a:r>
              <a:endPara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18189" y="3122663"/>
            <a:ext cx="4362714" cy="627934"/>
            <a:chOff x="525795" y="2741522"/>
            <a:chExt cx="4362714" cy="627934"/>
          </a:xfrm>
        </p:grpSpPr>
        <p:sp>
          <p:nvSpPr>
            <p:cNvPr id="23" name="矩形 22"/>
            <p:cNvSpPr/>
            <p:nvPr/>
          </p:nvSpPr>
          <p:spPr>
            <a:xfrm>
              <a:off x="2501576" y="3013409"/>
              <a:ext cx="2386933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/>
              <a:endParaRPr lang="zh-CN" altLang="en-US" sz="1500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525795" y="3012332"/>
              <a:ext cx="1975781" cy="288000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/>
              <a:endParaRPr lang="zh-CN" altLang="en-US" sz="1500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157976" y="3007469"/>
              <a:ext cx="796262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网络号</a:t>
              </a:r>
              <a:endPara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227841" y="2741522"/>
              <a:ext cx="628699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r>
                <a:rPr kumimoji="0" lang="zh-CN" altLang="en-US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333980" y="2757240"/>
              <a:ext cx="628699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r>
                <a:rPr kumimoji="0" lang="zh-CN" altLang="en-US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326833" y="3000046"/>
              <a:ext cx="796262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主机号</a:t>
              </a:r>
              <a:endPara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97317" y="3898334"/>
            <a:ext cx="4362715" cy="605811"/>
            <a:chOff x="525794" y="3446602"/>
            <a:chExt cx="4362715" cy="605811"/>
          </a:xfrm>
        </p:grpSpPr>
        <p:sp>
          <p:nvSpPr>
            <p:cNvPr id="30" name="矩形 29"/>
            <p:cNvSpPr/>
            <p:nvPr/>
          </p:nvSpPr>
          <p:spPr>
            <a:xfrm>
              <a:off x="3789923" y="3714117"/>
              <a:ext cx="1098586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/>
              <a:endParaRPr lang="zh-CN" altLang="en-US" sz="1500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525794" y="3712898"/>
              <a:ext cx="3264129" cy="288000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algn="ctr" defTabSz="914400"/>
              <a:endParaRPr lang="zh-CN" altLang="en-US" sz="1500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840351" y="3688263"/>
              <a:ext cx="796262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网络号</a:t>
              </a:r>
              <a:endPara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829594" y="3446602"/>
              <a:ext cx="628699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24</a:t>
              </a:r>
              <a:r>
                <a:rPr kumimoji="0" lang="zh-CN" altLang="en-US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036025" y="3449740"/>
              <a:ext cx="511404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kumimoji="0" lang="zh-CN" altLang="en-US" sz="15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位</a:t>
              </a:r>
              <a:endParaRPr kumimoji="0" lang="zh-CN" altLang="en-US" sz="15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935732" y="3690426"/>
              <a:ext cx="796262" cy="3619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5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主机号</a:t>
              </a:r>
              <a:endPara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495592" y="2844879"/>
            <a:ext cx="4540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7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11111111</a:t>
            </a:r>
            <a:r>
              <a:rPr lang="en-US" altLang="zh-CN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.00000000.00000000.00000000</a:t>
            </a:r>
            <a:endParaRPr lang="zh-CN" altLang="en-US" dirty="0">
              <a:solidFill>
                <a:srgbClr val="FF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2187" y="3650030"/>
            <a:ext cx="4540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2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11111111.11111111</a:t>
            </a:r>
            <a:r>
              <a:rPr lang="en-US" altLang="zh-CN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.</a:t>
            </a:r>
            <a:r>
              <a:rPr lang="en-US" altLang="zh-CN" spc="5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00000000.0000000</a:t>
            </a:r>
            <a:r>
              <a:rPr lang="en-US" altLang="zh-CN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</a:t>
            </a:r>
            <a:endParaRPr lang="zh-CN" altLang="en-US" dirty="0">
              <a:solidFill>
                <a:srgbClr val="FF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5536" y="4409406"/>
            <a:ext cx="4540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11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11111111.11111111.11111111</a:t>
            </a:r>
            <a:r>
              <a:rPr lang="en-US" altLang="zh-CN" spc="1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.</a:t>
            </a:r>
            <a:r>
              <a:rPr lang="en-US" altLang="zh-CN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00000000</a:t>
            </a:r>
            <a:endParaRPr lang="zh-CN" altLang="en-US" dirty="0">
              <a:solidFill>
                <a:srgbClr val="FF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9" name="右箭头 38"/>
          <p:cNvSpPr/>
          <p:nvPr/>
        </p:nvSpPr>
        <p:spPr>
          <a:xfrm>
            <a:off x="4842769" y="2930071"/>
            <a:ext cx="360040" cy="186415"/>
          </a:xfrm>
          <a:prstGeom prst="rightArrow">
            <a:avLst/>
          </a:prstGeom>
          <a:solidFill>
            <a:srgbClr val="2D7FAE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292080" y="2801812"/>
            <a:ext cx="1643121" cy="360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255.0.0.0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1" name="右箭头 40"/>
          <p:cNvSpPr/>
          <p:nvPr/>
        </p:nvSpPr>
        <p:spPr>
          <a:xfrm>
            <a:off x="4831654" y="3744575"/>
            <a:ext cx="360040" cy="186415"/>
          </a:xfrm>
          <a:prstGeom prst="rightArrow">
            <a:avLst/>
          </a:prstGeom>
          <a:solidFill>
            <a:srgbClr val="2D7FAE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280966" y="3606963"/>
            <a:ext cx="1654235" cy="360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255.255.0.0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" name="右箭头 42"/>
          <p:cNvSpPr/>
          <p:nvPr/>
        </p:nvSpPr>
        <p:spPr>
          <a:xfrm>
            <a:off x="4832279" y="4487389"/>
            <a:ext cx="360040" cy="186415"/>
          </a:xfrm>
          <a:prstGeom prst="rightArrow">
            <a:avLst/>
          </a:prstGeom>
          <a:solidFill>
            <a:srgbClr val="2D7FAE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281591" y="4359862"/>
            <a:ext cx="1653610" cy="360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255.255.255.0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05156" y="2068200"/>
            <a:ext cx="3528400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分类编址的</a:t>
            </a:r>
            <a:r>
              <a:rPr lang="zh-CN" altLang="en-US" sz="1600" b="1" dirty="0">
                <a:solidFill>
                  <a:srgbClr val="034EA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标准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地址的</a:t>
            </a: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掩码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：</a:t>
            </a:r>
            <a:endParaRPr lang="en-US" altLang="zh-CN" sz="1600" dirty="0" smtClean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5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25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25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8" grpId="0"/>
      <p:bldP spid="242" grpId="0"/>
      <p:bldP spid="251" grpId="0" bldLvl="0" animBg="1"/>
      <p:bldP spid="252" grpId="0" bldLvl="0" animBg="1"/>
      <p:bldP spid="6" grpId="0" bldLvl="0" animBg="1"/>
      <p:bldP spid="257" grpId="0" bldLvl="0" animBg="1"/>
      <p:bldP spid="12" grpId="0"/>
      <p:bldP spid="13" grpId="0"/>
      <p:bldP spid="14" grpId="0"/>
      <p:bldP spid="36" grpId="0"/>
      <p:bldP spid="37" grpId="0"/>
      <p:bldP spid="38" grpId="0"/>
      <p:bldP spid="39" grpId="0" bldLvl="0" animBg="1"/>
      <p:bldP spid="40" grpId="0" bldLvl="0" animBg="1"/>
      <p:bldP spid="41" grpId="0" bldLvl="0" animBg="1"/>
      <p:bldP spid="42" grpId="0" bldLvl="0" animBg="1"/>
      <p:bldP spid="43" grpId="0" bldLvl="0" animBg="1"/>
      <p:bldP spid="44" grpId="0" bldLvl="0" animBg="1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3478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19" y="132850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043609" y="221612"/>
            <a:ext cx="1656184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子网掩码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8" name="íşlïḍè"/>
          <p:cNvSpPr txBox="1"/>
          <p:nvPr/>
        </p:nvSpPr>
        <p:spPr>
          <a:xfrm>
            <a:off x="229107" y="660353"/>
            <a:ext cx="2463462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）子网掩码的概念</a:t>
            </a:r>
            <a:endParaRPr lang="en-US" altLang="zh-CN" dirty="0">
              <a:solidFill>
                <a:srgbClr val="000000"/>
              </a:solidFill>
              <a:latin typeface="Arial Narrow" panose="020B0606020202030204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226659" y="1767401"/>
            <a:ext cx="8640000" cy="25324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29107" y="1805788"/>
            <a:ext cx="888880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分析：</a:t>
            </a:r>
            <a:endParaRPr lang="en-US" altLang="zh-CN" sz="1600" dirty="0" smtClean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224" name="组合 223"/>
          <p:cNvGrpSpPr/>
          <p:nvPr/>
        </p:nvGrpSpPr>
        <p:grpSpPr>
          <a:xfrm>
            <a:off x="899592" y="1063353"/>
            <a:ext cx="2153546" cy="599091"/>
            <a:chOff x="1206876" y="1037227"/>
            <a:chExt cx="2251738" cy="599091"/>
          </a:xfrm>
        </p:grpSpPr>
        <p:sp>
          <p:nvSpPr>
            <p:cNvPr id="47" name="圆角矩形 46"/>
            <p:cNvSpPr/>
            <p:nvPr/>
          </p:nvSpPr>
          <p:spPr>
            <a:xfrm>
              <a:off x="1206876" y="1045112"/>
              <a:ext cx="2183444" cy="576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3"/>
                </a:gs>
              </a:gsLst>
              <a:lin ang="5400000" scaled="0"/>
            </a:gradFill>
            <a:ln w="25400" cap="flat" cmpd="sng" algn="ctr">
              <a:solidFill>
                <a:schemeClr val="accent2"/>
              </a:solidFill>
              <a:prstDash val="solid"/>
            </a:ln>
            <a:effectLst>
              <a:outerShdw blurRad="228600" dist="228600" dir="5400000" algn="tr" rotWithShape="0">
                <a:prstClr val="black">
                  <a:alpha val="3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00" ker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grpSp>
          <p:nvGrpSpPr>
            <p:cNvPr id="48" name="组合 47"/>
            <p:cNvGrpSpPr/>
            <p:nvPr/>
          </p:nvGrpSpPr>
          <p:grpSpPr>
            <a:xfrm>
              <a:off x="1357457" y="1119371"/>
              <a:ext cx="439531" cy="414712"/>
              <a:chOff x="2147192" y="2404368"/>
              <a:chExt cx="439531" cy="414712"/>
            </a:xfrm>
          </p:grpSpPr>
          <p:sp>
            <p:nvSpPr>
              <p:cNvPr id="49" name="Freeform 349"/>
              <p:cNvSpPr/>
              <p:nvPr/>
            </p:nvSpPr>
            <p:spPr bwMode="auto">
              <a:xfrm>
                <a:off x="2161458" y="2404368"/>
                <a:ext cx="425265" cy="268332"/>
              </a:xfrm>
              <a:custGeom>
                <a:avLst/>
                <a:gdLst>
                  <a:gd name="T0" fmla="*/ 880 w 921"/>
                  <a:gd name="T1" fmla="*/ 447 h 581"/>
                  <a:gd name="T2" fmla="*/ 879 w 921"/>
                  <a:gd name="T3" fmla="*/ 427 h 581"/>
                  <a:gd name="T4" fmla="*/ 431 w 921"/>
                  <a:gd name="T5" fmla="*/ 0 h 581"/>
                  <a:gd name="T6" fmla="*/ 3 w 921"/>
                  <a:gd name="T7" fmla="*/ 317 h 581"/>
                  <a:gd name="T8" fmla="*/ 0 w 921"/>
                  <a:gd name="T9" fmla="*/ 326 h 581"/>
                  <a:gd name="T10" fmla="*/ 108 w 921"/>
                  <a:gd name="T11" fmla="*/ 326 h 581"/>
                  <a:gd name="T12" fmla="*/ 109 w 921"/>
                  <a:gd name="T13" fmla="*/ 322 h 581"/>
                  <a:gd name="T14" fmla="*/ 431 w 921"/>
                  <a:gd name="T15" fmla="*/ 102 h 581"/>
                  <a:gd name="T16" fmla="*/ 776 w 921"/>
                  <a:gd name="T17" fmla="*/ 424 h 581"/>
                  <a:gd name="T18" fmla="*/ 778 w 921"/>
                  <a:gd name="T19" fmla="*/ 447 h 581"/>
                  <a:gd name="T20" fmla="*/ 729 w 921"/>
                  <a:gd name="T21" fmla="*/ 447 h 581"/>
                  <a:gd name="T22" fmla="*/ 826 w 921"/>
                  <a:gd name="T23" fmla="*/ 581 h 581"/>
                  <a:gd name="T24" fmla="*/ 921 w 921"/>
                  <a:gd name="T25" fmla="*/ 447 h 581"/>
                  <a:gd name="T26" fmla="*/ 880 w 921"/>
                  <a:gd name="T27" fmla="*/ 447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21" h="581">
                    <a:moveTo>
                      <a:pt x="880" y="447"/>
                    </a:moveTo>
                    <a:cubicBezTo>
                      <a:pt x="879" y="427"/>
                      <a:pt x="879" y="427"/>
                      <a:pt x="879" y="427"/>
                    </a:cubicBezTo>
                    <a:cubicBezTo>
                      <a:pt x="867" y="187"/>
                      <a:pt x="670" y="0"/>
                      <a:pt x="431" y="0"/>
                    </a:cubicBezTo>
                    <a:cubicBezTo>
                      <a:pt x="236" y="0"/>
                      <a:pt x="60" y="130"/>
                      <a:pt x="3" y="317"/>
                    </a:cubicBezTo>
                    <a:cubicBezTo>
                      <a:pt x="0" y="326"/>
                      <a:pt x="0" y="326"/>
                      <a:pt x="0" y="326"/>
                    </a:cubicBezTo>
                    <a:cubicBezTo>
                      <a:pt x="108" y="326"/>
                      <a:pt x="108" y="326"/>
                      <a:pt x="108" y="326"/>
                    </a:cubicBezTo>
                    <a:cubicBezTo>
                      <a:pt x="109" y="322"/>
                      <a:pt x="109" y="322"/>
                      <a:pt x="109" y="322"/>
                    </a:cubicBezTo>
                    <a:cubicBezTo>
                      <a:pt x="162" y="188"/>
                      <a:pt x="288" y="102"/>
                      <a:pt x="431" y="102"/>
                    </a:cubicBezTo>
                    <a:cubicBezTo>
                      <a:pt x="612" y="102"/>
                      <a:pt x="763" y="244"/>
                      <a:pt x="776" y="424"/>
                    </a:cubicBezTo>
                    <a:cubicBezTo>
                      <a:pt x="778" y="447"/>
                      <a:pt x="778" y="447"/>
                      <a:pt x="778" y="447"/>
                    </a:cubicBezTo>
                    <a:cubicBezTo>
                      <a:pt x="729" y="447"/>
                      <a:pt x="729" y="447"/>
                      <a:pt x="729" y="447"/>
                    </a:cubicBezTo>
                    <a:cubicBezTo>
                      <a:pt x="826" y="581"/>
                      <a:pt x="826" y="581"/>
                      <a:pt x="826" y="581"/>
                    </a:cubicBezTo>
                    <a:cubicBezTo>
                      <a:pt x="921" y="447"/>
                      <a:pt x="921" y="447"/>
                      <a:pt x="921" y="447"/>
                    </a:cubicBezTo>
                    <a:lnTo>
                      <a:pt x="880" y="44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lt1"/>
                  </a:solidFill>
                </a:endParaRPr>
              </a:p>
            </p:txBody>
          </p:sp>
          <p:sp>
            <p:nvSpPr>
              <p:cNvPr id="50" name="Freeform 350"/>
              <p:cNvSpPr/>
              <p:nvPr/>
            </p:nvSpPr>
            <p:spPr bwMode="auto">
              <a:xfrm>
                <a:off x="2147192" y="2617782"/>
                <a:ext cx="386960" cy="201298"/>
              </a:xfrm>
              <a:custGeom>
                <a:avLst/>
                <a:gdLst>
                  <a:gd name="T0" fmla="*/ 704 w 838"/>
                  <a:gd name="T1" fmla="*/ 235 h 436"/>
                  <a:gd name="T2" fmla="*/ 462 w 838"/>
                  <a:gd name="T3" fmla="*/ 334 h 436"/>
                  <a:gd name="T4" fmla="*/ 166 w 838"/>
                  <a:gd name="T5" fmla="*/ 166 h 436"/>
                  <a:gd name="T6" fmla="*/ 147 w 838"/>
                  <a:gd name="T7" fmla="*/ 134 h 436"/>
                  <a:gd name="T8" fmla="*/ 192 w 838"/>
                  <a:gd name="T9" fmla="*/ 134 h 436"/>
                  <a:gd name="T10" fmla="*/ 95 w 838"/>
                  <a:gd name="T11" fmla="*/ 0 h 436"/>
                  <a:gd name="T12" fmla="*/ 0 w 838"/>
                  <a:gd name="T13" fmla="*/ 134 h 436"/>
                  <a:gd name="T14" fmla="*/ 38 w 838"/>
                  <a:gd name="T15" fmla="*/ 134 h 436"/>
                  <a:gd name="T16" fmla="*/ 43 w 838"/>
                  <a:gd name="T17" fmla="*/ 147 h 436"/>
                  <a:gd name="T18" fmla="*/ 462 w 838"/>
                  <a:gd name="T19" fmla="*/ 436 h 436"/>
                  <a:gd name="T20" fmla="*/ 830 w 838"/>
                  <a:gd name="T21" fmla="*/ 244 h 436"/>
                  <a:gd name="T22" fmla="*/ 838 w 838"/>
                  <a:gd name="T23" fmla="*/ 233 h 436"/>
                  <a:gd name="T24" fmla="*/ 706 w 838"/>
                  <a:gd name="T25" fmla="*/ 233 h 436"/>
                  <a:gd name="T26" fmla="*/ 704 w 838"/>
                  <a:gd name="T27" fmla="*/ 235 h 4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38" h="436">
                    <a:moveTo>
                      <a:pt x="704" y="235"/>
                    </a:moveTo>
                    <a:cubicBezTo>
                      <a:pt x="640" y="298"/>
                      <a:pt x="551" y="334"/>
                      <a:pt x="462" y="334"/>
                    </a:cubicBezTo>
                    <a:cubicBezTo>
                      <a:pt x="342" y="334"/>
                      <a:pt x="228" y="270"/>
                      <a:pt x="166" y="166"/>
                    </a:cubicBezTo>
                    <a:cubicBezTo>
                      <a:pt x="147" y="134"/>
                      <a:pt x="147" y="134"/>
                      <a:pt x="147" y="134"/>
                    </a:cubicBezTo>
                    <a:cubicBezTo>
                      <a:pt x="192" y="134"/>
                      <a:pt x="192" y="134"/>
                      <a:pt x="192" y="134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38" y="134"/>
                      <a:pt x="38" y="134"/>
                      <a:pt x="38" y="134"/>
                    </a:cubicBezTo>
                    <a:cubicBezTo>
                      <a:pt x="43" y="147"/>
                      <a:pt x="43" y="147"/>
                      <a:pt x="43" y="147"/>
                    </a:cubicBezTo>
                    <a:cubicBezTo>
                      <a:pt x="109" y="320"/>
                      <a:pt x="278" y="436"/>
                      <a:pt x="462" y="436"/>
                    </a:cubicBezTo>
                    <a:cubicBezTo>
                      <a:pt x="609" y="436"/>
                      <a:pt x="746" y="364"/>
                      <a:pt x="830" y="244"/>
                    </a:cubicBezTo>
                    <a:cubicBezTo>
                      <a:pt x="838" y="233"/>
                      <a:pt x="838" y="233"/>
                      <a:pt x="838" y="233"/>
                    </a:cubicBezTo>
                    <a:cubicBezTo>
                      <a:pt x="706" y="233"/>
                      <a:pt x="706" y="233"/>
                      <a:pt x="706" y="233"/>
                    </a:cubicBezTo>
                    <a:lnTo>
                      <a:pt x="704" y="23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lt1"/>
                  </a:solidFill>
                </a:endParaRPr>
              </a:p>
            </p:txBody>
          </p:sp>
          <p:sp>
            <p:nvSpPr>
              <p:cNvPr id="51" name="Freeform 351"/>
              <p:cNvSpPr>
                <a:spLocks noEditPoints="1"/>
              </p:cNvSpPr>
              <p:nvPr/>
            </p:nvSpPr>
            <p:spPr bwMode="auto">
              <a:xfrm>
                <a:off x="2228297" y="2486646"/>
                <a:ext cx="260514" cy="254065"/>
              </a:xfrm>
              <a:custGeom>
                <a:avLst/>
                <a:gdLst>
                  <a:gd name="T0" fmla="*/ 0 w 564"/>
                  <a:gd name="T1" fmla="*/ 227 h 550"/>
                  <a:gd name="T2" fmla="*/ 0 w 564"/>
                  <a:gd name="T3" fmla="*/ 327 h 550"/>
                  <a:gd name="T4" fmla="*/ 46 w 564"/>
                  <a:gd name="T5" fmla="*/ 327 h 550"/>
                  <a:gd name="T6" fmla="*/ 80 w 564"/>
                  <a:gd name="T7" fmla="*/ 407 h 550"/>
                  <a:gd name="T8" fmla="*/ 48 w 564"/>
                  <a:gd name="T9" fmla="*/ 439 h 550"/>
                  <a:gd name="T10" fmla="*/ 119 w 564"/>
                  <a:gd name="T11" fmla="*/ 510 h 550"/>
                  <a:gd name="T12" fmla="*/ 151 w 564"/>
                  <a:gd name="T13" fmla="*/ 478 h 550"/>
                  <a:gd name="T14" fmla="*/ 230 w 564"/>
                  <a:gd name="T15" fmla="*/ 511 h 550"/>
                  <a:gd name="T16" fmla="*/ 230 w 564"/>
                  <a:gd name="T17" fmla="*/ 550 h 550"/>
                  <a:gd name="T18" fmla="*/ 330 w 564"/>
                  <a:gd name="T19" fmla="*/ 550 h 550"/>
                  <a:gd name="T20" fmla="*/ 330 w 564"/>
                  <a:gd name="T21" fmla="*/ 512 h 550"/>
                  <a:gd name="T22" fmla="*/ 414 w 564"/>
                  <a:gd name="T23" fmla="*/ 478 h 550"/>
                  <a:gd name="T24" fmla="*/ 444 w 564"/>
                  <a:gd name="T25" fmla="*/ 509 h 550"/>
                  <a:gd name="T26" fmla="*/ 515 w 564"/>
                  <a:gd name="T27" fmla="*/ 438 h 550"/>
                  <a:gd name="T28" fmla="*/ 485 w 564"/>
                  <a:gd name="T29" fmla="*/ 408 h 550"/>
                  <a:gd name="T30" fmla="*/ 520 w 564"/>
                  <a:gd name="T31" fmla="*/ 327 h 550"/>
                  <a:gd name="T32" fmla="*/ 564 w 564"/>
                  <a:gd name="T33" fmla="*/ 327 h 550"/>
                  <a:gd name="T34" fmla="*/ 564 w 564"/>
                  <a:gd name="T35" fmla="*/ 227 h 550"/>
                  <a:gd name="T36" fmla="*/ 521 w 564"/>
                  <a:gd name="T37" fmla="*/ 227 h 550"/>
                  <a:gd name="T38" fmla="*/ 486 w 564"/>
                  <a:gd name="T39" fmla="*/ 143 h 550"/>
                  <a:gd name="T40" fmla="*/ 518 w 564"/>
                  <a:gd name="T41" fmla="*/ 111 h 550"/>
                  <a:gd name="T42" fmla="*/ 447 w 564"/>
                  <a:gd name="T43" fmla="*/ 40 h 550"/>
                  <a:gd name="T44" fmla="*/ 415 w 564"/>
                  <a:gd name="T45" fmla="*/ 72 h 550"/>
                  <a:gd name="T46" fmla="*/ 330 w 564"/>
                  <a:gd name="T47" fmla="*/ 38 h 550"/>
                  <a:gd name="T48" fmla="*/ 330 w 564"/>
                  <a:gd name="T49" fmla="*/ 0 h 550"/>
                  <a:gd name="T50" fmla="*/ 230 w 564"/>
                  <a:gd name="T51" fmla="*/ 0 h 550"/>
                  <a:gd name="T52" fmla="*/ 230 w 564"/>
                  <a:gd name="T53" fmla="*/ 39 h 550"/>
                  <a:gd name="T54" fmla="*/ 150 w 564"/>
                  <a:gd name="T55" fmla="*/ 73 h 550"/>
                  <a:gd name="T56" fmla="*/ 116 w 564"/>
                  <a:gd name="T57" fmla="*/ 39 h 550"/>
                  <a:gd name="T58" fmla="*/ 45 w 564"/>
                  <a:gd name="T59" fmla="*/ 110 h 550"/>
                  <a:gd name="T60" fmla="*/ 79 w 564"/>
                  <a:gd name="T61" fmla="*/ 144 h 550"/>
                  <a:gd name="T62" fmla="*/ 45 w 564"/>
                  <a:gd name="T63" fmla="*/ 227 h 550"/>
                  <a:gd name="T64" fmla="*/ 0 w 564"/>
                  <a:gd name="T65" fmla="*/ 227 h 550"/>
                  <a:gd name="T66" fmla="*/ 283 w 564"/>
                  <a:gd name="T67" fmla="*/ 104 h 550"/>
                  <a:gd name="T68" fmla="*/ 456 w 564"/>
                  <a:gd name="T69" fmla="*/ 275 h 550"/>
                  <a:gd name="T70" fmla="*/ 283 w 564"/>
                  <a:gd name="T71" fmla="*/ 446 h 550"/>
                  <a:gd name="T72" fmla="*/ 110 w 564"/>
                  <a:gd name="T73" fmla="*/ 275 h 550"/>
                  <a:gd name="T74" fmla="*/ 283 w 564"/>
                  <a:gd name="T75" fmla="*/ 104 h 5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564" h="550">
                    <a:moveTo>
                      <a:pt x="0" y="227"/>
                    </a:moveTo>
                    <a:cubicBezTo>
                      <a:pt x="0" y="327"/>
                      <a:pt x="0" y="327"/>
                      <a:pt x="0" y="327"/>
                    </a:cubicBezTo>
                    <a:cubicBezTo>
                      <a:pt x="46" y="327"/>
                      <a:pt x="46" y="327"/>
                      <a:pt x="46" y="327"/>
                    </a:cubicBezTo>
                    <a:cubicBezTo>
                      <a:pt x="52" y="356"/>
                      <a:pt x="64" y="383"/>
                      <a:pt x="80" y="407"/>
                    </a:cubicBezTo>
                    <a:cubicBezTo>
                      <a:pt x="48" y="439"/>
                      <a:pt x="48" y="439"/>
                      <a:pt x="48" y="439"/>
                    </a:cubicBezTo>
                    <a:cubicBezTo>
                      <a:pt x="119" y="510"/>
                      <a:pt x="119" y="510"/>
                      <a:pt x="119" y="510"/>
                    </a:cubicBezTo>
                    <a:cubicBezTo>
                      <a:pt x="151" y="478"/>
                      <a:pt x="151" y="478"/>
                      <a:pt x="151" y="478"/>
                    </a:cubicBezTo>
                    <a:cubicBezTo>
                      <a:pt x="175" y="493"/>
                      <a:pt x="202" y="504"/>
                      <a:pt x="230" y="511"/>
                    </a:cubicBezTo>
                    <a:cubicBezTo>
                      <a:pt x="230" y="550"/>
                      <a:pt x="230" y="550"/>
                      <a:pt x="230" y="550"/>
                    </a:cubicBezTo>
                    <a:cubicBezTo>
                      <a:pt x="330" y="550"/>
                      <a:pt x="330" y="550"/>
                      <a:pt x="330" y="550"/>
                    </a:cubicBezTo>
                    <a:cubicBezTo>
                      <a:pt x="330" y="512"/>
                      <a:pt x="330" y="512"/>
                      <a:pt x="330" y="512"/>
                    </a:cubicBezTo>
                    <a:cubicBezTo>
                      <a:pt x="360" y="506"/>
                      <a:pt x="389" y="494"/>
                      <a:pt x="414" y="478"/>
                    </a:cubicBezTo>
                    <a:cubicBezTo>
                      <a:pt x="444" y="509"/>
                      <a:pt x="444" y="509"/>
                      <a:pt x="444" y="509"/>
                    </a:cubicBezTo>
                    <a:cubicBezTo>
                      <a:pt x="515" y="438"/>
                      <a:pt x="515" y="438"/>
                      <a:pt x="515" y="438"/>
                    </a:cubicBezTo>
                    <a:cubicBezTo>
                      <a:pt x="485" y="408"/>
                      <a:pt x="485" y="408"/>
                      <a:pt x="485" y="408"/>
                    </a:cubicBezTo>
                    <a:cubicBezTo>
                      <a:pt x="502" y="384"/>
                      <a:pt x="514" y="356"/>
                      <a:pt x="520" y="327"/>
                    </a:cubicBezTo>
                    <a:cubicBezTo>
                      <a:pt x="564" y="327"/>
                      <a:pt x="564" y="327"/>
                      <a:pt x="564" y="327"/>
                    </a:cubicBezTo>
                    <a:cubicBezTo>
                      <a:pt x="564" y="227"/>
                      <a:pt x="564" y="227"/>
                      <a:pt x="564" y="227"/>
                    </a:cubicBezTo>
                    <a:cubicBezTo>
                      <a:pt x="521" y="227"/>
                      <a:pt x="521" y="227"/>
                      <a:pt x="521" y="227"/>
                    </a:cubicBezTo>
                    <a:cubicBezTo>
                      <a:pt x="515" y="196"/>
                      <a:pt x="503" y="168"/>
                      <a:pt x="486" y="143"/>
                    </a:cubicBezTo>
                    <a:cubicBezTo>
                      <a:pt x="518" y="111"/>
                      <a:pt x="518" y="111"/>
                      <a:pt x="518" y="111"/>
                    </a:cubicBezTo>
                    <a:cubicBezTo>
                      <a:pt x="447" y="40"/>
                      <a:pt x="447" y="40"/>
                      <a:pt x="447" y="40"/>
                    </a:cubicBezTo>
                    <a:cubicBezTo>
                      <a:pt x="415" y="72"/>
                      <a:pt x="415" y="72"/>
                      <a:pt x="415" y="72"/>
                    </a:cubicBezTo>
                    <a:cubicBezTo>
                      <a:pt x="389" y="56"/>
                      <a:pt x="361" y="44"/>
                      <a:pt x="330" y="38"/>
                    </a:cubicBezTo>
                    <a:cubicBezTo>
                      <a:pt x="330" y="0"/>
                      <a:pt x="330" y="0"/>
                      <a:pt x="330" y="0"/>
                    </a:cubicBezTo>
                    <a:cubicBezTo>
                      <a:pt x="230" y="0"/>
                      <a:pt x="230" y="0"/>
                      <a:pt x="230" y="0"/>
                    </a:cubicBezTo>
                    <a:cubicBezTo>
                      <a:pt x="230" y="39"/>
                      <a:pt x="230" y="39"/>
                      <a:pt x="230" y="39"/>
                    </a:cubicBezTo>
                    <a:cubicBezTo>
                      <a:pt x="201" y="46"/>
                      <a:pt x="174" y="57"/>
                      <a:pt x="150" y="73"/>
                    </a:cubicBezTo>
                    <a:cubicBezTo>
                      <a:pt x="116" y="39"/>
                      <a:pt x="116" y="39"/>
                      <a:pt x="116" y="39"/>
                    </a:cubicBezTo>
                    <a:cubicBezTo>
                      <a:pt x="45" y="110"/>
                      <a:pt x="45" y="110"/>
                      <a:pt x="45" y="110"/>
                    </a:cubicBezTo>
                    <a:cubicBezTo>
                      <a:pt x="79" y="144"/>
                      <a:pt x="79" y="144"/>
                      <a:pt x="79" y="144"/>
                    </a:cubicBezTo>
                    <a:cubicBezTo>
                      <a:pt x="63" y="169"/>
                      <a:pt x="51" y="197"/>
                      <a:pt x="45" y="227"/>
                    </a:cubicBezTo>
                    <a:lnTo>
                      <a:pt x="0" y="227"/>
                    </a:lnTo>
                    <a:close/>
                    <a:moveTo>
                      <a:pt x="283" y="104"/>
                    </a:moveTo>
                    <a:cubicBezTo>
                      <a:pt x="378" y="104"/>
                      <a:pt x="456" y="181"/>
                      <a:pt x="456" y="275"/>
                    </a:cubicBezTo>
                    <a:cubicBezTo>
                      <a:pt x="456" y="369"/>
                      <a:pt x="378" y="446"/>
                      <a:pt x="283" y="446"/>
                    </a:cubicBezTo>
                    <a:cubicBezTo>
                      <a:pt x="188" y="446"/>
                      <a:pt x="110" y="369"/>
                      <a:pt x="110" y="275"/>
                    </a:cubicBezTo>
                    <a:cubicBezTo>
                      <a:pt x="110" y="181"/>
                      <a:pt x="188" y="104"/>
                      <a:pt x="283" y="10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lt1"/>
                  </a:solidFill>
                </a:endParaRPr>
              </a:p>
            </p:txBody>
          </p:sp>
          <p:sp>
            <p:nvSpPr>
              <p:cNvPr id="52" name="Freeform 352"/>
              <p:cNvSpPr>
                <a:spLocks noEditPoints="1"/>
              </p:cNvSpPr>
              <p:nvPr/>
            </p:nvSpPr>
            <p:spPr bwMode="auto">
              <a:xfrm>
                <a:off x="2360636" y="2554071"/>
                <a:ext cx="120583" cy="119606"/>
              </a:xfrm>
              <a:custGeom>
                <a:avLst/>
                <a:gdLst>
                  <a:gd name="T0" fmla="*/ 131 w 261"/>
                  <a:gd name="T1" fmla="*/ 259 h 259"/>
                  <a:gd name="T2" fmla="*/ 261 w 261"/>
                  <a:gd name="T3" fmla="*/ 129 h 259"/>
                  <a:gd name="T4" fmla="*/ 131 w 261"/>
                  <a:gd name="T5" fmla="*/ 0 h 259"/>
                  <a:gd name="T6" fmla="*/ 0 w 261"/>
                  <a:gd name="T7" fmla="*/ 129 h 259"/>
                  <a:gd name="T8" fmla="*/ 131 w 261"/>
                  <a:gd name="T9" fmla="*/ 259 h 259"/>
                  <a:gd name="T10" fmla="*/ 131 w 261"/>
                  <a:gd name="T11" fmla="*/ 42 h 259"/>
                  <a:gd name="T12" fmla="*/ 219 w 261"/>
                  <a:gd name="T13" fmla="*/ 129 h 259"/>
                  <a:gd name="T14" fmla="*/ 131 w 261"/>
                  <a:gd name="T15" fmla="*/ 217 h 259"/>
                  <a:gd name="T16" fmla="*/ 42 w 261"/>
                  <a:gd name="T17" fmla="*/ 129 h 259"/>
                  <a:gd name="T18" fmla="*/ 131 w 261"/>
                  <a:gd name="T19" fmla="*/ 42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1" h="259">
                    <a:moveTo>
                      <a:pt x="131" y="259"/>
                    </a:moveTo>
                    <a:cubicBezTo>
                      <a:pt x="203" y="259"/>
                      <a:pt x="261" y="201"/>
                      <a:pt x="261" y="129"/>
                    </a:cubicBezTo>
                    <a:cubicBezTo>
                      <a:pt x="261" y="58"/>
                      <a:pt x="203" y="0"/>
                      <a:pt x="131" y="0"/>
                    </a:cubicBezTo>
                    <a:cubicBezTo>
                      <a:pt x="58" y="0"/>
                      <a:pt x="0" y="58"/>
                      <a:pt x="0" y="129"/>
                    </a:cubicBezTo>
                    <a:cubicBezTo>
                      <a:pt x="0" y="201"/>
                      <a:pt x="58" y="259"/>
                      <a:pt x="131" y="259"/>
                    </a:cubicBezTo>
                    <a:close/>
                    <a:moveTo>
                      <a:pt x="131" y="42"/>
                    </a:moveTo>
                    <a:cubicBezTo>
                      <a:pt x="179" y="42"/>
                      <a:pt x="219" y="81"/>
                      <a:pt x="219" y="129"/>
                    </a:cubicBezTo>
                    <a:cubicBezTo>
                      <a:pt x="219" y="177"/>
                      <a:pt x="179" y="217"/>
                      <a:pt x="131" y="217"/>
                    </a:cubicBezTo>
                    <a:cubicBezTo>
                      <a:pt x="82" y="217"/>
                      <a:pt x="42" y="177"/>
                      <a:pt x="42" y="129"/>
                    </a:cubicBezTo>
                    <a:cubicBezTo>
                      <a:pt x="42" y="81"/>
                      <a:pt x="82" y="42"/>
                      <a:pt x="131" y="4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lt1"/>
                  </a:solidFill>
                </a:endParaRPr>
              </a:p>
            </p:txBody>
          </p:sp>
          <p:sp>
            <p:nvSpPr>
              <p:cNvPr id="53" name="Oval 353"/>
              <p:cNvSpPr>
                <a:spLocks noChangeArrowheads="1"/>
              </p:cNvSpPr>
              <p:nvPr/>
            </p:nvSpPr>
            <p:spPr bwMode="auto">
              <a:xfrm>
                <a:off x="2399527" y="2592767"/>
                <a:ext cx="42800" cy="4162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54" name="矩形 53"/>
            <p:cNvSpPr/>
            <p:nvPr/>
          </p:nvSpPr>
          <p:spPr>
            <a:xfrm>
              <a:off x="1539175" y="1299133"/>
              <a:ext cx="1919439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kern="0" cap="all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168.16.1.1</a:t>
              </a:r>
              <a:endParaRPr lang="en-US" altLang="zh-CN" sz="1600" b="1" kern="0" cap="all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1717381" y="1037227"/>
              <a:ext cx="1672939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kern="0" cap="all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lang="zh-CN" altLang="en-US" sz="1600" b="1" kern="0" cap="all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</a:t>
              </a:r>
              <a:endParaRPr lang="en-US" altLang="zh-CN" sz="1600" b="1" kern="0" cap="all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987824" y="1050735"/>
            <a:ext cx="2350138" cy="608078"/>
            <a:chOff x="4074161" y="1013700"/>
            <a:chExt cx="2350138" cy="608078"/>
          </a:xfrm>
        </p:grpSpPr>
        <p:sp>
          <p:nvSpPr>
            <p:cNvPr id="55" name="圆角矩形 54"/>
            <p:cNvSpPr/>
            <p:nvPr/>
          </p:nvSpPr>
          <p:spPr>
            <a:xfrm>
              <a:off x="4074161" y="1045778"/>
              <a:ext cx="2350138" cy="576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25400" cap="flat" cmpd="sng" algn="ctr">
              <a:gradFill flip="none" rotWithShape="1">
                <a:gsLst>
                  <a:gs pos="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18900000" scaled="1"/>
              </a:gradFill>
              <a:prstDash val="solid"/>
            </a:ln>
            <a:effectLst>
              <a:outerShdw blurRad="228600" dist="228600" dir="5400000" algn="tr" rotWithShape="0">
                <a:prstClr val="black">
                  <a:alpha val="3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00" ker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4398083" y="1282280"/>
              <a:ext cx="2026216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kern="0" cap="all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600" b="1" kern="0" cap="all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255.255.255.0</a:t>
              </a:r>
              <a:endParaRPr lang="zh-CN" altLang="en-US" sz="1600" b="1" kern="0" cap="all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4218177" y="1108791"/>
              <a:ext cx="352927" cy="475733"/>
              <a:chOff x="3643428" y="3603423"/>
              <a:chExt cx="500321" cy="674412"/>
            </a:xfrm>
            <a:solidFill>
              <a:schemeClr val="bg1"/>
            </a:solidFill>
          </p:grpSpPr>
          <p:sp>
            <p:nvSpPr>
              <p:cNvPr id="58" name="Freeform 27"/>
              <p:cNvSpPr>
                <a:spLocks noEditPoints="1"/>
              </p:cNvSpPr>
              <p:nvPr/>
            </p:nvSpPr>
            <p:spPr bwMode="auto">
              <a:xfrm>
                <a:off x="3739982" y="4092775"/>
                <a:ext cx="306118" cy="185060"/>
              </a:xfrm>
              <a:custGeom>
                <a:avLst/>
                <a:gdLst>
                  <a:gd name="T0" fmla="*/ 317 w 354"/>
                  <a:gd name="T1" fmla="*/ 5 h 214"/>
                  <a:gd name="T2" fmla="*/ 354 w 354"/>
                  <a:gd name="T3" fmla="*/ 186 h 214"/>
                  <a:gd name="T4" fmla="*/ 294 w 354"/>
                  <a:gd name="T5" fmla="*/ 171 h 214"/>
                  <a:gd name="T6" fmla="*/ 250 w 354"/>
                  <a:gd name="T7" fmla="*/ 214 h 214"/>
                  <a:gd name="T8" fmla="*/ 215 w 354"/>
                  <a:gd name="T9" fmla="*/ 44 h 214"/>
                  <a:gd name="T10" fmla="*/ 230 w 354"/>
                  <a:gd name="T11" fmla="*/ 46 h 214"/>
                  <a:gd name="T12" fmla="*/ 241 w 354"/>
                  <a:gd name="T13" fmla="*/ 45 h 214"/>
                  <a:gd name="T14" fmla="*/ 287 w 354"/>
                  <a:gd name="T15" fmla="*/ 7 h 214"/>
                  <a:gd name="T16" fmla="*/ 292 w 354"/>
                  <a:gd name="T17" fmla="*/ 0 h 214"/>
                  <a:gd name="T18" fmla="*/ 300 w 354"/>
                  <a:gd name="T19" fmla="*/ 2 h 214"/>
                  <a:gd name="T20" fmla="*/ 317 w 354"/>
                  <a:gd name="T21" fmla="*/ 5 h 214"/>
                  <a:gd name="T22" fmla="*/ 140 w 354"/>
                  <a:gd name="T23" fmla="*/ 44 h 214"/>
                  <a:gd name="T24" fmla="*/ 105 w 354"/>
                  <a:gd name="T25" fmla="*/ 214 h 214"/>
                  <a:gd name="T26" fmla="*/ 60 w 354"/>
                  <a:gd name="T27" fmla="*/ 171 h 214"/>
                  <a:gd name="T28" fmla="*/ 0 w 354"/>
                  <a:gd name="T29" fmla="*/ 186 h 214"/>
                  <a:gd name="T30" fmla="*/ 38 w 354"/>
                  <a:gd name="T31" fmla="*/ 5 h 214"/>
                  <a:gd name="T32" fmla="*/ 55 w 354"/>
                  <a:gd name="T33" fmla="*/ 2 h 214"/>
                  <a:gd name="T34" fmla="*/ 63 w 354"/>
                  <a:gd name="T35" fmla="*/ 0 h 214"/>
                  <a:gd name="T36" fmla="*/ 67 w 354"/>
                  <a:gd name="T37" fmla="*/ 7 h 214"/>
                  <a:gd name="T38" fmla="*/ 103 w 354"/>
                  <a:gd name="T39" fmla="*/ 42 h 214"/>
                  <a:gd name="T40" fmla="*/ 114 w 354"/>
                  <a:gd name="T41" fmla="*/ 45 h 214"/>
                  <a:gd name="T42" fmla="*/ 140 w 354"/>
                  <a:gd name="T43" fmla="*/ 44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4" h="214">
                    <a:moveTo>
                      <a:pt x="317" y="5"/>
                    </a:moveTo>
                    <a:cubicBezTo>
                      <a:pt x="354" y="186"/>
                      <a:pt x="354" y="186"/>
                      <a:pt x="354" y="186"/>
                    </a:cubicBezTo>
                    <a:cubicBezTo>
                      <a:pt x="294" y="171"/>
                      <a:pt x="294" y="171"/>
                      <a:pt x="294" y="171"/>
                    </a:cubicBezTo>
                    <a:cubicBezTo>
                      <a:pt x="250" y="214"/>
                      <a:pt x="250" y="214"/>
                      <a:pt x="250" y="214"/>
                    </a:cubicBezTo>
                    <a:cubicBezTo>
                      <a:pt x="215" y="44"/>
                      <a:pt x="215" y="44"/>
                      <a:pt x="215" y="44"/>
                    </a:cubicBezTo>
                    <a:cubicBezTo>
                      <a:pt x="220" y="45"/>
                      <a:pt x="225" y="46"/>
                      <a:pt x="230" y="46"/>
                    </a:cubicBezTo>
                    <a:cubicBezTo>
                      <a:pt x="234" y="46"/>
                      <a:pt x="238" y="46"/>
                      <a:pt x="241" y="45"/>
                    </a:cubicBezTo>
                    <a:cubicBezTo>
                      <a:pt x="264" y="40"/>
                      <a:pt x="276" y="25"/>
                      <a:pt x="287" y="7"/>
                    </a:cubicBezTo>
                    <a:cubicBezTo>
                      <a:pt x="289" y="5"/>
                      <a:pt x="290" y="2"/>
                      <a:pt x="292" y="0"/>
                    </a:cubicBezTo>
                    <a:cubicBezTo>
                      <a:pt x="295" y="0"/>
                      <a:pt x="298" y="1"/>
                      <a:pt x="300" y="2"/>
                    </a:cubicBezTo>
                    <a:cubicBezTo>
                      <a:pt x="306" y="3"/>
                      <a:pt x="311" y="4"/>
                      <a:pt x="317" y="5"/>
                    </a:cubicBezTo>
                    <a:close/>
                    <a:moveTo>
                      <a:pt x="140" y="44"/>
                    </a:moveTo>
                    <a:cubicBezTo>
                      <a:pt x="105" y="214"/>
                      <a:pt x="105" y="214"/>
                      <a:pt x="105" y="214"/>
                    </a:cubicBezTo>
                    <a:cubicBezTo>
                      <a:pt x="60" y="171"/>
                      <a:pt x="60" y="171"/>
                      <a:pt x="60" y="171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43" y="4"/>
                      <a:pt x="49" y="3"/>
                      <a:pt x="55" y="2"/>
                    </a:cubicBezTo>
                    <a:cubicBezTo>
                      <a:pt x="57" y="1"/>
                      <a:pt x="60" y="1"/>
                      <a:pt x="63" y="0"/>
                    </a:cubicBezTo>
                    <a:cubicBezTo>
                      <a:pt x="65" y="2"/>
                      <a:pt x="66" y="5"/>
                      <a:pt x="67" y="7"/>
                    </a:cubicBezTo>
                    <a:cubicBezTo>
                      <a:pt x="77" y="21"/>
                      <a:pt x="86" y="35"/>
                      <a:pt x="103" y="42"/>
                    </a:cubicBezTo>
                    <a:cubicBezTo>
                      <a:pt x="106" y="43"/>
                      <a:pt x="110" y="44"/>
                      <a:pt x="114" y="45"/>
                    </a:cubicBezTo>
                    <a:cubicBezTo>
                      <a:pt x="123" y="47"/>
                      <a:pt x="131" y="46"/>
                      <a:pt x="14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lt1"/>
                  </a:solidFill>
                </a:endParaRPr>
              </a:p>
            </p:txBody>
          </p:sp>
          <p:sp>
            <p:nvSpPr>
              <p:cNvPr id="59" name="Freeform 28"/>
              <p:cNvSpPr>
                <a:spLocks noEditPoints="1"/>
              </p:cNvSpPr>
              <p:nvPr/>
            </p:nvSpPr>
            <p:spPr bwMode="auto">
              <a:xfrm>
                <a:off x="3643428" y="3603423"/>
                <a:ext cx="500321" cy="500686"/>
              </a:xfrm>
              <a:custGeom>
                <a:avLst/>
                <a:gdLst>
                  <a:gd name="T0" fmla="*/ 289 w 579"/>
                  <a:gd name="T1" fmla="*/ 28 h 579"/>
                  <a:gd name="T2" fmla="*/ 346 w 579"/>
                  <a:gd name="T3" fmla="*/ 4 h 579"/>
                  <a:gd name="T4" fmla="*/ 390 w 579"/>
                  <a:gd name="T5" fmla="*/ 48 h 579"/>
                  <a:gd name="T6" fmla="*/ 451 w 579"/>
                  <a:gd name="T7" fmla="*/ 48 h 579"/>
                  <a:gd name="T8" fmla="*/ 475 w 579"/>
                  <a:gd name="T9" fmla="*/ 105 h 579"/>
                  <a:gd name="T10" fmla="*/ 532 w 579"/>
                  <a:gd name="T11" fmla="*/ 128 h 579"/>
                  <a:gd name="T12" fmla="*/ 531 w 579"/>
                  <a:gd name="T13" fmla="*/ 190 h 579"/>
                  <a:gd name="T14" fmla="*/ 575 w 579"/>
                  <a:gd name="T15" fmla="*/ 233 h 579"/>
                  <a:gd name="T16" fmla="*/ 551 w 579"/>
                  <a:gd name="T17" fmla="*/ 290 h 579"/>
                  <a:gd name="T18" fmla="*/ 575 w 579"/>
                  <a:gd name="T19" fmla="*/ 347 h 579"/>
                  <a:gd name="T20" fmla="*/ 531 w 579"/>
                  <a:gd name="T21" fmla="*/ 390 h 579"/>
                  <a:gd name="T22" fmla="*/ 532 w 579"/>
                  <a:gd name="T23" fmla="*/ 452 h 579"/>
                  <a:gd name="T24" fmla="*/ 475 w 579"/>
                  <a:gd name="T25" fmla="*/ 475 h 579"/>
                  <a:gd name="T26" fmla="*/ 451 w 579"/>
                  <a:gd name="T27" fmla="*/ 532 h 579"/>
                  <a:gd name="T28" fmla="*/ 390 w 579"/>
                  <a:gd name="T29" fmla="*/ 532 h 579"/>
                  <a:gd name="T30" fmla="*/ 346 w 579"/>
                  <a:gd name="T31" fmla="*/ 575 h 579"/>
                  <a:gd name="T32" fmla="*/ 289 w 579"/>
                  <a:gd name="T33" fmla="*/ 552 h 579"/>
                  <a:gd name="T34" fmla="*/ 233 w 579"/>
                  <a:gd name="T35" fmla="*/ 575 h 579"/>
                  <a:gd name="T36" fmla="*/ 189 w 579"/>
                  <a:gd name="T37" fmla="*/ 532 h 579"/>
                  <a:gd name="T38" fmla="*/ 128 w 579"/>
                  <a:gd name="T39" fmla="*/ 532 h 579"/>
                  <a:gd name="T40" fmla="*/ 104 w 579"/>
                  <a:gd name="T41" fmla="*/ 475 h 579"/>
                  <a:gd name="T42" fmla="*/ 47 w 579"/>
                  <a:gd name="T43" fmla="*/ 452 h 579"/>
                  <a:gd name="T44" fmla="*/ 47 w 579"/>
                  <a:gd name="T45" fmla="*/ 390 h 579"/>
                  <a:gd name="T46" fmla="*/ 4 w 579"/>
                  <a:gd name="T47" fmla="*/ 347 h 579"/>
                  <a:gd name="T48" fmla="*/ 27 w 579"/>
                  <a:gd name="T49" fmla="*/ 290 h 579"/>
                  <a:gd name="T50" fmla="*/ 4 w 579"/>
                  <a:gd name="T51" fmla="*/ 233 h 579"/>
                  <a:gd name="T52" fmla="*/ 47 w 579"/>
                  <a:gd name="T53" fmla="*/ 190 h 579"/>
                  <a:gd name="T54" fmla="*/ 47 w 579"/>
                  <a:gd name="T55" fmla="*/ 128 h 579"/>
                  <a:gd name="T56" fmla="*/ 104 w 579"/>
                  <a:gd name="T57" fmla="*/ 105 h 579"/>
                  <a:gd name="T58" fmla="*/ 128 w 579"/>
                  <a:gd name="T59" fmla="*/ 48 h 579"/>
                  <a:gd name="T60" fmla="*/ 189 w 579"/>
                  <a:gd name="T61" fmla="*/ 48 h 579"/>
                  <a:gd name="T62" fmla="*/ 233 w 579"/>
                  <a:gd name="T63" fmla="*/ 4 h 579"/>
                  <a:gd name="T64" fmla="*/ 289 w 579"/>
                  <a:gd name="T65" fmla="*/ 28 h 579"/>
                  <a:gd name="T66" fmla="*/ 367 w 579"/>
                  <a:gd name="T67" fmla="*/ 103 h 579"/>
                  <a:gd name="T68" fmla="*/ 87 w 579"/>
                  <a:gd name="T69" fmla="*/ 288 h 579"/>
                  <a:gd name="T70" fmla="*/ 367 w 579"/>
                  <a:gd name="T71" fmla="*/ 477 h 579"/>
                  <a:gd name="T72" fmla="*/ 431 w 579"/>
                  <a:gd name="T73" fmla="*/ 146 h 579"/>
                  <a:gd name="T74" fmla="*/ 367 w 579"/>
                  <a:gd name="T75" fmla="*/ 103 h 5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579" h="579">
                    <a:moveTo>
                      <a:pt x="289" y="28"/>
                    </a:moveTo>
                    <a:cubicBezTo>
                      <a:pt x="308" y="29"/>
                      <a:pt x="327" y="0"/>
                      <a:pt x="346" y="4"/>
                    </a:cubicBezTo>
                    <a:cubicBezTo>
                      <a:pt x="365" y="8"/>
                      <a:pt x="371" y="42"/>
                      <a:pt x="390" y="48"/>
                    </a:cubicBezTo>
                    <a:cubicBezTo>
                      <a:pt x="407" y="56"/>
                      <a:pt x="435" y="37"/>
                      <a:pt x="451" y="48"/>
                    </a:cubicBezTo>
                    <a:cubicBezTo>
                      <a:pt x="467" y="58"/>
                      <a:pt x="460" y="92"/>
                      <a:pt x="475" y="105"/>
                    </a:cubicBezTo>
                    <a:cubicBezTo>
                      <a:pt x="487" y="119"/>
                      <a:pt x="521" y="112"/>
                      <a:pt x="532" y="128"/>
                    </a:cubicBezTo>
                    <a:cubicBezTo>
                      <a:pt x="542" y="144"/>
                      <a:pt x="523" y="172"/>
                      <a:pt x="531" y="190"/>
                    </a:cubicBezTo>
                    <a:cubicBezTo>
                      <a:pt x="537" y="208"/>
                      <a:pt x="571" y="214"/>
                      <a:pt x="575" y="233"/>
                    </a:cubicBezTo>
                    <a:cubicBezTo>
                      <a:pt x="579" y="252"/>
                      <a:pt x="550" y="271"/>
                      <a:pt x="551" y="290"/>
                    </a:cubicBezTo>
                    <a:cubicBezTo>
                      <a:pt x="550" y="309"/>
                      <a:pt x="579" y="328"/>
                      <a:pt x="575" y="347"/>
                    </a:cubicBezTo>
                    <a:cubicBezTo>
                      <a:pt x="571" y="366"/>
                      <a:pt x="538" y="372"/>
                      <a:pt x="531" y="390"/>
                    </a:cubicBezTo>
                    <a:cubicBezTo>
                      <a:pt x="523" y="407"/>
                      <a:pt x="542" y="436"/>
                      <a:pt x="532" y="452"/>
                    </a:cubicBezTo>
                    <a:cubicBezTo>
                      <a:pt x="521" y="468"/>
                      <a:pt x="487" y="461"/>
                      <a:pt x="475" y="475"/>
                    </a:cubicBezTo>
                    <a:cubicBezTo>
                      <a:pt x="460" y="488"/>
                      <a:pt x="467" y="521"/>
                      <a:pt x="451" y="532"/>
                    </a:cubicBezTo>
                    <a:cubicBezTo>
                      <a:pt x="435" y="543"/>
                      <a:pt x="407" y="523"/>
                      <a:pt x="390" y="532"/>
                    </a:cubicBezTo>
                    <a:cubicBezTo>
                      <a:pt x="372" y="538"/>
                      <a:pt x="365" y="572"/>
                      <a:pt x="346" y="575"/>
                    </a:cubicBezTo>
                    <a:cubicBezTo>
                      <a:pt x="327" y="579"/>
                      <a:pt x="309" y="550"/>
                      <a:pt x="289" y="552"/>
                    </a:cubicBezTo>
                    <a:cubicBezTo>
                      <a:pt x="270" y="550"/>
                      <a:pt x="252" y="579"/>
                      <a:pt x="233" y="575"/>
                    </a:cubicBezTo>
                    <a:cubicBezTo>
                      <a:pt x="214" y="572"/>
                      <a:pt x="207" y="538"/>
                      <a:pt x="189" y="532"/>
                    </a:cubicBezTo>
                    <a:cubicBezTo>
                      <a:pt x="172" y="523"/>
                      <a:pt x="144" y="543"/>
                      <a:pt x="128" y="532"/>
                    </a:cubicBezTo>
                    <a:cubicBezTo>
                      <a:pt x="112" y="521"/>
                      <a:pt x="119" y="488"/>
                      <a:pt x="104" y="475"/>
                    </a:cubicBezTo>
                    <a:cubicBezTo>
                      <a:pt x="92" y="461"/>
                      <a:pt x="58" y="468"/>
                      <a:pt x="47" y="452"/>
                    </a:cubicBezTo>
                    <a:cubicBezTo>
                      <a:pt x="36" y="436"/>
                      <a:pt x="56" y="407"/>
                      <a:pt x="47" y="390"/>
                    </a:cubicBezTo>
                    <a:cubicBezTo>
                      <a:pt x="41" y="372"/>
                      <a:pt x="8" y="366"/>
                      <a:pt x="4" y="347"/>
                    </a:cubicBezTo>
                    <a:cubicBezTo>
                      <a:pt x="0" y="328"/>
                      <a:pt x="29" y="309"/>
                      <a:pt x="27" y="290"/>
                    </a:cubicBezTo>
                    <a:cubicBezTo>
                      <a:pt x="29" y="271"/>
                      <a:pt x="0" y="252"/>
                      <a:pt x="4" y="233"/>
                    </a:cubicBezTo>
                    <a:cubicBezTo>
                      <a:pt x="8" y="214"/>
                      <a:pt x="41" y="208"/>
                      <a:pt x="47" y="190"/>
                    </a:cubicBezTo>
                    <a:cubicBezTo>
                      <a:pt x="56" y="172"/>
                      <a:pt x="36" y="144"/>
                      <a:pt x="47" y="128"/>
                    </a:cubicBezTo>
                    <a:cubicBezTo>
                      <a:pt x="58" y="112"/>
                      <a:pt x="92" y="119"/>
                      <a:pt x="104" y="105"/>
                    </a:cubicBezTo>
                    <a:cubicBezTo>
                      <a:pt x="119" y="92"/>
                      <a:pt x="112" y="58"/>
                      <a:pt x="128" y="48"/>
                    </a:cubicBezTo>
                    <a:cubicBezTo>
                      <a:pt x="144" y="37"/>
                      <a:pt x="172" y="56"/>
                      <a:pt x="189" y="48"/>
                    </a:cubicBezTo>
                    <a:cubicBezTo>
                      <a:pt x="207" y="42"/>
                      <a:pt x="214" y="8"/>
                      <a:pt x="233" y="4"/>
                    </a:cubicBezTo>
                    <a:cubicBezTo>
                      <a:pt x="252" y="0"/>
                      <a:pt x="270" y="29"/>
                      <a:pt x="289" y="28"/>
                    </a:cubicBezTo>
                    <a:close/>
                    <a:moveTo>
                      <a:pt x="367" y="103"/>
                    </a:moveTo>
                    <a:cubicBezTo>
                      <a:pt x="234" y="48"/>
                      <a:pt x="88" y="145"/>
                      <a:pt x="87" y="288"/>
                    </a:cubicBezTo>
                    <a:cubicBezTo>
                      <a:pt x="86" y="433"/>
                      <a:pt x="233" y="532"/>
                      <a:pt x="367" y="477"/>
                    </a:cubicBezTo>
                    <a:cubicBezTo>
                      <a:pt x="501" y="421"/>
                      <a:pt x="534" y="247"/>
                      <a:pt x="431" y="146"/>
                    </a:cubicBezTo>
                    <a:cubicBezTo>
                      <a:pt x="413" y="127"/>
                      <a:pt x="391" y="113"/>
                      <a:pt x="367" y="10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lt1"/>
                  </a:solidFill>
                </a:endParaRPr>
              </a:p>
            </p:txBody>
          </p:sp>
          <p:sp>
            <p:nvSpPr>
              <p:cNvPr id="60" name="Freeform 29"/>
              <p:cNvSpPr>
                <a:spLocks noEditPoints="1"/>
              </p:cNvSpPr>
              <p:nvPr/>
            </p:nvSpPr>
            <p:spPr bwMode="auto">
              <a:xfrm>
                <a:off x="3750587" y="3710586"/>
                <a:ext cx="286002" cy="287100"/>
              </a:xfrm>
              <a:custGeom>
                <a:avLst/>
                <a:gdLst>
                  <a:gd name="T0" fmla="*/ 165 w 331"/>
                  <a:gd name="T1" fmla="*/ 0 h 332"/>
                  <a:gd name="T2" fmla="*/ 331 w 331"/>
                  <a:gd name="T3" fmla="*/ 166 h 332"/>
                  <a:gd name="T4" fmla="*/ 165 w 331"/>
                  <a:gd name="T5" fmla="*/ 332 h 332"/>
                  <a:gd name="T6" fmla="*/ 0 w 331"/>
                  <a:gd name="T7" fmla="*/ 166 h 332"/>
                  <a:gd name="T8" fmla="*/ 165 w 331"/>
                  <a:gd name="T9" fmla="*/ 0 h 332"/>
                  <a:gd name="T10" fmla="*/ 176 w 331"/>
                  <a:gd name="T11" fmla="*/ 50 h 332"/>
                  <a:gd name="T12" fmla="*/ 205 w 331"/>
                  <a:gd name="T13" fmla="*/ 111 h 332"/>
                  <a:gd name="T14" fmla="*/ 272 w 331"/>
                  <a:gd name="T15" fmla="*/ 119 h 332"/>
                  <a:gd name="T16" fmla="*/ 282 w 331"/>
                  <a:gd name="T17" fmla="*/ 127 h 332"/>
                  <a:gd name="T18" fmla="*/ 279 w 331"/>
                  <a:gd name="T19" fmla="*/ 140 h 332"/>
                  <a:gd name="T20" fmla="*/ 229 w 331"/>
                  <a:gd name="T21" fmla="*/ 186 h 332"/>
                  <a:gd name="T22" fmla="*/ 242 w 331"/>
                  <a:gd name="T23" fmla="*/ 252 h 332"/>
                  <a:gd name="T24" fmla="*/ 237 w 331"/>
                  <a:gd name="T25" fmla="*/ 265 h 332"/>
                  <a:gd name="T26" fmla="*/ 224 w 331"/>
                  <a:gd name="T27" fmla="*/ 265 h 332"/>
                  <a:gd name="T28" fmla="*/ 165 w 331"/>
                  <a:gd name="T29" fmla="*/ 232 h 332"/>
                  <a:gd name="T30" fmla="*/ 106 w 331"/>
                  <a:gd name="T31" fmla="*/ 265 h 332"/>
                  <a:gd name="T32" fmla="*/ 93 w 331"/>
                  <a:gd name="T33" fmla="*/ 265 h 332"/>
                  <a:gd name="T34" fmla="*/ 89 w 331"/>
                  <a:gd name="T35" fmla="*/ 252 h 332"/>
                  <a:gd name="T36" fmla="*/ 102 w 331"/>
                  <a:gd name="T37" fmla="*/ 186 h 332"/>
                  <a:gd name="T38" fmla="*/ 52 w 331"/>
                  <a:gd name="T39" fmla="*/ 140 h 332"/>
                  <a:gd name="T40" fmla="*/ 49 w 331"/>
                  <a:gd name="T41" fmla="*/ 127 h 332"/>
                  <a:gd name="T42" fmla="*/ 59 w 331"/>
                  <a:gd name="T43" fmla="*/ 119 h 332"/>
                  <a:gd name="T44" fmla="*/ 126 w 331"/>
                  <a:gd name="T45" fmla="*/ 111 h 332"/>
                  <a:gd name="T46" fmla="*/ 154 w 331"/>
                  <a:gd name="T47" fmla="*/ 50 h 332"/>
                  <a:gd name="T48" fmla="*/ 165 w 331"/>
                  <a:gd name="T49" fmla="*/ 43 h 332"/>
                  <a:gd name="T50" fmla="*/ 176 w 331"/>
                  <a:gd name="T51" fmla="*/ 5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31" h="332">
                    <a:moveTo>
                      <a:pt x="165" y="0"/>
                    </a:moveTo>
                    <a:cubicBezTo>
                      <a:pt x="257" y="0"/>
                      <a:pt x="331" y="74"/>
                      <a:pt x="331" y="166"/>
                    </a:cubicBezTo>
                    <a:cubicBezTo>
                      <a:pt x="331" y="257"/>
                      <a:pt x="257" y="332"/>
                      <a:pt x="165" y="332"/>
                    </a:cubicBezTo>
                    <a:cubicBezTo>
                      <a:pt x="74" y="332"/>
                      <a:pt x="0" y="257"/>
                      <a:pt x="0" y="166"/>
                    </a:cubicBezTo>
                    <a:cubicBezTo>
                      <a:pt x="0" y="74"/>
                      <a:pt x="74" y="0"/>
                      <a:pt x="165" y="0"/>
                    </a:cubicBezTo>
                    <a:close/>
                    <a:moveTo>
                      <a:pt x="176" y="50"/>
                    </a:move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72" y="119"/>
                      <a:pt x="272" y="119"/>
                      <a:pt x="272" y="119"/>
                    </a:cubicBezTo>
                    <a:cubicBezTo>
                      <a:pt x="277" y="120"/>
                      <a:pt x="281" y="123"/>
                      <a:pt x="282" y="127"/>
                    </a:cubicBezTo>
                    <a:cubicBezTo>
                      <a:pt x="284" y="132"/>
                      <a:pt x="282" y="137"/>
                      <a:pt x="279" y="140"/>
                    </a:cubicBezTo>
                    <a:cubicBezTo>
                      <a:pt x="229" y="186"/>
                      <a:pt x="229" y="186"/>
                      <a:pt x="229" y="186"/>
                    </a:cubicBezTo>
                    <a:cubicBezTo>
                      <a:pt x="242" y="252"/>
                      <a:pt x="242" y="252"/>
                      <a:pt x="242" y="252"/>
                    </a:cubicBezTo>
                    <a:cubicBezTo>
                      <a:pt x="243" y="257"/>
                      <a:pt x="241" y="262"/>
                      <a:pt x="237" y="265"/>
                    </a:cubicBezTo>
                    <a:cubicBezTo>
                      <a:pt x="234" y="267"/>
                      <a:pt x="229" y="268"/>
                      <a:pt x="224" y="265"/>
                    </a:cubicBezTo>
                    <a:cubicBezTo>
                      <a:pt x="165" y="232"/>
                      <a:pt x="165" y="232"/>
                      <a:pt x="165" y="232"/>
                    </a:cubicBezTo>
                    <a:cubicBezTo>
                      <a:pt x="106" y="265"/>
                      <a:pt x="106" y="265"/>
                      <a:pt x="106" y="265"/>
                    </a:cubicBezTo>
                    <a:cubicBezTo>
                      <a:pt x="102" y="268"/>
                      <a:pt x="97" y="267"/>
                      <a:pt x="93" y="265"/>
                    </a:cubicBezTo>
                    <a:cubicBezTo>
                      <a:pt x="89" y="262"/>
                      <a:pt x="88" y="257"/>
                      <a:pt x="89" y="252"/>
                    </a:cubicBezTo>
                    <a:cubicBezTo>
                      <a:pt x="102" y="186"/>
                      <a:pt x="102" y="186"/>
                      <a:pt x="102" y="186"/>
                    </a:cubicBezTo>
                    <a:cubicBezTo>
                      <a:pt x="52" y="140"/>
                      <a:pt x="52" y="140"/>
                      <a:pt x="52" y="140"/>
                    </a:cubicBezTo>
                    <a:cubicBezTo>
                      <a:pt x="48" y="137"/>
                      <a:pt x="47" y="132"/>
                      <a:pt x="49" y="127"/>
                    </a:cubicBezTo>
                    <a:cubicBezTo>
                      <a:pt x="50" y="123"/>
                      <a:pt x="54" y="120"/>
                      <a:pt x="59" y="119"/>
                    </a:cubicBezTo>
                    <a:cubicBezTo>
                      <a:pt x="126" y="111"/>
                      <a:pt x="126" y="111"/>
                      <a:pt x="126" y="111"/>
                    </a:cubicBezTo>
                    <a:cubicBezTo>
                      <a:pt x="154" y="50"/>
                      <a:pt x="154" y="50"/>
                      <a:pt x="154" y="50"/>
                    </a:cubicBezTo>
                    <a:cubicBezTo>
                      <a:pt x="156" y="45"/>
                      <a:pt x="161" y="43"/>
                      <a:pt x="165" y="43"/>
                    </a:cubicBezTo>
                    <a:cubicBezTo>
                      <a:pt x="170" y="43"/>
                      <a:pt x="174" y="45"/>
                      <a:pt x="176" y="5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62" name="矩形 61"/>
            <p:cNvSpPr/>
            <p:nvPr/>
          </p:nvSpPr>
          <p:spPr>
            <a:xfrm>
              <a:off x="4637485" y="1013700"/>
              <a:ext cx="1368152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kern="0" cap="all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600" b="1" kern="0" cap="all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子网掩码</a:t>
              </a:r>
              <a:endParaRPr lang="zh-CN" altLang="en-US" sz="1600" b="1" kern="0" cap="all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5409970" y="941692"/>
            <a:ext cx="356388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1.</a:t>
            </a:r>
            <a:r>
              <a:rPr lang="zh-CN" altLang="en-US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该</a:t>
            </a:r>
            <a:r>
              <a:rPr lang="en-US" altLang="zh-CN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地址是否进行了子网划分？</a:t>
            </a:r>
            <a:endParaRPr lang="en-US" altLang="zh-CN" dirty="0" smtClean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758905" y="2229670"/>
            <a:ext cx="1548000" cy="360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255.255.0.0</a:t>
            </a:r>
            <a:endParaRPr kumimoji="0" lang="en-US" altLang="zh-CN" sz="14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771968" y="2663893"/>
            <a:ext cx="1548000" cy="360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255.255.255.0</a:t>
            </a:r>
            <a:endParaRPr kumimoji="0" lang="en-US" altLang="zh-CN" sz="14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0842" y="2197194"/>
            <a:ext cx="2648951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B</a:t>
            </a:r>
            <a:r>
              <a:rPr lang="zh-CN" altLang="en-US" sz="14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类地址的标准子网掩码</a:t>
            </a:r>
            <a:endParaRPr lang="en-US" altLang="zh-CN" sz="1400" dirty="0" smtClean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94858" y="2622529"/>
            <a:ext cx="2360918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案例给出的子网掩码</a:t>
            </a:r>
            <a:endParaRPr lang="zh-CN" altLang="en-US" sz="1400" dirty="0" smtClean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4599396" y="2229670"/>
            <a:ext cx="4226972" cy="36000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0800" r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11111111.1111111.00000000.00000000</a:t>
            </a:r>
            <a:endParaRPr kumimoji="0" lang="en-US" altLang="zh-CN" sz="14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029738" y="1870091"/>
            <a:ext cx="1057256" cy="270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B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类地址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4599396" y="2667958"/>
            <a:ext cx="4226972" cy="36000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0800" r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11111111.1111111.11111111.00000000</a:t>
            </a:r>
            <a:endParaRPr kumimoji="0" lang="en-US" altLang="zh-CN" sz="14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78" name="直接连接符 77"/>
          <p:cNvCxnSpPr/>
          <p:nvPr/>
        </p:nvCxnSpPr>
        <p:spPr>
          <a:xfrm flipV="1">
            <a:off x="205638" y="3526067"/>
            <a:ext cx="8640000" cy="25324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椭圆 78"/>
          <p:cNvSpPr/>
          <p:nvPr/>
        </p:nvSpPr>
        <p:spPr>
          <a:xfrm>
            <a:off x="50842" y="1063353"/>
            <a:ext cx="810279" cy="625293"/>
          </a:xfrm>
          <a:prstGeom prst="ellipse">
            <a:avLst/>
          </a:prstGeom>
          <a:gradFill>
            <a:gsLst>
              <a:gs pos="0">
                <a:srgbClr val="C0504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C0504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C0504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案例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92569" y="2100901"/>
            <a:ext cx="1656000" cy="97200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4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3473968" y="2995885"/>
            <a:ext cx="161928" cy="162000"/>
          </a:xfrm>
          <a:prstGeom prst="downArrow">
            <a:avLst/>
          </a:prstGeom>
          <a:gradFill rotWithShape="0">
            <a:gsLst>
              <a:gs pos="0">
                <a:srgbClr val="C0504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C0504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C0504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4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2789369" y="3166027"/>
            <a:ext cx="1486704" cy="270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noProof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划分了子网</a:t>
            </a:r>
            <a:endParaRPr kumimoji="0" lang="zh-CN" altLang="en-US" sz="14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4537424" y="2099639"/>
            <a:ext cx="4381182" cy="97200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4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5918240" y="3166027"/>
            <a:ext cx="1486704" cy="270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借了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8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位</a:t>
            </a:r>
            <a:endParaRPr kumimoji="0" lang="zh-CN" altLang="en-US" sz="14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6" name="左右箭头 85"/>
          <p:cNvSpPr/>
          <p:nvPr/>
        </p:nvSpPr>
        <p:spPr>
          <a:xfrm>
            <a:off x="4325376" y="2771893"/>
            <a:ext cx="252000" cy="144000"/>
          </a:xfrm>
          <a:prstGeom prst="leftRightArrow">
            <a:avLst/>
          </a:prstGeom>
          <a:gradFill flip="none" rotWithShape="1">
            <a:gsLst>
              <a:gs pos="0">
                <a:srgbClr val="0070C0"/>
              </a:gs>
              <a:gs pos="100000">
                <a:schemeClr val="accent6"/>
              </a:gs>
            </a:gsLst>
            <a:lin ang="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4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45670" y="3534233"/>
            <a:ext cx="8480698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子网掩码还有一种更简便的表示</a:t>
            </a: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方法，即：掩码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中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的个数前面加一个斜杠来表示。</a:t>
            </a:r>
            <a:endParaRPr lang="en-US" altLang="zh-CN" sz="1600" dirty="0" smtClean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" name="五角星 9"/>
          <p:cNvSpPr/>
          <p:nvPr/>
        </p:nvSpPr>
        <p:spPr>
          <a:xfrm>
            <a:off x="189418" y="3612611"/>
            <a:ext cx="252000" cy="234000"/>
          </a:xfrm>
          <a:prstGeom prst="star5">
            <a:avLst/>
          </a:prstGeom>
          <a:gradFill rotWithShape="0">
            <a:gsLst>
              <a:gs pos="0">
                <a:srgbClr val="C0504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C0504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C0504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457986" y="1321706"/>
            <a:ext cx="680429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kern="0" cap="all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168</a:t>
            </a:r>
            <a:endParaRPr lang="en-US" altLang="zh-CN" sz="1600" b="1" kern="0" cap="all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36096" y="1309048"/>
            <a:ext cx="353776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2.</a:t>
            </a:r>
            <a:r>
              <a:rPr lang="zh-CN" altLang="en-US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如果是，向主机位借了多少位？</a:t>
            </a:r>
            <a:endParaRPr lang="en-US" altLang="zh-CN" dirty="0" smtClean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4" name="下箭头 63"/>
          <p:cNvSpPr/>
          <p:nvPr/>
        </p:nvSpPr>
        <p:spPr>
          <a:xfrm>
            <a:off x="6570312" y="3004027"/>
            <a:ext cx="161928" cy="162000"/>
          </a:xfrm>
          <a:prstGeom prst="downArrow">
            <a:avLst/>
          </a:prstGeom>
          <a:gradFill rotWithShape="0">
            <a:gsLst>
              <a:gs pos="0">
                <a:srgbClr val="C0504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C0504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C0504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4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左右箭头 3"/>
          <p:cNvSpPr/>
          <p:nvPr/>
        </p:nvSpPr>
        <p:spPr>
          <a:xfrm>
            <a:off x="4316659" y="2342663"/>
            <a:ext cx="252000" cy="144016"/>
          </a:xfrm>
          <a:prstGeom prst="leftRightArrow">
            <a:avLst/>
          </a:prstGeom>
          <a:gradFill flip="none" rotWithShape="1">
            <a:gsLst>
              <a:gs pos="0">
                <a:srgbClr val="034EA2"/>
              </a:gs>
              <a:gs pos="100000">
                <a:schemeClr val="accent6"/>
              </a:gs>
            </a:gsLst>
            <a:lin ang="270000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4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540182" y="2224813"/>
            <a:ext cx="1187360" cy="3600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0800" r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00000000</a:t>
            </a:r>
            <a:endParaRPr kumimoji="0" lang="en-US" altLang="zh-CN" sz="1400" b="1" i="0" u="none" strike="noStrike" kern="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601540" y="2667958"/>
            <a:ext cx="1026000" cy="3600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0800" r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11111111</a:t>
            </a:r>
            <a:endParaRPr kumimoji="0" lang="en-US" altLang="zh-CN" sz="1400" b="1" i="0" u="none" strike="noStrike" kern="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759075" y="2286635"/>
            <a:ext cx="6051550" cy="794385"/>
            <a:chOff x="2898242" y="2355944"/>
            <a:chExt cx="6080526" cy="798288"/>
          </a:xfrm>
        </p:grpSpPr>
        <p:sp>
          <p:nvSpPr>
            <p:cNvPr id="69" name="矩形 68"/>
            <p:cNvSpPr/>
            <p:nvPr/>
          </p:nvSpPr>
          <p:spPr>
            <a:xfrm>
              <a:off x="2898242" y="2355944"/>
              <a:ext cx="1548000" cy="360000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b="1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255.255.0.0</a:t>
              </a:r>
              <a:endPara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2898242" y="2790167"/>
              <a:ext cx="1548000" cy="360000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" rIns="18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b="1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255.255.255.0</a:t>
              </a:r>
              <a:endPara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4751796" y="2355944"/>
              <a:ext cx="4226972" cy="3600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0800" rIns="108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b="1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11111111.1111111.00000000.00000000</a:t>
              </a:r>
              <a:endPara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85" name="矩形 84"/>
            <p:cNvSpPr/>
            <p:nvPr/>
          </p:nvSpPr>
          <p:spPr>
            <a:xfrm>
              <a:off x="4751796" y="2794232"/>
              <a:ext cx="4226972" cy="3600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0800" rIns="108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b="1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11111111.1111111.11111111.00000000</a:t>
              </a:r>
              <a:endPara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89" name="左右箭头 88"/>
            <p:cNvSpPr/>
            <p:nvPr/>
          </p:nvSpPr>
          <p:spPr>
            <a:xfrm>
              <a:off x="4477776" y="2898167"/>
              <a:ext cx="252000" cy="144000"/>
            </a:xfrm>
            <a:prstGeom prst="leftRightArrow">
              <a:avLst/>
            </a:prstGeom>
            <a:gradFill flip="none" rotWithShape="1">
              <a:gsLst>
                <a:gs pos="0">
                  <a:srgbClr val="0070C0"/>
                </a:gs>
                <a:gs pos="100000">
                  <a:schemeClr val="accent6"/>
                </a:gs>
              </a:gsLst>
              <a:lin ang="0" scaled="1"/>
              <a:tileRect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rtlCol="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400" b="1" kern="1200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左右箭头 90"/>
            <p:cNvSpPr/>
            <p:nvPr/>
          </p:nvSpPr>
          <p:spPr>
            <a:xfrm>
              <a:off x="4469059" y="2468937"/>
              <a:ext cx="252000" cy="144016"/>
            </a:xfrm>
            <a:prstGeom prst="leftRightArrow">
              <a:avLst/>
            </a:prstGeom>
            <a:gradFill flip="none" rotWithShape="1">
              <a:gsLst>
                <a:gs pos="0">
                  <a:srgbClr val="034EA2"/>
                </a:gs>
                <a:gs pos="100000">
                  <a:schemeClr val="accent6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rtlCol="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400" b="1" kern="1200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3" name="左右箭头 12"/>
          <p:cNvSpPr/>
          <p:nvPr/>
        </p:nvSpPr>
        <p:spPr>
          <a:xfrm>
            <a:off x="6345940" y="4071108"/>
            <a:ext cx="252000" cy="144016"/>
          </a:xfrm>
          <a:prstGeom prst="leftRightArrow">
            <a:avLst/>
          </a:prstGeom>
          <a:gradFill flip="none" rotWithShape="1">
            <a:gsLst>
              <a:gs pos="0">
                <a:schemeClr val="accent6"/>
              </a:gs>
              <a:gs pos="100000">
                <a:srgbClr val="034EA2"/>
              </a:gs>
            </a:gsLst>
            <a:lin ang="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6635812" y="3966281"/>
            <a:ext cx="574358" cy="360000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/16</a:t>
            </a:r>
            <a:endParaRPr kumimoji="0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4" name="左右箭头 103"/>
          <p:cNvSpPr/>
          <p:nvPr/>
        </p:nvSpPr>
        <p:spPr>
          <a:xfrm>
            <a:off x="6345940" y="4505662"/>
            <a:ext cx="252000" cy="144016"/>
          </a:xfrm>
          <a:prstGeom prst="leftRightArrow">
            <a:avLst/>
          </a:prstGeom>
          <a:gradFill flip="none" rotWithShape="1">
            <a:gsLst>
              <a:gs pos="0">
                <a:schemeClr val="accent6"/>
              </a:gs>
              <a:gs pos="100000">
                <a:srgbClr val="034EA2"/>
              </a:gs>
            </a:gsLst>
            <a:lin ang="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6635812" y="4423796"/>
            <a:ext cx="574358" cy="360000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/24</a:t>
            </a:r>
            <a:endParaRPr kumimoji="0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7236296" y="4140357"/>
            <a:ext cx="1368903" cy="663641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algn="ctr">
              <a:defRPr/>
            </a:pPr>
            <a:r>
              <a:rPr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用长度</a:t>
            </a:r>
            <a:r>
              <a:rPr lang="zh-CN" altLang="en-US" sz="1600" b="1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标识</a:t>
            </a:r>
            <a:r>
              <a:rPr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</a:t>
            </a:r>
            <a:r>
              <a:rPr lang="zh-CN" altLang="en-US" sz="1600" b="1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子网</a:t>
            </a:r>
            <a:r>
              <a:rPr lang="zh-CN" altLang="en-US" sz="16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掩码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2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8086 -0.0179032 L -0.263374 0.335899 " pathEditMode="relative" rAng="0" ptsTypes="AA">
                                      <p:cBhvr>
                                        <p:cTn id="1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700" y="17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8" grpId="0"/>
      <p:bldP spid="45" grpId="0"/>
      <p:bldP spid="63" grpId="0"/>
      <p:bldP spid="68" grpId="0" animBg="1"/>
      <p:bldP spid="70" grpId="0" animBg="1"/>
      <p:bldP spid="71" grpId="0"/>
      <p:bldP spid="72" grpId="0"/>
      <p:bldP spid="74" grpId="0" animBg="1"/>
      <p:bldP spid="75" grpId="0" animBg="1"/>
      <p:bldP spid="77" grpId="0" animBg="1"/>
      <p:bldP spid="79" grpId="0" animBg="1"/>
      <p:bldP spid="7" grpId="0" animBg="1"/>
      <p:bldP spid="8" grpId="0" bldLvl="0" animBg="1"/>
      <p:bldP spid="80" grpId="0" bldLvl="0" animBg="1"/>
      <p:bldP spid="81" grpId="0" animBg="1"/>
      <p:bldP spid="83" grpId="0" bldLvl="0" animBg="1"/>
      <p:bldP spid="86" grpId="0" animBg="1"/>
      <p:bldP spid="87" grpId="0"/>
      <p:bldP spid="10" grpId="0" bldLvl="0" animBg="1"/>
      <p:bldP spid="88" grpId="0"/>
      <p:bldP spid="90" grpId="0"/>
      <p:bldP spid="64" grpId="0" bldLvl="0" animBg="1"/>
      <p:bldP spid="4" grpId="0" animBg="1"/>
      <p:bldP spid="65" grpId="0" bldLvl="0" animBg="1"/>
      <p:bldP spid="67" grpId="0" bldLvl="0" animBg="1"/>
      <p:bldP spid="13" grpId="0" bldLvl="0" animBg="1"/>
      <p:bldP spid="103" grpId="0" bldLvl="0" animBg="1"/>
      <p:bldP spid="104" grpId="0" bldLvl="0" animBg="1"/>
      <p:bldP spid="105" grpId="0" bldLvl="0" animBg="1"/>
      <p:bldP spid="10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3478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19" y="132850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043609" y="221612"/>
            <a:ext cx="1656184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子网掩码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8" name="íşlïḍè"/>
          <p:cNvSpPr txBox="1"/>
          <p:nvPr/>
        </p:nvSpPr>
        <p:spPr>
          <a:xfrm>
            <a:off x="229107" y="660353"/>
            <a:ext cx="2614701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）</a:t>
            </a:r>
            <a:r>
              <a:rPr lang="en-US" altLang="zh-CN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 </a:t>
            </a:r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子网掩码的应用</a:t>
            </a:r>
            <a:endParaRPr lang="en-US" altLang="zh-CN" dirty="0">
              <a:solidFill>
                <a:srgbClr val="000000"/>
              </a:solidFill>
              <a:latin typeface="Arial Narrow" panose="020B0606020202030204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9106" y="1000637"/>
            <a:ext cx="1966630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子网掩码的特性</a:t>
            </a:r>
            <a:r>
              <a:rPr lang="zh-CN" altLang="en-US" sz="1600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：</a:t>
            </a:r>
            <a:endParaRPr lang="en-US" altLang="zh-CN" sz="1600" dirty="0" smtClean="0">
              <a:solidFill>
                <a:srgbClr val="C0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652135" y="1470025"/>
            <a:ext cx="1725295" cy="28829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见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0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为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0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，见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不变</a:t>
            </a:r>
            <a:endParaRPr kumimoji="0" lang="zh-CN" altLang="en-US" sz="14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47664" y="1756729"/>
            <a:ext cx="3160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11001010.10101000.1010</a:t>
            </a:r>
            <a:endParaRPr lang="en-US" altLang="zh-CN" sz="20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50138" y="2113616"/>
            <a:ext cx="31938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spc="12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11111111.11111111.1111</a:t>
            </a:r>
            <a:endParaRPr lang="en-US" altLang="zh-CN" sz="2000" spc="12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251520" y="3292336"/>
            <a:ext cx="8640000" cy="25324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1520" y="3305399"/>
            <a:ext cx="1944216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子网掩码</a:t>
            </a:r>
            <a:r>
              <a:rPr lang="zh-CN" altLang="en-US" sz="1600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的应用：</a:t>
            </a:r>
            <a:endParaRPr lang="en-US" altLang="zh-CN" sz="1600" dirty="0" smtClean="0">
              <a:solidFill>
                <a:srgbClr val="C0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4129" y="3660015"/>
            <a:ext cx="5974053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方法：</a:t>
            </a:r>
            <a:r>
              <a:rPr lang="zh-CN" altLang="en-US" sz="1600" dirty="0" smtClean="0">
                <a:latin typeface="Arial Narrow" panose="020B0606020202030204"/>
                <a:ea typeface="微软雅黑" panose="020B0503020204020204" pitchFamily="34" charset="-122"/>
              </a:rPr>
              <a:t>将</a:t>
            </a:r>
            <a:r>
              <a:rPr lang="zh-CN" altLang="en-US" sz="1600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各自</a:t>
            </a:r>
            <a:r>
              <a:rPr lang="zh-CN" altLang="en-US" sz="1600" dirty="0">
                <a:latin typeface="Arial Narrow" panose="020B0606020202030204"/>
                <a:ea typeface="微软雅黑" panose="020B0503020204020204" pitchFamily="34" charset="-122"/>
              </a:rPr>
              <a:t>的</a:t>
            </a:r>
            <a:r>
              <a:rPr lang="en-US" altLang="zh-CN" sz="1600" dirty="0">
                <a:latin typeface="Arial Narrow" panose="020B0606020202030204"/>
                <a:ea typeface="微软雅黑" panose="020B0503020204020204" pitchFamily="34" charset="-122"/>
              </a:rPr>
              <a:t>IP</a:t>
            </a:r>
            <a:r>
              <a:rPr lang="zh-CN" altLang="en-US" sz="1600" dirty="0">
                <a:latin typeface="Arial Narrow" panose="020B0606020202030204"/>
                <a:ea typeface="微软雅黑" panose="020B0503020204020204" pitchFamily="34" charset="-122"/>
              </a:rPr>
              <a:t>地址与其子网掩码进行</a:t>
            </a:r>
            <a:r>
              <a:rPr lang="zh-CN" altLang="en-US" sz="1600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“逻辑与”</a:t>
            </a:r>
            <a:r>
              <a:rPr lang="zh-CN" altLang="en-US" sz="1600" dirty="0" smtClean="0">
                <a:latin typeface="Arial Narrow" panose="020B0606020202030204"/>
                <a:ea typeface="微软雅黑" panose="020B0503020204020204" pitchFamily="34" charset="-122"/>
              </a:rPr>
              <a:t>运算。</a:t>
            </a:r>
            <a:endParaRPr lang="en-US" altLang="zh-CN" sz="1600" dirty="0" smtClean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37243" y="3947354"/>
            <a:ext cx="642469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相同</a:t>
            </a:r>
            <a:endParaRPr lang="zh-CN" altLang="en-US" sz="1600" b="1" dirty="0" smtClean="0">
              <a:solidFill>
                <a:schemeClr val="tx2"/>
              </a:solidFill>
              <a:latin typeface="Arial Narrow" panose="020B060602020203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71480" y="3945038"/>
            <a:ext cx="2140480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处于同一个网络中</a:t>
            </a:r>
            <a:endParaRPr lang="zh-CN" altLang="en-US" sz="1600" b="1" dirty="0" smtClean="0">
              <a:solidFill>
                <a:schemeClr val="tx2"/>
              </a:solidFill>
              <a:latin typeface="Arial Narrow" panose="020B060602020203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38004" y="3947354"/>
            <a:ext cx="2540220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可以直接</a:t>
            </a:r>
            <a:r>
              <a:rPr lang="zh-CN" altLang="en-US" sz="1600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通信（ 直接交付）</a:t>
            </a:r>
            <a:endParaRPr lang="zh-CN" altLang="en-US" sz="1600" b="1" dirty="0" smtClean="0">
              <a:solidFill>
                <a:srgbClr val="C00000"/>
              </a:solidFill>
              <a:latin typeface="Arial Narrow" panose="020B060602020203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280807" y="2849172"/>
            <a:ext cx="1512168" cy="360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algn="ctr">
              <a:defRPr/>
            </a:pPr>
            <a:r>
              <a:rPr lang="zh-CN" altLang="en-US" sz="14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保留了网络</a:t>
            </a:r>
            <a:r>
              <a:rPr lang="zh-CN" altLang="en-US" sz="14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号</a:t>
            </a:r>
            <a:endParaRPr kumimoji="0" lang="zh-CN" altLang="en-US" sz="14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57065" y="2152805"/>
            <a:ext cx="1008000" cy="324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algn="ctr">
              <a:defRPr/>
            </a:pP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子网掩码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57065" y="1773372"/>
            <a:ext cx="1008112" cy="32400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0800" rIns="10800" rtlCol="0" anchor="ctr"/>
          <a:lstStyle/>
          <a:p>
            <a:pPr lvl="0" algn="ctr">
              <a:defRPr/>
            </a:pP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地址</a:t>
            </a:r>
            <a:endParaRPr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39051" y="2113616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>
                <a:solidFill>
                  <a:srgbClr val="C00000"/>
                </a:solidFill>
              </a:rPr>
              <a:t>^</a:t>
            </a:r>
            <a:endParaRPr lang="zh-CN" altLang="en-US" sz="2600" b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13055" y="1753576"/>
            <a:ext cx="2031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spc="2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1001.01010110</a:t>
            </a:r>
            <a:endParaRPr lang="en-US" altLang="zh-CN" sz="2000" spc="2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13055" y="2113616"/>
            <a:ext cx="1967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0000.00000000</a:t>
            </a:r>
            <a:endParaRPr lang="en-US" altLang="zh-CN" sz="20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1380659" y="2519538"/>
            <a:ext cx="5076000" cy="0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617073" y="1766719"/>
            <a:ext cx="2967510" cy="68400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47664" y="1756729"/>
            <a:ext cx="3160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11001010.10101000.1010</a:t>
            </a:r>
            <a:endParaRPr lang="en-US" altLang="zh-CN" sz="2000" dirty="0">
              <a:solidFill>
                <a:schemeClr val="tx2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" name="圆角矩形标注 8"/>
          <p:cNvSpPr/>
          <p:nvPr/>
        </p:nvSpPr>
        <p:spPr>
          <a:xfrm>
            <a:off x="607060" y="2545715"/>
            <a:ext cx="975995" cy="291465"/>
          </a:xfrm>
          <a:prstGeom prst="wedgeRoundRectCallout">
            <a:avLst>
              <a:gd name="adj1" fmla="val 62345"/>
              <a:gd name="adj2" fmla="val -96251"/>
              <a:gd name="adj3" fmla="val 16667"/>
            </a:avLst>
          </a:prstGeom>
          <a:solidFill>
            <a:srgbClr val="FFC0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400" b="1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见</a:t>
            </a:r>
            <a:r>
              <a:rPr lang="en-US" altLang="zh-CN" sz="1400" b="1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不变</a:t>
            </a:r>
            <a:endParaRPr lang="zh-CN" altLang="en-US" sz="14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615763" y="1766639"/>
            <a:ext cx="1800000" cy="68400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13055" y="2113616"/>
            <a:ext cx="1967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chemeClr val="accent6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0000.00000000</a:t>
            </a:r>
            <a:endParaRPr lang="en-US" altLang="zh-CN" sz="2000" dirty="0">
              <a:solidFill>
                <a:schemeClr val="accent6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8" name="圆角矩形标注 27"/>
          <p:cNvSpPr/>
          <p:nvPr/>
        </p:nvSpPr>
        <p:spPr>
          <a:xfrm>
            <a:off x="5895975" y="2450465"/>
            <a:ext cx="904875" cy="349250"/>
          </a:xfrm>
          <a:prstGeom prst="wedgeRoundRectCallout">
            <a:avLst>
              <a:gd name="adj1" fmla="val -61813"/>
              <a:gd name="adj2" fmla="val -103508"/>
              <a:gd name="adj3" fmla="val 16667"/>
            </a:avLst>
          </a:prstGeom>
          <a:solidFill>
            <a:srgbClr val="FFC0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400" b="1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见</a:t>
            </a:r>
            <a:r>
              <a:rPr lang="en-US" altLang="zh-CN" sz="1400" b="1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400" b="1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400" b="1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14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860032" y="2836109"/>
            <a:ext cx="1368151" cy="36000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0800" rIns="10800" rtlCol="0" anchor="ctr"/>
          <a:lstStyle/>
          <a:p>
            <a:pPr lvl="0" algn="ctr">
              <a:defRPr/>
            </a:pPr>
            <a:r>
              <a:rPr lang="zh-CN" altLang="en-US" sz="14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屏蔽了主机号</a:t>
            </a:r>
            <a:endParaRPr lang="zh-CN" altLang="en-US" sz="1400" b="1" kern="0" dirty="0" smtClea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25372" y="4258831"/>
            <a:ext cx="654340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不</a:t>
            </a:r>
            <a:r>
              <a:rPr lang="zh-CN" altLang="en-US" sz="1600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同</a:t>
            </a:r>
            <a:endParaRPr lang="en-US" altLang="zh-CN" sz="1600" dirty="0" smtClean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071389" y="4262062"/>
            <a:ext cx="2140480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不在同</a:t>
            </a:r>
            <a:r>
              <a:rPr lang="zh-CN" altLang="en-US" sz="1600" b="1" dirty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一个网络中</a:t>
            </a:r>
            <a:endParaRPr lang="en-US" altLang="zh-CN" sz="1600" dirty="0" smtClean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51067" y="4265298"/>
            <a:ext cx="2649783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需要网关</a:t>
            </a:r>
            <a:r>
              <a:rPr lang="zh-CN" altLang="en-US" sz="1600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转发（间接交付）</a:t>
            </a:r>
            <a:endParaRPr lang="zh-CN" altLang="en-US" sz="1600" b="1" dirty="0" smtClean="0">
              <a:solidFill>
                <a:srgbClr val="C00000"/>
              </a:solidFill>
              <a:latin typeface="Arial Narrow" panose="020B060602020203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051720" y="998165"/>
            <a:ext cx="683297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只要</a:t>
            </a:r>
            <a:r>
              <a:rPr lang="zh-CN" altLang="en-US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将</a:t>
            </a:r>
            <a:r>
              <a:rPr lang="en-US" altLang="zh-CN" b="1" dirty="0">
                <a:solidFill>
                  <a:srgbClr val="034EA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b="1" dirty="0">
                <a:solidFill>
                  <a:srgbClr val="034EA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</a:t>
            </a:r>
            <a:r>
              <a:rPr lang="zh-CN" altLang="en-US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与其对应的</a:t>
            </a:r>
            <a:r>
              <a:rPr lang="zh-CN" altLang="en-US" b="1" dirty="0">
                <a:solidFill>
                  <a:srgbClr val="034EA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子网掩码</a:t>
            </a:r>
            <a:r>
              <a:rPr lang="zh-CN" altLang="en-US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进行“</a:t>
            </a:r>
            <a:r>
              <a:rPr lang="zh-CN" altLang="en-US" b="1" dirty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逻辑与”</a:t>
            </a:r>
            <a:r>
              <a:rPr lang="zh-CN" altLang="en-US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运算，就能</a:t>
            </a:r>
            <a:r>
              <a:rPr lang="zh-CN" altLang="en-US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得到</a:t>
            </a:r>
            <a:endParaRPr lang="en-US" altLang="zh-CN" dirty="0" smtClean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29107" y="1334580"/>
            <a:ext cx="218265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该</a:t>
            </a:r>
            <a:r>
              <a:rPr lang="en-US" altLang="zh-CN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地址的</a:t>
            </a:r>
            <a:r>
              <a:rPr lang="zh-CN" altLang="en-US" b="1" dirty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网络号</a:t>
            </a:r>
            <a:r>
              <a:rPr lang="zh-CN" altLang="en-US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en-US" altLang="zh-CN" dirty="0" smtClean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23728" y="3321586"/>
            <a:ext cx="4554496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判断</a:t>
            </a:r>
            <a:r>
              <a:rPr lang="zh-CN" altLang="en-US" sz="16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源主机与目的主机是否属于同一</a:t>
            </a:r>
            <a:r>
              <a:rPr lang="zh-CN" altLang="en-US" sz="16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子网。</a:t>
            </a:r>
            <a:endParaRPr lang="en-US" altLang="zh-CN" sz="1600" dirty="0" smtClean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9" name="上箭头 38"/>
          <p:cNvSpPr/>
          <p:nvPr/>
        </p:nvSpPr>
        <p:spPr>
          <a:xfrm>
            <a:off x="6498224" y="1306771"/>
            <a:ext cx="180000" cy="162000"/>
          </a:xfrm>
          <a:prstGeom prst="upArrow">
            <a:avLst/>
          </a:prstGeom>
          <a:solidFill>
            <a:srgbClr val="EBAC07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下箭头 23"/>
          <p:cNvSpPr/>
          <p:nvPr/>
        </p:nvSpPr>
        <p:spPr>
          <a:xfrm>
            <a:off x="2951840" y="2657327"/>
            <a:ext cx="180000" cy="180000"/>
          </a:xfrm>
          <a:prstGeom prst="downArrow">
            <a:avLst/>
          </a:prstGeom>
          <a:solidFill>
            <a:srgbClr val="2D7FAE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下箭头 39"/>
          <p:cNvSpPr/>
          <p:nvPr/>
        </p:nvSpPr>
        <p:spPr>
          <a:xfrm>
            <a:off x="5400112" y="2644264"/>
            <a:ext cx="180000" cy="180000"/>
          </a:xfrm>
          <a:prstGeom prst="downArrow">
            <a:avLst/>
          </a:prstGeom>
          <a:solidFill>
            <a:schemeClr val="accent6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12160" y="2886500"/>
            <a:ext cx="93610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“掩”</a:t>
            </a:r>
            <a:endParaRPr lang="zh-CN" altLang="en-US" sz="2000" b="1" dirty="0" smtClean="0">
              <a:solidFill>
                <a:srgbClr val="C0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1" name="流程图: 可选过程 40"/>
          <p:cNvSpPr/>
          <p:nvPr/>
        </p:nvSpPr>
        <p:spPr>
          <a:xfrm>
            <a:off x="320683" y="4057496"/>
            <a:ext cx="692838" cy="441730"/>
          </a:xfrm>
          <a:prstGeom prst="flowChartAlternateProcess">
            <a:avLst/>
          </a:prstGeom>
          <a:solidFill>
            <a:schemeClr val="accent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结果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" name="左大括号 26"/>
          <p:cNvSpPr/>
          <p:nvPr/>
        </p:nvSpPr>
        <p:spPr>
          <a:xfrm>
            <a:off x="1115616" y="4071867"/>
            <a:ext cx="144016" cy="432000"/>
          </a:xfrm>
          <a:prstGeom prst="leftBrac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右箭头 223"/>
          <p:cNvSpPr/>
          <p:nvPr/>
        </p:nvSpPr>
        <p:spPr>
          <a:xfrm>
            <a:off x="1929703" y="4051221"/>
            <a:ext cx="194025" cy="180000"/>
          </a:xfrm>
          <a:prstGeom prst="rightArrow">
            <a:avLst/>
          </a:prstGeom>
          <a:solidFill>
            <a:schemeClr val="tx2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右箭头 43"/>
          <p:cNvSpPr/>
          <p:nvPr/>
        </p:nvSpPr>
        <p:spPr>
          <a:xfrm>
            <a:off x="3947031" y="4051221"/>
            <a:ext cx="194025" cy="18000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右箭头 44"/>
          <p:cNvSpPr/>
          <p:nvPr/>
        </p:nvSpPr>
        <p:spPr>
          <a:xfrm>
            <a:off x="1948341" y="4384428"/>
            <a:ext cx="194025" cy="180000"/>
          </a:xfrm>
          <a:prstGeom prst="rightArrow">
            <a:avLst/>
          </a:prstGeom>
          <a:solidFill>
            <a:schemeClr val="tx2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右箭头 45"/>
          <p:cNvSpPr/>
          <p:nvPr/>
        </p:nvSpPr>
        <p:spPr>
          <a:xfrm>
            <a:off x="3943836" y="4384372"/>
            <a:ext cx="194025" cy="18000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4.30598E-6 L -3.88889E-6 0.14219 " pathEditMode="relative" rAng="0" ptsTypes="AA">
                                      <p:cBhvr>
                                        <p:cTn id="86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0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2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20111E-6 L 0.00174 0.07218 " pathEditMode="relative" rAng="0" ptsTypes="AA">
                                      <p:cBhvr>
                                        <p:cTn id="109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36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15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1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1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25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500"/>
                            </p:stCondLst>
                            <p:childTnLst>
                              <p:par>
                                <p:cTn id="1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500"/>
                            </p:stCondLst>
                            <p:childTnLst>
                              <p:par>
                                <p:cTn id="2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500"/>
                            </p:stCondLst>
                            <p:childTnLst>
                              <p:par>
                                <p:cTn id="2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8" grpId="0"/>
      <p:bldP spid="6" grpId="0"/>
      <p:bldP spid="6" grpId="1"/>
      <p:bldP spid="7" grpId="0" bldLvl="0" animBg="1"/>
      <p:bldP spid="4" grpId="0"/>
      <p:bldP spid="10" grpId="0"/>
      <p:bldP spid="10" grpId="1"/>
      <p:bldP spid="12" grpId="0"/>
      <p:bldP spid="13" grpId="0"/>
      <p:bldP spid="14" grpId="0"/>
      <p:bldP spid="15" grpId="0"/>
      <p:bldP spid="16" grpId="0"/>
      <p:bldP spid="17" grpId="0" bldLvl="0" animBg="1"/>
      <p:bldP spid="18" grpId="0" animBg="1"/>
      <p:bldP spid="19" grpId="0" animBg="1"/>
      <p:bldP spid="8" grpId="0"/>
      <p:bldP spid="20" grpId="0"/>
      <p:bldP spid="21" grpId="0"/>
      <p:bldP spid="21" grpId="1"/>
      <p:bldP spid="23" grpId="0" animBg="1"/>
      <p:bldP spid="25" grpId="0"/>
      <p:bldP spid="25" grpId="1"/>
      <p:bldP spid="9" grpId="0" bldLvl="0" animBg="1"/>
      <p:bldP spid="9" grpId="1" bldLvl="0" animBg="1"/>
      <p:bldP spid="29" grpId="0" animBg="1"/>
      <p:bldP spid="30" grpId="0"/>
      <p:bldP spid="30" grpId="1"/>
      <p:bldP spid="28" grpId="0" bldLvl="0" animBg="1"/>
      <p:bldP spid="28" grpId="1" bldLvl="0" animBg="1"/>
      <p:bldP spid="32" grpId="0" bldLvl="0" animBg="1"/>
      <p:bldP spid="33" grpId="0"/>
      <p:bldP spid="34" grpId="0"/>
      <p:bldP spid="35" grpId="0"/>
      <p:bldP spid="36" grpId="0"/>
      <p:bldP spid="37" grpId="0"/>
      <p:bldP spid="38" grpId="0"/>
      <p:bldP spid="39" grpId="0" animBg="1"/>
      <p:bldP spid="24" grpId="0" bldLvl="0" animBg="1"/>
      <p:bldP spid="40" grpId="0" bldLvl="0" animBg="1"/>
      <p:bldP spid="26" grpId="0"/>
      <p:bldP spid="41" grpId="0" bldLvl="0" animBg="1"/>
      <p:bldP spid="27" grpId="0" bldLvl="0" animBg="1"/>
      <p:bldP spid="224" grpId="0" bldLvl="0" animBg="1"/>
      <p:bldP spid="44" grpId="0" bldLvl="0" animBg="1"/>
      <p:bldP spid="45" grpId="0" bldLvl="0" animBg="1"/>
      <p:bldP spid="46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3478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19" y="132850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043609" y="221612"/>
            <a:ext cx="1656184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子网掩码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8" name="íşlïḍè"/>
          <p:cNvSpPr txBox="1"/>
          <p:nvPr/>
        </p:nvSpPr>
        <p:spPr>
          <a:xfrm>
            <a:off x="229107" y="660353"/>
            <a:ext cx="2614701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）</a:t>
            </a:r>
            <a:r>
              <a:rPr lang="en-US" altLang="zh-CN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 </a:t>
            </a:r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子网掩码的应用</a:t>
            </a:r>
            <a:endParaRPr lang="en-US" altLang="zh-CN" dirty="0">
              <a:solidFill>
                <a:srgbClr val="000000"/>
              </a:solidFill>
              <a:latin typeface="Arial Narrow" panose="020B0606020202030204"/>
              <a:ea typeface="微软雅黑" panose="020B0503020204020204" pitchFamily="34" charset="-122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50842" y="987622"/>
            <a:ext cx="810279" cy="432000"/>
          </a:xfrm>
          <a:prstGeom prst="ellipse">
            <a:avLst/>
          </a:prstGeom>
          <a:gradFill>
            <a:gsLst>
              <a:gs pos="0">
                <a:srgbClr val="C0504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C0504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C0504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案例</a:t>
            </a:r>
            <a:endParaRPr kumimoji="0" lang="zh-CN" altLang="en-US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9" name="Rectangle 3"/>
          <p:cNvSpPr txBox="1">
            <a:spLocks noChangeArrowheads="1"/>
          </p:cNvSpPr>
          <p:nvPr/>
        </p:nvSpPr>
        <p:spPr>
          <a:xfrm>
            <a:off x="861121" y="915566"/>
            <a:ext cx="5250416" cy="5002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192.168.1.126</a:t>
            </a:r>
            <a:r>
              <a:rPr lang="zh-CN" altLang="en-US" sz="18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和</a:t>
            </a:r>
            <a:r>
              <a:rPr lang="en-US" altLang="zh-CN" sz="18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192.168.1.129</a:t>
            </a:r>
            <a:r>
              <a:rPr lang="zh-CN" altLang="en-US" sz="18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是否在同一网络？</a:t>
            </a:r>
            <a:endParaRPr lang="en-US" altLang="zh-CN" sz="18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endParaRPr lang="en-US" altLang="zh-CN" sz="18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0" name="Rectangle 3"/>
          <p:cNvSpPr txBox="1">
            <a:spLocks noChangeArrowheads="1"/>
          </p:cNvSpPr>
          <p:nvPr/>
        </p:nvSpPr>
        <p:spPr>
          <a:xfrm>
            <a:off x="6088534" y="915566"/>
            <a:ext cx="493724" cy="5002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zh-CN" altLang="en-US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在？</a:t>
            </a:r>
            <a:endParaRPr lang="en-US" altLang="zh-CN" sz="18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1" name="Rectangle 3"/>
          <p:cNvSpPr txBox="1">
            <a:spLocks noChangeArrowheads="1"/>
          </p:cNvSpPr>
          <p:nvPr/>
        </p:nvSpPr>
        <p:spPr>
          <a:xfrm>
            <a:off x="6660232" y="915566"/>
            <a:ext cx="720080" cy="58299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zh-CN" altLang="en-US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不在？</a:t>
            </a:r>
            <a:endParaRPr lang="en-US" altLang="zh-CN" sz="18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085256" y="1370575"/>
            <a:ext cx="1838672" cy="360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255.255.255.0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076056" y="1373740"/>
            <a:ext cx="1944216" cy="360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255.255.255.128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370111" y="2142855"/>
            <a:ext cx="3744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11000000.10101000.00000001</a:t>
            </a:r>
            <a:endParaRPr lang="en-US" altLang="zh-CN" sz="20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372585" y="2499742"/>
            <a:ext cx="3885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spc="12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11111111.11111111.11111111</a:t>
            </a:r>
            <a:endParaRPr lang="en-US" altLang="zh-CN" sz="2000" spc="12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79512" y="2538931"/>
            <a:ext cx="1008000" cy="324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algn="ctr">
              <a:defRPr/>
            </a:pP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子网掩码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79512" y="2159498"/>
            <a:ext cx="1008112" cy="32400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0800" rIns="10800" rtlCol="0" anchor="ctr"/>
          <a:lstStyle/>
          <a:p>
            <a:pPr lvl="0" algn="ctr">
              <a:defRPr/>
            </a:pP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地址</a:t>
            </a:r>
            <a:endParaRPr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930086" y="2152765"/>
            <a:ext cx="1393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spc="8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.01111110</a:t>
            </a:r>
            <a:endParaRPr lang="en-US" altLang="zh-CN" sz="2000" spc="8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947618" y="2502010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.00000000</a:t>
            </a:r>
            <a:endParaRPr lang="en-US" altLang="zh-CN" sz="20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60" name="直接连接符 59"/>
          <p:cNvCxnSpPr/>
          <p:nvPr/>
        </p:nvCxnSpPr>
        <p:spPr>
          <a:xfrm>
            <a:off x="1180213" y="2905664"/>
            <a:ext cx="5076000" cy="0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1452581" y="2152845"/>
            <a:ext cx="3539588" cy="68400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383826" y="2142855"/>
            <a:ext cx="3730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11000000.10101000.00000001</a:t>
            </a:r>
            <a:endParaRPr lang="en-US" altLang="zh-CN" sz="2000" dirty="0">
              <a:solidFill>
                <a:schemeClr val="tx2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018295" y="2152805"/>
            <a:ext cx="1277107" cy="68400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947618" y="2502010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chemeClr val="accent6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.00000000</a:t>
            </a:r>
            <a:endParaRPr lang="en-US" altLang="zh-CN" sz="2000" dirty="0">
              <a:solidFill>
                <a:schemeClr val="accent6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65" name="直接连接符 64"/>
          <p:cNvCxnSpPr/>
          <p:nvPr/>
        </p:nvCxnSpPr>
        <p:spPr>
          <a:xfrm flipV="1">
            <a:off x="251520" y="3291830"/>
            <a:ext cx="8640000" cy="25324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/>
          <p:cNvSpPr txBox="1">
            <a:spLocks noChangeArrowheads="1"/>
          </p:cNvSpPr>
          <p:nvPr/>
        </p:nvSpPr>
        <p:spPr>
          <a:xfrm>
            <a:off x="761744" y="1648709"/>
            <a:ext cx="5573652" cy="5002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altLang="zh-CN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地址：</a:t>
            </a:r>
            <a:r>
              <a:rPr lang="en-US" altLang="zh-CN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192.168.1.126    </a:t>
            </a:r>
            <a:r>
              <a:rPr lang="zh-CN" altLang="en-US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子网掩码：</a:t>
            </a:r>
            <a:r>
              <a:rPr lang="en-US" altLang="zh-CN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255.255.255.0</a:t>
            </a:r>
            <a:endParaRPr lang="en-US" altLang="zh-CN" sz="18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8065" y="2919273"/>
            <a:ext cx="1008000" cy="270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网络地址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30412" y="2479986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>
                <a:solidFill>
                  <a:srgbClr val="C00000"/>
                </a:solidFill>
              </a:rPr>
              <a:t>^</a:t>
            </a:r>
            <a:endParaRPr lang="zh-CN" altLang="en-US" sz="2600" b="1" dirty="0">
              <a:solidFill>
                <a:srgbClr val="C00000"/>
              </a:solidFill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6444208" y="2944853"/>
            <a:ext cx="180000" cy="180000"/>
          </a:xfrm>
          <a:prstGeom prst="rightArrow">
            <a:avLst/>
          </a:prstGeom>
          <a:gradFill rotWithShape="0">
            <a:gsLst>
              <a:gs pos="0">
                <a:srgbClr val="C0504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C0504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C0504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65810" y="2827909"/>
            <a:ext cx="196663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192.168.1.0</a:t>
            </a:r>
            <a:endParaRPr lang="en-US" altLang="zh-CN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88426" y="3700905"/>
            <a:ext cx="3744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11000000.10101000.00000001</a:t>
            </a:r>
            <a:endParaRPr lang="en-US" altLang="zh-CN" sz="20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90900" y="4057792"/>
            <a:ext cx="3885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spc="12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11111111.11111111.11111111</a:t>
            </a:r>
            <a:endParaRPr lang="en-US" altLang="zh-CN" sz="2000" spc="12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97827" y="4096981"/>
            <a:ext cx="1008000" cy="324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algn="ctr">
              <a:defRPr/>
            </a:pP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子网掩码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97827" y="3717548"/>
            <a:ext cx="1008112" cy="32400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0800" rIns="10800" rtlCol="0" anchor="ctr"/>
          <a:lstStyle/>
          <a:p>
            <a:pPr lvl="0" algn="ctr">
              <a:defRPr/>
            </a:pP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地址</a:t>
            </a:r>
            <a:endParaRPr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61464" y="3710815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.10000001</a:t>
            </a:r>
            <a:endParaRPr lang="en-US" altLang="zh-CN" sz="20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65933" y="4060060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.00000000</a:t>
            </a:r>
            <a:endParaRPr lang="en-US" altLang="zh-CN" sz="20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1198528" y="4463714"/>
            <a:ext cx="5076000" cy="0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1470896" y="3710895"/>
            <a:ext cx="3539588" cy="68400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02141" y="3700905"/>
            <a:ext cx="3730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11000000.10101000.00000001</a:t>
            </a:r>
            <a:endParaRPr lang="en-US" altLang="zh-CN" sz="2000" dirty="0">
              <a:solidFill>
                <a:schemeClr val="tx2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036610" y="3710855"/>
            <a:ext cx="1277107" cy="68400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65933" y="4060060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chemeClr val="accent6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.00000000</a:t>
            </a:r>
            <a:endParaRPr lang="en-US" altLang="zh-CN" sz="2000" dirty="0">
              <a:solidFill>
                <a:schemeClr val="accent6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1" name="Rectangle 3"/>
          <p:cNvSpPr txBox="1">
            <a:spLocks noChangeArrowheads="1"/>
          </p:cNvSpPr>
          <p:nvPr/>
        </p:nvSpPr>
        <p:spPr>
          <a:xfrm>
            <a:off x="780059" y="3245948"/>
            <a:ext cx="5573652" cy="5002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altLang="zh-CN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地址：</a:t>
            </a:r>
            <a:r>
              <a:rPr lang="en-US" altLang="zh-CN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192.168.1.129    </a:t>
            </a:r>
            <a:r>
              <a:rPr lang="zh-CN" altLang="en-US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子网掩码：</a:t>
            </a:r>
            <a:r>
              <a:rPr lang="en-US" altLang="zh-CN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255.255.255.0</a:t>
            </a:r>
            <a:endParaRPr lang="en-US" altLang="zh-CN" sz="18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86380" y="4477323"/>
            <a:ext cx="1008000" cy="270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网络地址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48727" y="4038036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>
                <a:solidFill>
                  <a:srgbClr val="C00000"/>
                </a:solidFill>
              </a:rPr>
              <a:t>^</a:t>
            </a:r>
            <a:endParaRPr lang="zh-CN" altLang="en-US" sz="2600" b="1" dirty="0">
              <a:solidFill>
                <a:srgbClr val="C00000"/>
              </a:solidFill>
            </a:endParaRPr>
          </a:p>
        </p:txBody>
      </p:sp>
      <p:sp>
        <p:nvSpPr>
          <p:cNvPr id="44" name="右箭头 43"/>
          <p:cNvSpPr/>
          <p:nvPr/>
        </p:nvSpPr>
        <p:spPr>
          <a:xfrm>
            <a:off x="6462523" y="4529029"/>
            <a:ext cx="180000" cy="180000"/>
          </a:xfrm>
          <a:prstGeom prst="rightArrow">
            <a:avLst/>
          </a:prstGeom>
          <a:gradFill rotWithShape="0">
            <a:gsLst>
              <a:gs pos="0">
                <a:srgbClr val="C0504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C0504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C0504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84125" y="4411139"/>
            <a:ext cx="196663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192.168.1.0</a:t>
            </a:r>
            <a:endParaRPr lang="en-US" altLang="zh-CN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6" name="Rectangle 3"/>
          <p:cNvSpPr txBox="1">
            <a:spLocks noChangeArrowheads="1"/>
          </p:cNvSpPr>
          <p:nvPr/>
        </p:nvSpPr>
        <p:spPr>
          <a:xfrm>
            <a:off x="617990" y="1248415"/>
            <a:ext cx="720080" cy="5002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假设</a:t>
            </a:r>
            <a:endParaRPr lang="en-US" altLang="zh-CN" sz="1800" b="1" dirty="0">
              <a:solidFill>
                <a:schemeClr val="tx2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73941" y="1313620"/>
            <a:ext cx="92587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情况</a:t>
            </a:r>
            <a:r>
              <a:rPr lang="en-US" altLang="zh-CN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：</a:t>
            </a:r>
            <a:endParaRPr lang="en-US" altLang="zh-CN" dirty="0" smtClean="0">
              <a:solidFill>
                <a:srgbClr val="C0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176311" y="1330944"/>
            <a:ext cx="925871" cy="396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情况</a:t>
            </a:r>
            <a:r>
              <a:rPr lang="en-US" altLang="zh-CN" b="1" dirty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：</a:t>
            </a:r>
            <a:endParaRPr lang="en-US" altLang="zh-CN" dirty="0" smtClean="0">
              <a:solidFill>
                <a:srgbClr val="C0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084168" y="1203622"/>
            <a:ext cx="13320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7498761" y="1058998"/>
            <a:ext cx="1008000" cy="270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0" noProof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无法判断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90282" y="1615890"/>
            <a:ext cx="5930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①</a:t>
            </a:r>
            <a:endParaRPr lang="zh-CN" altLang="en-US" sz="2800" b="1" dirty="0">
              <a:solidFill>
                <a:srgbClr val="C0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34569" y="3278767"/>
            <a:ext cx="5930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②</a:t>
            </a:r>
            <a:endParaRPr lang="zh-CN" altLang="en-US" sz="2800" b="1" dirty="0">
              <a:solidFill>
                <a:srgbClr val="C0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6" name="上下箭头 15"/>
          <p:cNvSpPr/>
          <p:nvPr/>
        </p:nvSpPr>
        <p:spPr>
          <a:xfrm>
            <a:off x="6732240" y="3196861"/>
            <a:ext cx="216024" cy="1247097"/>
          </a:xfrm>
          <a:prstGeom prst="upDownArrow">
            <a:avLst/>
          </a:prstGeom>
          <a:noFill/>
          <a:ln>
            <a:solidFill>
              <a:schemeClr val="tx2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1" name="Rectangle 3"/>
          <p:cNvSpPr txBox="1">
            <a:spLocks noChangeArrowheads="1"/>
          </p:cNvSpPr>
          <p:nvPr/>
        </p:nvSpPr>
        <p:spPr>
          <a:xfrm>
            <a:off x="6948264" y="3363838"/>
            <a:ext cx="1465204" cy="88358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这两台主机在同一网络</a:t>
            </a:r>
            <a:endParaRPr lang="en-US" altLang="zh-CN" sz="1800" b="1" dirty="0">
              <a:solidFill>
                <a:schemeClr val="tx2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8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1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3" dur="25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500"/>
                            </p:stCondLst>
                            <p:childTnLst>
                              <p:par>
                                <p:cTn id="14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4.30598E-6 L -3.88889E-6 0.14219 " pathEditMode="relative" rAng="0" ptsTypes="AA">
                                      <p:cBhvr>
                                        <p:cTn id="14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0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7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500"/>
                            </p:stCondLst>
                            <p:childTnLst>
                              <p:par>
                                <p:cTn id="16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20111E-6 L 0.00174 0.07218 " pathEditMode="relative" rAng="0" ptsTypes="AA">
                                      <p:cBhvr>
                                        <p:cTn id="16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36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00"/>
                            </p:stCondLst>
                            <p:childTnLst>
                              <p:par>
                                <p:cTn id="1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"/>
                            </p:stCondLst>
                            <p:childTnLst>
                              <p:par>
                                <p:cTn id="1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1000"/>
                            </p:stCondLst>
                            <p:childTnLst>
                              <p:par>
                                <p:cTn id="2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1500"/>
                            </p:stCondLst>
                            <p:childTnLst>
                              <p:par>
                                <p:cTn id="2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500"/>
                            </p:stCondLst>
                            <p:childTnLst>
                              <p:par>
                                <p:cTn id="2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7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2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1500"/>
                            </p:stCondLst>
                            <p:childTnLst>
                              <p:par>
                                <p:cTn id="23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4.30598E-6 L -3.88889E-6 0.14219 " pathEditMode="relative" rAng="0" ptsTypes="AA">
                                      <p:cBhvr>
                                        <p:cTn id="2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0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500"/>
                            </p:stCondLst>
                            <p:childTnLst>
                              <p:par>
                                <p:cTn id="23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1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1000"/>
                            </p:stCondLst>
                            <p:childTnLst>
                              <p:par>
                                <p:cTn id="2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1500"/>
                            </p:stCondLst>
                            <p:childTnLst>
                              <p:par>
                                <p:cTn id="24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20111E-6 L 0.00174 0.07218 " pathEditMode="relative" rAng="0" ptsTypes="AA">
                                      <p:cBhvr>
                                        <p:cTn id="2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36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500"/>
                            </p:stCondLst>
                            <p:childTnLst>
                              <p:par>
                                <p:cTn id="2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500"/>
                            </p:stCondLst>
                            <p:childTnLst>
                              <p:par>
                                <p:cTn id="26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4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5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6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7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8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1000"/>
                            </p:stCondLst>
                            <p:childTnLst>
                              <p:par>
                                <p:cTn id="2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8" grpId="0"/>
      <p:bldP spid="47" grpId="0" animBg="1"/>
      <p:bldP spid="49" grpId="0"/>
      <p:bldP spid="50" grpId="0"/>
      <p:bldP spid="51" grpId="0"/>
      <p:bldP spid="52" grpId="0" animBg="1"/>
      <p:bldP spid="53" grpId="0" animBg="1"/>
      <p:bldP spid="53" grpId="1" animBg="1"/>
      <p:bldP spid="54" grpId="0"/>
      <p:bldP spid="55" grpId="0"/>
      <p:bldP spid="55" grpId="1"/>
      <p:bldP spid="56" grpId="0" animBg="1"/>
      <p:bldP spid="57" grpId="0" animBg="1"/>
      <p:bldP spid="58" grpId="0"/>
      <p:bldP spid="59" grpId="0"/>
      <p:bldP spid="59" grpId="1"/>
      <p:bldP spid="61" grpId="0" animBg="1"/>
      <p:bldP spid="62" grpId="0"/>
      <p:bldP spid="62" grpId="1"/>
      <p:bldP spid="63" grpId="0" animBg="1"/>
      <p:bldP spid="64" grpId="0"/>
      <p:bldP spid="64" grpId="1"/>
      <p:bldP spid="66" grpId="0"/>
      <p:bldP spid="25" grpId="0" animBg="1"/>
      <p:bldP spid="26" grpId="0"/>
      <p:bldP spid="4" grpId="0" animBg="1"/>
      <p:bldP spid="28" grpId="0"/>
      <p:bldP spid="28" grpId="1"/>
      <p:bldP spid="29" grpId="0"/>
      <p:bldP spid="30" grpId="0"/>
      <p:bldP spid="30" grpId="1"/>
      <p:bldP spid="31" grpId="0" animBg="1"/>
      <p:bldP spid="32" grpId="0" animBg="1"/>
      <p:bldP spid="33" grpId="0"/>
      <p:bldP spid="34" grpId="0"/>
      <p:bldP spid="34" grpId="1"/>
      <p:bldP spid="36" grpId="0" animBg="1"/>
      <p:bldP spid="37" grpId="0"/>
      <p:bldP spid="37" grpId="1"/>
      <p:bldP spid="38" grpId="0" animBg="1"/>
      <p:bldP spid="39" grpId="0"/>
      <p:bldP spid="39" grpId="1"/>
      <p:bldP spid="41" grpId="0"/>
      <p:bldP spid="42" grpId="0" animBg="1"/>
      <p:bldP spid="43" grpId="0"/>
      <p:bldP spid="44" grpId="0" animBg="1"/>
      <p:bldP spid="45" grpId="0"/>
      <p:bldP spid="45" grpId="1"/>
      <p:bldP spid="46" grpId="0"/>
      <p:bldP spid="48" grpId="0"/>
      <p:bldP spid="67" grpId="0"/>
      <p:bldP spid="67" grpId="1"/>
      <p:bldP spid="68" grpId="0" animBg="1"/>
      <p:bldP spid="69" grpId="0"/>
      <p:bldP spid="70" grpId="0"/>
      <p:bldP spid="16" grpId="0" animBg="1"/>
      <p:bldP spid="7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3478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19" y="132850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043609" y="221612"/>
            <a:ext cx="1656184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子网掩码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8" name="íşlïḍè"/>
          <p:cNvSpPr txBox="1"/>
          <p:nvPr/>
        </p:nvSpPr>
        <p:spPr>
          <a:xfrm>
            <a:off x="229107" y="660353"/>
            <a:ext cx="2614701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）</a:t>
            </a:r>
            <a:r>
              <a:rPr lang="en-US" altLang="zh-CN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 </a:t>
            </a:r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子网掩码的应用</a:t>
            </a:r>
            <a:endParaRPr lang="en-US" altLang="zh-CN" dirty="0">
              <a:solidFill>
                <a:srgbClr val="000000"/>
              </a:solidFill>
              <a:latin typeface="Arial Narrow" panose="020B0606020202030204"/>
              <a:ea typeface="微软雅黑" panose="020B0503020204020204" pitchFamily="34" charset="-122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50842" y="987622"/>
            <a:ext cx="810279" cy="432000"/>
          </a:xfrm>
          <a:prstGeom prst="ellipse">
            <a:avLst/>
          </a:prstGeom>
          <a:gradFill>
            <a:gsLst>
              <a:gs pos="0">
                <a:srgbClr val="C0504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C0504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C0504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案例</a:t>
            </a:r>
            <a:endParaRPr kumimoji="0" lang="zh-CN" altLang="en-US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9" name="Rectangle 3"/>
          <p:cNvSpPr txBox="1">
            <a:spLocks noChangeArrowheads="1"/>
          </p:cNvSpPr>
          <p:nvPr/>
        </p:nvSpPr>
        <p:spPr>
          <a:xfrm>
            <a:off x="861121" y="915566"/>
            <a:ext cx="5250416" cy="5002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192.168.1.126</a:t>
            </a:r>
            <a:r>
              <a:rPr lang="zh-CN" altLang="en-US" sz="18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和</a:t>
            </a:r>
            <a:r>
              <a:rPr lang="en-US" altLang="zh-CN" sz="18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192.168.1.129</a:t>
            </a:r>
            <a:r>
              <a:rPr lang="zh-CN" altLang="en-US" sz="18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是否在同一网络？</a:t>
            </a:r>
            <a:endParaRPr lang="en-US" altLang="zh-CN" sz="18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endParaRPr lang="en-US" altLang="zh-CN" sz="18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0" name="Rectangle 3"/>
          <p:cNvSpPr txBox="1">
            <a:spLocks noChangeArrowheads="1"/>
          </p:cNvSpPr>
          <p:nvPr/>
        </p:nvSpPr>
        <p:spPr>
          <a:xfrm>
            <a:off x="6088534" y="915566"/>
            <a:ext cx="493724" cy="5002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zh-CN" altLang="en-US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在？</a:t>
            </a:r>
            <a:endParaRPr lang="en-US" altLang="zh-CN" sz="18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1" name="Rectangle 3"/>
          <p:cNvSpPr txBox="1">
            <a:spLocks noChangeArrowheads="1"/>
          </p:cNvSpPr>
          <p:nvPr/>
        </p:nvSpPr>
        <p:spPr>
          <a:xfrm>
            <a:off x="6660232" y="915566"/>
            <a:ext cx="720080" cy="58299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zh-CN" altLang="en-US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不在？</a:t>
            </a:r>
            <a:endParaRPr lang="en-US" altLang="zh-CN" sz="18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085256" y="1370575"/>
            <a:ext cx="1838672" cy="360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255.255.255.0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372584" y="2499742"/>
            <a:ext cx="4063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spc="11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11111111.11111111.11111111.1</a:t>
            </a:r>
            <a:endParaRPr lang="en-US" altLang="zh-CN" sz="2000" spc="11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79512" y="2538931"/>
            <a:ext cx="1008000" cy="324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algn="ctr">
              <a:defRPr/>
            </a:pP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子网掩码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79512" y="2159498"/>
            <a:ext cx="1008112" cy="32400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0800" rIns="10800" rtlCol="0" anchor="ctr"/>
          <a:lstStyle/>
          <a:p>
            <a:pPr lvl="0" algn="ctr">
              <a:defRPr/>
            </a:pP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地址</a:t>
            </a:r>
            <a:endParaRPr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141694" y="2158577"/>
            <a:ext cx="1159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spc="8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1111110</a:t>
            </a:r>
            <a:endParaRPr lang="en-US" altLang="zh-CN" sz="2000" spc="8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076056" y="2494805"/>
            <a:ext cx="11844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 0000000</a:t>
            </a:r>
            <a:endParaRPr lang="en-US" altLang="zh-CN" sz="20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60" name="直接连接符 59"/>
          <p:cNvCxnSpPr/>
          <p:nvPr/>
        </p:nvCxnSpPr>
        <p:spPr>
          <a:xfrm>
            <a:off x="1180213" y="2905664"/>
            <a:ext cx="5076000" cy="0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1128679" y="2152845"/>
            <a:ext cx="4072336" cy="68400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359954" y="2159498"/>
            <a:ext cx="3906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11000000.10101000.00000001.0</a:t>
            </a:r>
            <a:endParaRPr lang="en-US" altLang="zh-CN" sz="2000" dirty="0">
              <a:solidFill>
                <a:schemeClr val="tx2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232417" y="2152805"/>
            <a:ext cx="1036859" cy="68400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144615" y="2499742"/>
            <a:ext cx="1183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chemeClr val="accent6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0000000</a:t>
            </a:r>
            <a:endParaRPr lang="en-US" altLang="zh-CN" sz="2000" dirty="0">
              <a:solidFill>
                <a:schemeClr val="accent6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65" name="直接连接符 64"/>
          <p:cNvCxnSpPr/>
          <p:nvPr/>
        </p:nvCxnSpPr>
        <p:spPr>
          <a:xfrm flipV="1">
            <a:off x="251520" y="3291830"/>
            <a:ext cx="8640000" cy="25324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/>
          <p:cNvSpPr txBox="1">
            <a:spLocks noChangeArrowheads="1"/>
          </p:cNvSpPr>
          <p:nvPr/>
        </p:nvSpPr>
        <p:spPr>
          <a:xfrm>
            <a:off x="761744" y="1648709"/>
            <a:ext cx="5898488" cy="5002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altLang="zh-CN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地址：</a:t>
            </a:r>
            <a:r>
              <a:rPr lang="en-US" altLang="zh-CN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192.168.1.126    </a:t>
            </a:r>
            <a:r>
              <a:rPr lang="zh-CN" altLang="en-US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子网掩码：</a:t>
            </a:r>
            <a:r>
              <a:rPr lang="en-US" altLang="zh-CN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255.255.255.128</a:t>
            </a:r>
            <a:endParaRPr lang="en-US" altLang="zh-CN" sz="18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8065" y="2919273"/>
            <a:ext cx="1008000" cy="270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网络地址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30412" y="2479986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>
                <a:solidFill>
                  <a:srgbClr val="C00000"/>
                </a:solidFill>
              </a:rPr>
              <a:t>^</a:t>
            </a:r>
            <a:endParaRPr lang="zh-CN" altLang="en-US" sz="2600" b="1" dirty="0">
              <a:solidFill>
                <a:srgbClr val="C00000"/>
              </a:solidFill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6444208" y="2944853"/>
            <a:ext cx="180000" cy="180000"/>
          </a:xfrm>
          <a:prstGeom prst="rightArrow">
            <a:avLst/>
          </a:prstGeom>
          <a:gradFill rotWithShape="0">
            <a:gsLst>
              <a:gs pos="0">
                <a:srgbClr val="C0504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C0504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C0504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65810" y="2827909"/>
            <a:ext cx="196663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192.168.1.0</a:t>
            </a:r>
            <a:endParaRPr lang="en-US" altLang="zh-CN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1" name="Rectangle 3"/>
          <p:cNvSpPr txBox="1">
            <a:spLocks noChangeArrowheads="1"/>
          </p:cNvSpPr>
          <p:nvPr/>
        </p:nvSpPr>
        <p:spPr>
          <a:xfrm>
            <a:off x="780058" y="3245948"/>
            <a:ext cx="5664149" cy="5002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altLang="zh-CN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地址：</a:t>
            </a:r>
            <a:r>
              <a:rPr lang="en-US" altLang="zh-CN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192.168.1.129    </a:t>
            </a:r>
            <a:r>
              <a:rPr lang="zh-CN" altLang="en-US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子网掩码：</a:t>
            </a:r>
            <a:r>
              <a:rPr lang="en-US" altLang="zh-CN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255.255.255.128</a:t>
            </a:r>
            <a:endParaRPr lang="en-US" altLang="zh-CN" sz="18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4" name="右箭头 43"/>
          <p:cNvSpPr/>
          <p:nvPr/>
        </p:nvSpPr>
        <p:spPr>
          <a:xfrm>
            <a:off x="6462523" y="4529029"/>
            <a:ext cx="180000" cy="180000"/>
          </a:xfrm>
          <a:prstGeom prst="rightArrow">
            <a:avLst/>
          </a:prstGeom>
          <a:gradFill rotWithShape="0">
            <a:gsLst>
              <a:gs pos="0">
                <a:srgbClr val="C0504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C0504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C0504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84125" y="4411139"/>
            <a:ext cx="196663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192.168.1.128</a:t>
            </a:r>
            <a:endParaRPr lang="en-US" altLang="zh-CN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6" name="Rectangle 3"/>
          <p:cNvSpPr txBox="1">
            <a:spLocks noChangeArrowheads="1"/>
          </p:cNvSpPr>
          <p:nvPr/>
        </p:nvSpPr>
        <p:spPr>
          <a:xfrm>
            <a:off x="617990" y="1248415"/>
            <a:ext cx="720080" cy="5002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假设</a:t>
            </a:r>
            <a:endParaRPr lang="en-US" altLang="zh-CN" sz="1800" b="1" dirty="0">
              <a:solidFill>
                <a:schemeClr val="tx2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73941" y="1313620"/>
            <a:ext cx="92587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情况</a:t>
            </a:r>
            <a:r>
              <a:rPr lang="en-US" altLang="zh-CN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：</a:t>
            </a:r>
            <a:endParaRPr lang="en-US" altLang="zh-CN" dirty="0" smtClean="0">
              <a:solidFill>
                <a:srgbClr val="C0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176311" y="1330944"/>
            <a:ext cx="2843961" cy="402796"/>
            <a:chOff x="4176311" y="1330944"/>
            <a:chExt cx="2843961" cy="402796"/>
          </a:xfrm>
        </p:grpSpPr>
        <p:sp>
          <p:nvSpPr>
            <p:cNvPr id="53" name="矩形 52"/>
            <p:cNvSpPr/>
            <p:nvPr/>
          </p:nvSpPr>
          <p:spPr>
            <a:xfrm>
              <a:off x="5076056" y="1373740"/>
              <a:ext cx="1944216" cy="360000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600" b="1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255.255.255.128</a:t>
              </a:r>
              <a:endPara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176311" y="1330944"/>
              <a:ext cx="925871" cy="396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 smtClean="0">
                  <a:solidFill>
                    <a:srgbClr val="C00000"/>
                  </a:solidFill>
                  <a:latin typeface="Arial Narrow" panose="020B0606020202030204"/>
                  <a:ea typeface="微软雅黑" panose="020B0503020204020204" pitchFamily="34" charset="-122"/>
                </a:rPr>
                <a:t>情况</a:t>
              </a:r>
              <a:r>
                <a:rPr lang="en-US" altLang="zh-CN" b="1" dirty="0">
                  <a:solidFill>
                    <a:srgbClr val="C00000"/>
                  </a:solidFill>
                  <a:latin typeface="Arial Narrow" panose="020B0606020202030204"/>
                  <a:ea typeface="微软雅黑" panose="020B0503020204020204" pitchFamily="34" charset="-122"/>
                </a:rPr>
                <a:t>2</a:t>
              </a:r>
              <a:r>
                <a:rPr lang="zh-CN" altLang="en-US" b="1" dirty="0" smtClean="0">
                  <a:solidFill>
                    <a:srgbClr val="C00000"/>
                  </a:solidFill>
                  <a:latin typeface="Arial Narrow" panose="020B0606020202030204"/>
                  <a:ea typeface="微软雅黑" panose="020B0503020204020204" pitchFamily="34" charset="-122"/>
                </a:rPr>
                <a:t>：</a:t>
              </a:r>
              <a:endParaRPr lang="en-US" altLang="zh-CN" dirty="0" smtClean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cxnSp>
        <p:nvCxnSpPr>
          <p:cNvPr id="15" name="直接连接符 14"/>
          <p:cNvCxnSpPr/>
          <p:nvPr/>
        </p:nvCxnSpPr>
        <p:spPr>
          <a:xfrm>
            <a:off x="6084168" y="1203622"/>
            <a:ext cx="13320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7498761" y="1058998"/>
            <a:ext cx="1008000" cy="270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0" noProof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无法判断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90282" y="1615890"/>
            <a:ext cx="5930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①</a:t>
            </a:r>
            <a:endParaRPr lang="zh-CN" altLang="en-US" sz="2800" b="1" dirty="0">
              <a:solidFill>
                <a:srgbClr val="C0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34569" y="3265704"/>
            <a:ext cx="5930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②</a:t>
            </a:r>
            <a:endParaRPr lang="zh-CN" altLang="en-US" sz="2800" b="1" dirty="0">
              <a:solidFill>
                <a:srgbClr val="C0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6" name="上下箭头 15"/>
          <p:cNvSpPr/>
          <p:nvPr/>
        </p:nvSpPr>
        <p:spPr>
          <a:xfrm>
            <a:off x="6732240" y="3196861"/>
            <a:ext cx="216024" cy="1247097"/>
          </a:xfrm>
          <a:prstGeom prst="upDownArrow">
            <a:avLst/>
          </a:prstGeom>
          <a:noFill/>
          <a:ln>
            <a:solidFill>
              <a:schemeClr val="tx2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1" name="Rectangle 3"/>
          <p:cNvSpPr txBox="1">
            <a:spLocks noChangeArrowheads="1"/>
          </p:cNvSpPr>
          <p:nvPr/>
        </p:nvSpPr>
        <p:spPr>
          <a:xfrm>
            <a:off x="6948264" y="3363838"/>
            <a:ext cx="1465204" cy="88358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zh-CN" altLang="en-US" sz="1800" b="1" dirty="0" smtClean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两</a:t>
            </a:r>
            <a:r>
              <a:rPr lang="zh-CN" altLang="en-US" sz="1800" b="1" dirty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台</a:t>
            </a:r>
            <a:r>
              <a:rPr lang="zh-CN" altLang="en-US" sz="1800" b="1" dirty="0" smtClean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主机</a:t>
            </a:r>
            <a:r>
              <a:rPr lang="zh-CN" altLang="en-US" sz="1800" b="1" dirty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不</a:t>
            </a:r>
            <a:r>
              <a:rPr lang="zh-CN" altLang="en-US" sz="1800" b="1" dirty="0" smtClean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在</a:t>
            </a:r>
            <a:r>
              <a:rPr lang="zh-CN" altLang="en-US" sz="1800" b="1" dirty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同一网络</a:t>
            </a:r>
            <a:endParaRPr lang="en-US" altLang="zh-CN" sz="1800" b="1" dirty="0">
              <a:solidFill>
                <a:schemeClr val="tx2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359954" y="2159498"/>
            <a:ext cx="3906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11000000.10101000.00000001.0</a:t>
            </a:r>
            <a:endParaRPr lang="en-US" altLang="zh-CN" sz="20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402481" y="4070815"/>
            <a:ext cx="4063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spc="11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11111111.11111111.11111111.1</a:t>
            </a:r>
            <a:endParaRPr lang="en-US" altLang="zh-CN" sz="2000" spc="11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209409" y="4110004"/>
            <a:ext cx="1008000" cy="324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algn="ctr">
              <a:defRPr/>
            </a:pP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子网掩码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209409" y="3730571"/>
            <a:ext cx="1008112" cy="32400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0800" rIns="10800" rtlCol="0" anchor="ctr"/>
          <a:lstStyle/>
          <a:p>
            <a:pPr lvl="0" algn="ctr">
              <a:defRPr/>
            </a:pP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地址</a:t>
            </a:r>
            <a:endParaRPr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171591" y="3729650"/>
            <a:ext cx="1183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0000001</a:t>
            </a:r>
            <a:endParaRPr lang="en-US" altLang="zh-CN" sz="20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105953" y="4065878"/>
            <a:ext cx="11844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 0000000</a:t>
            </a:r>
            <a:endParaRPr lang="en-US" altLang="zh-CN" sz="20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79" name="直接连接符 78"/>
          <p:cNvCxnSpPr/>
          <p:nvPr/>
        </p:nvCxnSpPr>
        <p:spPr>
          <a:xfrm>
            <a:off x="1210110" y="4476737"/>
            <a:ext cx="5076000" cy="0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 79"/>
          <p:cNvSpPr/>
          <p:nvPr/>
        </p:nvSpPr>
        <p:spPr>
          <a:xfrm>
            <a:off x="1158576" y="3723918"/>
            <a:ext cx="4072336" cy="68400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389851" y="3730571"/>
            <a:ext cx="3906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11000000.10101000.00000001.1</a:t>
            </a:r>
            <a:endParaRPr lang="en-US" altLang="zh-CN" sz="2000" dirty="0">
              <a:solidFill>
                <a:schemeClr val="tx2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5262314" y="3723878"/>
            <a:ext cx="1036859" cy="68400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174512" y="4070815"/>
            <a:ext cx="1183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chemeClr val="accent6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0000000</a:t>
            </a:r>
            <a:endParaRPr lang="en-US" altLang="zh-CN" sz="2000" dirty="0">
              <a:solidFill>
                <a:schemeClr val="accent6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97962" y="4490346"/>
            <a:ext cx="1008000" cy="270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网络地址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160309" y="4051059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>
                <a:solidFill>
                  <a:srgbClr val="C00000"/>
                </a:solidFill>
              </a:rPr>
              <a:t>^</a:t>
            </a:r>
            <a:endParaRPr lang="zh-CN" altLang="en-US" sz="2600" b="1" dirty="0">
              <a:solidFill>
                <a:srgbClr val="C00000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389851" y="3730571"/>
            <a:ext cx="3906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11000000.10101000.00000001.1</a:t>
            </a:r>
            <a:endParaRPr lang="en-US" altLang="zh-CN" sz="20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031 L -0.32482 -0.00772 " pathEditMode="relative" rAng="0" ptsTypes="AA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33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9.62369E-7 L 3.61111E-6 0.13942 " pathEditMode="relative" rAng="0" ptsTypes="AA">
                                      <p:cBhvr>
                                        <p:cTn id="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9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20111E-6 L 0.00174 0.07218 " pathEditMode="relative" rAng="0" ptsTypes="AA">
                                      <p:cBhvr>
                                        <p:cTn id="9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36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 tmFilter="0, 0; .2, .5; .8, .5; 1, 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0" dur="250" autoRev="1" fill="hold"/>
                                        <p:tgtEl>
                                          <p:spTgt spid="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500"/>
                            </p:stCondLst>
                            <p:childTnLst>
                              <p:par>
                                <p:cTn id="16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9.62369E-7 L 3.61111E-6 0.13942 " pathEditMode="relative" rAng="0" ptsTypes="AA">
                                      <p:cBhvr>
                                        <p:cTn id="16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9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 tmFilter="0, 0; .2, .5; .8, .5; 1, 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4" dur="250" autoRev="1" fill="hold"/>
                                        <p:tgtEl>
                                          <p:spTgt spid="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500"/>
                            </p:stCondLst>
                            <p:childTnLst>
                              <p:par>
                                <p:cTn id="17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20111E-6 L 0.00174 0.07218 " pathEditMode="relative" rAng="0" ptsTypes="AA">
                                      <p:cBhvr>
                                        <p:cTn id="18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36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500"/>
                            </p:stCondLst>
                            <p:childTnLst>
                              <p:par>
                                <p:cTn id="19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8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1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000"/>
                            </p:stCondLst>
                            <p:childTnLst>
                              <p:par>
                                <p:cTn id="2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2" grpId="0" animBg="1"/>
      <p:bldP spid="55" grpId="0"/>
      <p:bldP spid="55" grpId="1"/>
      <p:bldP spid="56" grpId="0" animBg="1"/>
      <p:bldP spid="57" grpId="0" animBg="1"/>
      <p:bldP spid="58" grpId="0"/>
      <p:bldP spid="59" grpId="0"/>
      <p:bldP spid="59" grpId="1"/>
      <p:bldP spid="61" grpId="0" animBg="1"/>
      <p:bldP spid="62" grpId="0"/>
      <p:bldP spid="62" grpId="1"/>
      <p:bldP spid="63" grpId="0" animBg="1"/>
      <p:bldP spid="64" grpId="0"/>
      <p:bldP spid="64" grpId="1"/>
      <p:bldP spid="66" grpId="0"/>
      <p:bldP spid="25" grpId="0" animBg="1"/>
      <p:bldP spid="26" grpId="0"/>
      <p:bldP spid="4" grpId="0" animBg="1"/>
      <p:bldP spid="28" grpId="0"/>
      <p:bldP spid="28" grpId="1"/>
      <p:bldP spid="41" grpId="0"/>
      <p:bldP spid="44" grpId="0" animBg="1"/>
      <p:bldP spid="45" grpId="0"/>
      <p:bldP spid="45" grpId="1"/>
      <p:bldP spid="48" grpId="0"/>
      <p:bldP spid="69" grpId="0"/>
      <p:bldP spid="70" grpId="0"/>
      <p:bldP spid="16" grpId="0" animBg="1"/>
      <p:bldP spid="71" grpId="0"/>
      <p:bldP spid="73" grpId="0"/>
      <p:bldP spid="74" grpId="0"/>
      <p:bldP spid="74" grpId="1"/>
      <p:bldP spid="75" grpId="0" animBg="1"/>
      <p:bldP spid="76" grpId="0" animBg="1"/>
      <p:bldP spid="77" grpId="0"/>
      <p:bldP spid="78" grpId="0"/>
      <p:bldP spid="78" grpId="1"/>
      <p:bldP spid="80" grpId="0" animBg="1"/>
      <p:bldP spid="81" grpId="0"/>
      <p:bldP spid="81" grpId="1"/>
      <p:bldP spid="82" grpId="0" animBg="1"/>
      <p:bldP spid="83" grpId="0"/>
      <p:bldP spid="83" grpId="1"/>
      <p:bldP spid="84" grpId="0" animBg="1"/>
      <p:bldP spid="85" grpId="0"/>
      <p:bldP spid="8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93"/>
          <p:cNvSpPr txBox="1"/>
          <p:nvPr/>
        </p:nvSpPr>
        <p:spPr>
          <a:xfrm>
            <a:off x="1395274" y="2645650"/>
            <a:ext cx="3730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11000000.10101000.00000001</a:t>
            </a:r>
            <a:endParaRPr lang="en-US" altLang="zh-CN" sz="2000" dirty="0">
              <a:solidFill>
                <a:schemeClr val="tx2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3478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19" y="132850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043609" y="221612"/>
            <a:ext cx="1656184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子网掩码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8" name="íşlïḍè"/>
          <p:cNvSpPr txBox="1"/>
          <p:nvPr/>
        </p:nvSpPr>
        <p:spPr>
          <a:xfrm>
            <a:off x="229107" y="660353"/>
            <a:ext cx="2614701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）</a:t>
            </a:r>
            <a:r>
              <a:rPr lang="en-US" altLang="zh-CN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 </a:t>
            </a:r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子网掩码的应用</a:t>
            </a:r>
            <a:endParaRPr lang="en-US" altLang="zh-CN" dirty="0">
              <a:solidFill>
                <a:srgbClr val="000000"/>
              </a:solidFill>
              <a:latin typeface="Arial Narrow" panose="020B0606020202030204"/>
              <a:ea typeface="微软雅黑" panose="020B0503020204020204" pitchFamily="34" charset="-122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50842" y="1059630"/>
            <a:ext cx="810279" cy="432000"/>
          </a:xfrm>
          <a:prstGeom prst="ellipse">
            <a:avLst/>
          </a:prstGeom>
          <a:gradFill>
            <a:gsLst>
              <a:gs pos="0">
                <a:srgbClr val="C0504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C0504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C0504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案例</a:t>
            </a:r>
            <a:endParaRPr kumimoji="0" lang="zh-CN" altLang="en-US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9" name="Rectangle 3"/>
          <p:cNvSpPr txBox="1">
            <a:spLocks noChangeArrowheads="1"/>
          </p:cNvSpPr>
          <p:nvPr/>
        </p:nvSpPr>
        <p:spPr>
          <a:xfrm>
            <a:off x="861120" y="983803"/>
            <a:ext cx="7689635" cy="7958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zh-CN" altLang="en-US" sz="18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请问</a:t>
            </a:r>
            <a:r>
              <a:rPr lang="en-US" altLang="zh-CN" sz="18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192.168.1.128</a:t>
            </a:r>
            <a:r>
              <a:rPr lang="zh-CN" altLang="en-US" sz="18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是一</a:t>
            </a:r>
            <a:r>
              <a:rPr lang="zh-CN" altLang="en-US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个可分配的主机</a:t>
            </a:r>
            <a:r>
              <a:rPr lang="zh-CN" altLang="en-US" sz="18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或路由器接口地址，还是一个网络地址，或是一个广播地址呢？</a:t>
            </a:r>
            <a:endParaRPr lang="en-US" altLang="zh-CN" sz="18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085256" y="2257494"/>
            <a:ext cx="1838672" cy="324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255.255.255.0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6" name="Rectangle 3"/>
          <p:cNvSpPr txBox="1">
            <a:spLocks noChangeArrowheads="1"/>
          </p:cNvSpPr>
          <p:nvPr/>
        </p:nvSpPr>
        <p:spPr>
          <a:xfrm>
            <a:off x="585547" y="1587165"/>
            <a:ext cx="720080" cy="5002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假设</a:t>
            </a:r>
            <a:endParaRPr lang="en-US" altLang="zh-CN" sz="1800" b="1" dirty="0">
              <a:solidFill>
                <a:schemeClr val="tx2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73941" y="2239728"/>
            <a:ext cx="92587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情况</a:t>
            </a:r>
            <a:r>
              <a:rPr lang="en-US" altLang="zh-CN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：</a:t>
            </a:r>
            <a:endParaRPr lang="en-US" altLang="zh-CN" dirty="0" smtClean="0">
              <a:solidFill>
                <a:srgbClr val="C0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4113555" y="1365646"/>
            <a:ext cx="1008000" cy="270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0" noProof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无法判断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381559" y="2645650"/>
            <a:ext cx="3744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11000000.10101000.00000001</a:t>
            </a:r>
            <a:endParaRPr lang="en-US" altLang="zh-CN" sz="20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384033" y="3002537"/>
            <a:ext cx="3885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spc="12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11111111.11111111.11111111</a:t>
            </a:r>
            <a:endParaRPr lang="en-US" altLang="zh-CN" sz="2000" spc="12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90960" y="3028663"/>
            <a:ext cx="1008000" cy="324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algn="ctr">
              <a:defRPr/>
            </a:pP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子网掩码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190960" y="2662293"/>
            <a:ext cx="1008112" cy="32400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0800" rIns="10800" rtlCol="0" anchor="ctr"/>
          <a:lstStyle/>
          <a:p>
            <a:pPr lvl="0" algn="ctr">
              <a:defRPr/>
            </a:pP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地址</a:t>
            </a:r>
            <a:endParaRPr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941534" y="2655560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.10000000</a:t>
            </a:r>
            <a:endParaRPr lang="en-US" altLang="zh-CN" sz="20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959066" y="3004805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.00000000</a:t>
            </a:r>
            <a:endParaRPr lang="en-US" altLang="zh-CN" sz="20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92" name="直接连接符 91"/>
          <p:cNvCxnSpPr/>
          <p:nvPr/>
        </p:nvCxnSpPr>
        <p:spPr>
          <a:xfrm>
            <a:off x="1191661" y="3408459"/>
            <a:ext cx="5076000" cy="0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矩形 92"/>
          <p:cNvSpPr/>
          <p:nvPr/>
        </p:nvSpPr>
        <p:spPr>
          <a:xfrm>
            <a:off x="1450966" y="2655640"/>
            <a:ext cx="3539588" cy="68400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5029743" y="2655600"/>
            <a:ext cx="1277107" cy="68400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959066" y="3004805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chemeClr val="accent6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.00000000</a:t>
            </a:r>
            <a:endParaRPr lang="en-US" altLang="zh-CN" sz="2000" dirty="0">
              <a:solidFill>
                <a:schemeClr val="accent6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79513" y="3395942"/>
            <a:ext cx="1008000" cy="270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网络地址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141860" y="2982781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>
                <a:solidFill>
                  <a:srgbClr val="C00000"/>
                </a:solidFill>
              </a:rPr>
              <a:t>^</a:t>
            </a:r>
            <a:endParaRPr lang="zh-CN" altLang="en-US" sz="2600" b="1" dirty="0">
              <a:solidFill>
                <a:srgbClr val="C00000"/>
              </a:solidFill>
            </a:endParaRPr>
          </a:p>
        </p:txBody>
      </p:sp>
      <p:sp>
        <p:nvSpPr>
          <p:cNvPr id="99" name="右箭头 98"/>
          <p:cNvSpPr/>
          <p:nvPr/>
        </p:nvSpPr>
        <p:spPr>
          <a:xfrm>
            <a:off x="6315332" y="3467068"/>
            <a:ext cx="180000" cy="180000"/>
          </a:xfrm>
          <a:prstGeom prst="rightArrow">
            <a:avLst/>
          </a:prstGeom>
          <a:gradFill rotWithShape="0">
            <a:gsLst>
              <a:gs pos="0">
                <a:srgbClr val="C0504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C0504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C0504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421146" y="3333857"/>
            <a:ext cx="196663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192.168.1.0</a:t>
            </a:r>
            <a:endParaRPr lang="en-US" altLang="zh-CN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395274" y="3652881"/>
            <a:ext cx="3730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11000000.10101000.00000001</a:t>
            </a:r>
            <a:endParaRPr lang="en-US" altLang="zh-CN" sz="2000" dirty="0">
              <a:solidFill>
                <a:schemeClr val="tx2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4935104" y="3650039"/>
            <a:ext cx="1379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spc="100" dirty="0" smtClean="0">
                <a:solidFill>
                  <a:schemeClr val="accent6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.11111111</a:t>
            </a:r>
            <a:endParaRPr lang="en-US" altLang="zh-CN" sz="2000" spc="100" dirty="0">
              <a:solidFill>
                <a:schemeClr val="accent6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3" name="右箭头 132"/>
          <p:cNvSpPr/>
          <p:nvPr/>
        </p:nvSpPr>
        <p:spPr>
          <a:xfrm>
            <a:off x="6303364" y="3750430"/>
            <a:ext cx="180000" cy="180000"/>
          </a:xfrm>
          <a:prstGeom prst="rightArrow">
            <a:avLst/>
          </a:prstGeom>
          <a:gradFill rotWithShape="0">
            <a:gsLst>
              <a:gs pos="0">
                <a:srgbClr val="C0504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C0504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C0504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422241" y="3656408"/>
            <a:ext cx="1966630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192.168.1.255</a:t>
            </a:r>
            <a:endParaRPr lang="en-US" altLang="zh-CN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178009" y="3704613"/>
            <a:ext cx="1008000" cy="270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广播地址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179512" y="4006486"/>
            <a:ext cx="3081112" cy="282285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可分配的主机或路由器接口地址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3206912" y="3949110"/>
            <a:ext cx="343561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192.168.1.1--192.168.1.254</a:t>
            </a:r>
            <a:endParaRPr lang="en-US" altLang="zh-CN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726249" y="4347716"/>
            <a:ext cx="579269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192.168.1.128</a:t>
            </a:r>
            <a:r>
              <a:rPr lang="zh-CN" altLang="en-US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是</a:t>
            </a: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一个可分配的主机或路由器</a:t>
            </a:r>
            <a:r>
              <a:rPr lang="zh-CN" altLang="en-US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接口地址</a:t>
            </a:r>
            <a:endParaRPr lang="zh-CN" altLang="en-US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176311" y="1676497"/>
            <a:ext cx="2843961" cy="402796"/>
            <a:chOff x="4176311" y="1330944"/>
            <a:chExt cx="2843961" cy="402796"/>
          </a:xfrm>
        </p:grpSpPr>
        <p:sp>
          <p:nvSpPr>
            <p:cNvPr id="12" name="矩形 11"/>
            <p:cNvSpPr/>
            <p:nvPr>
              <p:custDataLst>
                <p:tags r:id="rId3"/>
              </p:custDataLst>
            </p:nvPr>
          </p:nvSpPr>
          <p:spPr>
            <a:xfrm>
              <a:off x="5076056" y="1373740"/>
              <a:ext cx="1944216" cy="360000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600" b="1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255.255.255.128</a:t>
              </a:r>
              <a:endPara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3" name="TextBox 66"/>
            <p:cNvSpPr txBox="1"/>
            <p:nvPr>
              <p:custDataLst>
                <p:tags r:id="rId4"/>
              </p:custDataLst>
            </p:nvPr>
          </p:nvSpPr>
          <p:spPr>
            <a:xfrm>
              <a:off x="4176311" y="1330944"/>
              <a:ext cx="925871" cy="396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 smtClean="0">
                  <a:solidFill>
                    <a:srgbClr val="C00000"/>
                  </a:solidFill>
                  <a:latin typeface="Arial Narrow" panose="020B0606020202030204"/>
                  <a:ea typeface="微软雅黑" panose="020B0503020204020204" pitchFamily="34" charset="-122"/>
                </a:rPr>
                <a:t>情况</a:t>
              </a:r>
              <a:r>
                <a:rPr lang="en-US" altLang="zh-CN" b="1" dirty="0">
                  <a:solidFill>
                    <a:srgbClr val="C00000"/>
                  </a:solidFill>
                  <a:latin typeface="Arial Narrow" panose="020B0606020202030204"/>
                  <a:ea typeface="微软雅黑" panose="020B0503020204020204" pitchFamily="34" charset="-122"/>
                </a:rPr>
                <a:t>2</a:t>
              </a:r>
              <a:r>
                <a:rPr lang="zh-CN" altLang="en-US" b="1" dirty="0" smtClean="0">
                  <a:solidFill>
                    <a:srgbClr val="C00000"/>
                  </a:solidFill>
                  <a:latin typeface="Arial Narrow" panose="020B0606020202030204"/>
                  <a:ea typeface="微软雅黑" panose="020B0503020204020204" pitchFamily="34" charset="-122"/>
                </a:rPr>
                <a:t>：</a:t>
              </a:r>
              <a:endParaRPr lang="en-US" altLang="zh-CN" dirty="0" smtClean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4" name="TextBox 47"/>
          <p:cNvSpPr txBox="1"/>
          <p:nvPr>
            <p:custDataLst>
              <p:tags r:id="rId5"/>
            </p:custDataLst>
          </p:nvPr>
        </p:nvSpPr>
        <p:spPr>
          <a:xfrm>
            <a:off x="1173941" y="1659173"/>
            <a:ext cx="92587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情况</a:t>
            </a:r>
            <a:r>
              <a:rPr lang="en-US" altLang="zh-CN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：</a:t>
            </a:r>
            <a:endParaRPr lang="en-US" altLang="zh-CN" dirty="0" smtClean="0">
              <a:solidFill>
                <a:srgbClr val="C0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2085256" y="1719938"/>
            <a:ext cx="1838672" cy="360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255.255.255.0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40" name="直接连接符 39"/>
          <p:cNvCxnSpPr/>
          <p:nvPr>
            <p:custDataLst>
              <p:tags r:id="rId7"/>
            </p:custDataLst>
          </p:nvPr>
        </p:nvCxnSpPr>
        <p:spPr>
          <a:xfrm flipV="1">
            <a:off x="179765" y="2146395"/>
            <a:ext cx="8640000" cy="25324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下箭头 40"/>
          <p:cNvSpPr/>
          <p:nvPr/>
        </p:nvSpPr>
        <p:spPr>
          <a:xfrm>
            <a:off x="3327012" y="4283842"/>
            <a:ext cx="144000" cy="144000"/>
          </a:xfrm>
          <a:prstGeom prst="downArrow">
            <a:avLst/>
          </a:prstGeom>
          <a:gradFill rotWithShape="0">
            <a:gsLst>
              <a:gs pos="0">
                <a:srgbClr val="C0504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C0504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C0504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500"/>
                            </p:stCondLst>
                            <p:childTnLst>
                              <p:par>
                                <p:cTn id="10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250" tmFilter="0, 0; .2, .5; .8, .5; 1, 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4" dur="125" autoRev="1" fill="hold"/>
                                        <p:tgtEl>
                                          <p:spTgt spid="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000"/>
                            </p:stCondLst>
                            <p:childTnLst>
                              <p:par>
                                <p:cTn id="10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500"/>
                            </p:stCondLst>
                            <p:childTnLst>
                              <p:par>
                                <p:cTn id="10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4.30598E-6 L -3.88889E-6 0.14219 " pathEditMode="relative" rAng="0" ptsTypes="AA">
                                      <p:cBhvr>
                                        <p:cTn id="11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0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40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4500"/>
                            </p:stCondLst>
                            <p:childTnLst>
                              <p:par>
                                <p:cTn id="1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250" tmFilter="0, 0; .2, .5; .8, .5; 1, 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" dur="125" autoRev="1" fill="hold"/>
                                        <p:tgtEl>
                                          <p:spTgt spid="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500"/>
                            </p:stCondLst>
                            <p:childTnLst>
                              <p:par>
                                <p:cTn id="12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20111E-6 L 0.00174 0.07218 " pathEditMode="relative" rAng="0" ptsTypes="AA">
                                      <p:cBhvr>
                                        <p:cTn id="12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36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0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1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650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2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1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25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4" grpId="1"/>
      <p:bldP spid="5" grpId="0"/>
      <p:bldP spid="52" grpId="0" bldLvl="0" animBg="1"/>
      <p:bldP spid="46" grpId="0"/>
      <p:bldP spid="48" grpId="0"/>
      <p:bldP spid="68" grpId="0" animBg="1"/>
      <p:bldP spid="72" grpId="0"/>
      <p:bldP spid="87" grpId="0"/>
      <p:bldP spid="87" grpId="1"/>
      <p:bldP spid="88" grpId="0" bldLvl="0" animBg="1"/>
      <p:bldP spid="89" grpId="0" bldLvl="0" animBg="1"/>
      <p:bldP spid="90" grpId="0"/>
      <p:bldP spid="91" grpId="0"/>
      <p:bldP spid="91" grpId="1"/>
      <p:bldP spid="93" grpId="0" bldLvl="0" animBg="1"/>
      <p:bldP spid="95" grpId="0" bldLvl="0" animBg="1"/>
      <p:bldP spid="96" grpId="0"/>
      <p:bldP spid="96" grpId="1"/>
      <p:bldP spid="97" grpId="0" bldLvl="0" animBg="1"/>
      <p:bldP spid="98" grpId="0"/>
      <p:bldP spid="99" grpId="0" bldLvl="0" animBg="1"/>
      <p:bldP spid="100" grpId="0"/>
      <p:bldP spid="101" grpId="0"/>
      <p:bldP spid="132" grpId="0"/>
      <p:bldP spid="133" grpId="0" bldLvl="0" animBg="1"/>
      <p:bldP spid="134" grpId="0"/>
      <p:bldP spid="135" grpId="0" bldLvl="0" animBg="1"/>
      <p:bldP spid="136" grpId="0" bldLvl="0" animBg="1"/>
      <p:bldP spid="137" grpId="0"/>
      <p:bldP spid="138" grpId="0"/>
      <p:bldP spid="14" grpId="0"/>
      <p:bldP spid="15" grpId="0" bldLvl="0" animBg="1"/>
      <p:bldP spid="41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istrator\Desktop\微立体创业计划\005.png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3478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:\Users\Administrator\Desktop\微立体创业计划\00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19" y="132850"/>
            <a:ext cx="609601" cy="609601"/>
          </a:xfrm>
          <a:prstGeom prst="rect">
            <a:avLst/>
          </a:prstGeom>
          <a:noFill/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1043609" y="221612"/>
            <a:ext cx="1656184" cy="40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r>
              <a:rPr lang="en-US" altLang="zh-CN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</a:t>
            </a:r>
            <a:r>
              <a:rPr lang="zh-CN" altLang="en-US" sz="2200" dirty="0" smtClean="0">
                <a:solidFill>
                  <a:srgbClr val="034E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子网掩码</a:t>
            </a:r>
            <a:endParaRPr lang="zh-CN" altLang="en-US" sz="2200" dirty="0">
              <a:solidFill>
                <a:srgbClr val="034E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8" name="íşlïḍè"/>
          <p:cNvSpPr txBox="1"/>
          <p:nvPr/>
        </p:nvSpPr>
        <p:spPr>
          <a:xfrm>
            <a:off x="229107" y="660353"/>
            <a:ext cx="2614701" cy="36549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2</a:t>
            </a:r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）</a:t>
            </a:r>
            <a:r>
              <a:rPr lang="en-US" altLang="zh-CN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 </a:t>
            </a:r>
            <a:r>
              <a:rPr lang="zh-CN" altLang="en-US" b="1" dirty="0" smtClean="0">
                <a:solidFill>
                  <a:schemeClr val="tx2"/>
                </a:solidFill>
                <a:latin typeface="Arial Narrow" panose="020B0606020202030204"/>
                <a:ea typeface="微软雅黑" panose="020B0503020204020204" pitchFamily="34" charset="-122"/>
              </a:rPr>
              <a:t>子网掩码的应用</a:t>
            </a:r>
            <a:endParaRPr lang="en-US" altLang="zh-CN" dirty="0">
              <a:solidFill>
                <a:srgbClr val="000000"/>
              </a:solidFill>
              <a:latin typeface="Arial Narrow" panose="020B0606020202030204"/>
              <a:ea typeface="微软雅黑" panose="020B0503020204020204" pitchFamily="34" charset="-122"/>
            </a:endParaRPr>
          </a:p>
        </p:txBody>
      </p:sp>
      <p:sp>
        <p:nvSpPr>
          <p:cNvPr id="44" name="下箭头 43"/>
          <p:cNvSpPr/>
          <p:nvPr/>
        </p:nvSpPr>
        <p:spPr>
          <a:xfrm>
            <a:off x="3158618" y="3910166"/>
            <a:ext cx="180000" cy="180000"/>
          </a:xfrm>
          <a:prstGeom prst="downArrow">
            <a:avLst/>
          </a:prstGeom>
          <a:gradFill rotWithShape="0">
            <a:gsLst>
              <a:gs pos="0">
                <a:srgbClr val="C0504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C0504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C0504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555564" y="4019226"/>
            <a:ext cx="3446287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192.168.1.128</a:t>
            </a:r>
            <a:r>
              <a:rPr lang="zh-CN" altLang="en-US" b="1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是一个网络地址</a:t>
            </a:r>
            <a:endParaRPr lang="en-US" altLang="zh-CN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412641" y="3171527"/>
            <a:ext cx="4063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spc="11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11111111.11111111.11111111.1</a:t>
            </a:r>
            <a:endParaRPr lang="en-US" altLang="zh-CN" sz="2000" spc="11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219569" y="3210716"/>
            <a:ext cx="1008000" cy="324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algn="ctr">
              <a:defRPr/>
            </a:pP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子网掩码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219569" y="2831283"/>
            <a:ext cx="1008112" cy="32400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0800" rIns="10800" rtlCol="0" anchor="ctr"/>
          <a:lstStyle/>
          <a:p>
            <a:pPr lvl="0" algn="ctr">
              <a:defRPr/>
            </a:pP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IP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地址</a:t>
            </a:r>
            <a:endParaRPr lang="zh-CN" altLang="en-US" sz="16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181751" y="2830362"/>
            <a:ext cx="1183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0000000</a:t>
            </a:r>
            <a:endParaRPr lang="en-US" altLang="zh-CN" sz="20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116113" y="3166590"/>
            <a:ext cx="11844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 0000000</a:t>
            </a:r>
            <a:endParaRPr lang="en-US" altLang="zh-CN" sz="20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79" name="直接连接符 78"/>
          <p:cNvCxnSpPr/>
          <p:nvPr/>
        </p:nvCxnSpPr>
        <p:spPr>
          <a:xfrm>
            <a:off x="1220270" y="3577449"/>
            <a:ext cx="5076000" cy="0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 79"/>
          <p:cNvSpPr/>
          <p:nvPr/>
        </p:nvSpPr>
        <p:spPr>
          <a:xfrm>
            <a:off x="1168736" y="2824630"/>
            <a:ext cx="4072336" cy="68400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400011" y="2831283"/>
            <a:ext cx="3906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11000000.10101000.00000001.1</a:t>
            </a:r>
            <a:endParaRPr lang="en-US" altLang="zh-CN" sz="2000" dirty="0">
              <a:solidFill>
                <a:schemeClr val="tx2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5272474" y="2824590"/>
            <a:ext cx="1036859" cy="684000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rtlCol="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600" b="1" kern="1200" dirty="0" smtClea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184672" y="3171527"/>
            <a:ext cx="1183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chemeClr val="accent6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0000000</a:t>
            </a:r>
            <a:endParaRPr lang="en-US" altLang="zh-CN" sz="2000" dirty="0">
              <a:solidFill>
                <a:schemeClr val="accent6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08122" y="3591058"/>
            <a:ext cx="1008000" cy="270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网络地址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170469" y="3151771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>
                <a:solidFill>
                  <a:srgbClr val="C00000"/>
                </a:solidFill>
              </a:rPr>
              <a:t>^</a:t>
            </a:r>
            <a:endParaRPr lang="zh-CN" altLang="en-US" sz="2600" b="1" dirty="0">
              <a:solidFill>
                <a:srgbClr val="C00000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400011" y="2831283"/>
            <a:ext cx="3906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11000000.10101000.00000001.1</a:t>
            </a:r>
            <a:endParaRPr lang="en-US" altLang="zh-CN" sz="20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139" name="组合 138"/>
          <p:cNvGrpSpPr/>
          <p:nvPr/>
        </p:nvGrpSpPr>
        <p:grpSpPr>
          <a:xfrm>
            <a:off x="1162135" y="2355726"/>
            <a:ext cx="2843961" cy="402796"/>
            <a:chOff x="4176311" y="1330944"/>
            <a:chExt cx="2843961" cy="402796"/>
          </a:xfrm>
        </p:grpSpPr>
        <p:sp>
          <p:nvSpPr>
            <p:cNvPr id="140" name="矩形 139"/>
            <p:cNvSpPr/>
            <p:nvPr/>
          </p:nvSpPr>
          <p:spPr>
            <a:xfrm>
              <a:off x="5076056" y="1373740"/>
              <a:ext cx="1944216" cy="360000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600" b="1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255.255.255.128</a:t>
              </a:r>
              <a:endPara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4176311" y="1330944"/>
              <a:ext cx="925871" cy="396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 smtClean="0">
                  <a:solidFill>
                    <a:srgbClr val="C00000"/>
                  </a:solidFill>
                  <a:latin typeface="Arial Narrow" panose="020B0606020202030204"/>
                  <a:ea typeface="微软雅黑" panose="020B0503020204020204" pitchFamily="34" charset="-122"/>
                </a:rPr>
                <a:t>情况</a:t>
              </a:r>
              <a:r>
                <a:rPr lang="en-US" altLang="zh-CN" b="1" dirty="0">
                  <a:solidFill>
                    <a:srgbClr val="C00000"/>
                  </a:solidFill>
                  <a:latin typeface="Arial Narrow" panose="020B0606020202030204"/>
                  <a:ea typeface="微软雅黑" panose="020B0503020204020204" pitchFamily="34" charset="-122"/>
                </a:rPr>
                <a:t>2</a:t>
              </a:r>
              <a:r>
                <a:rPr lang="zh-CN" altLang="en-US" b="1" dirty="0" smtClean="0">
                  <a:solidFill>
                    <a:srgbClr val="C00000"/>
                  </a:solidFill>
                  <a:latin typeface="Arial Narrow" panose="020B0606020202030204"/>
                  <a:ea typeface="微软雅黑" panose="020B0503020204020204" pitchFamily="34" charset="-122"/>
                </a:rPr>
                <a:t>：</a:t>
              </a:r>
              <a:endParaRPr lang="en-US" altLang="zh-CN" dirty="0" smtClean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32" name="椭圆 31"/>
          <p:cNvSpPr/>
          <p:nvPr/>
        </p:nvSpPr>
        <p:spPr>
          <a:xfrm>
            <a:off x="50842" y="1059630"/>
            <a:ext cx="810279" cy="432000"/>
          </a:xfrm>
          <a:prstGeom prst="ellipse">
            <a:avLst/>
          </a:prstGeom>
          <a:gradFill>
            <a:gsLst>
              <a:gs pos="0">
                <a:srgbClr val="C0504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C0504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C0504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18000" rIns="1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案例</a:t>
            </a:r>
            <a:endParaRPr kumimoji="0" lang="zh-CN" altLang="en-US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861120" y="983803"/>
            <a:ext cx="7689635" cy="7958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zh-CN" altLang="en-US" sz="18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请问</a:t>
            </a:r>
            <a:r>
              <a:rPr lang="en-US" altLang="zh-CN" sz="18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192.168.1.128</a:t>
            </a:r>
            <a:r>
              <a:rPr lang="zh-CN" altLang="en-US" sz="18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是一</a:t>
            </a:r>
            <a:r>
              <a:rPr lang="zh-CN" altLang="en-US" sz="1800" dirty="0" smtClean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个可分配的主机</a:t>
            </a:r>
            <a:r>
              <a:rPr lang="zh-CN" altLang="en-US" sz="1800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或路由器接口地址，还是一个网络地址，或是一个广播地址呢？</a:t>
            </a:r>
            <a:endParaRPr lang="en-US" altLang="zh-CN" sz="1800" dirty="0"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585547" y="1613291"/>
            <a:ext cx="720080" cy="5002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tx2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假设</a:t>
            </a:r>
            <a:endParaRPr lang="en-US" altLang="zh-CN" sz="1800" b="1" dirty="0">
              <a:solidFill>
                <a:schemeClr val="tx2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113555" y="1365646"/>
            <a:ext cx="1008000" cy="270000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0" noProof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无法判断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4176311" y="1702623"/>
            <a:ext cx="2843961" cy="402796"/>
            <a:chOff x="4176311" y="1330944"/>
            <a:chExt cx="2843961" cy="402796"/>
          </a:xfrm>
        </p:grpSpPr>
        <p:sp>
          <p:nvSpPr>
            <p:cNvPr id="37" name="矩形 36"/>
            <p:cNvSpPr/>
            <p:nvPr>
              <p:custDataLst>
                <p:tags r:id="rId3"/>
              </p:custDataLst>
            </p:nvPr>
          </p:nvSpPr>
          <p:spPr>
            <a:xfrm>
              <a:off x="5076056" y="1373740"/>
              <a:ext cx="1944216" cy="360000"/>
            </a:xfrm>
            <a:prstGeom prst="rect">
              <a:avLst/>
            </a:prstGeom>
            <a:solidFill>
              <a:srgbClr val="2D7FAE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600" b="1" kern="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255.255.255.128</a:t>
              </a:r>
              <a:endPara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8" name="TextBox 66"/>
            <p:cNvSpPr txBox="1"/>
            <p:nvPr>
              <p:custDataLst>
                <p:tags r:id="rId4"/>
              </p:custDataLst>
            </p:nvPr>
          </p:nvSpPr>
          <p:spPr>
            <a:xfrm>
              <a:off x="4176311" y="1330944"/>
              <a:ext cx="925871" cy="396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 smtClean="0">
                  <a:solidFill>
                    <a:srgbClr val="C00000"/>
                  </a:solidFill>
                  <a:latin typeface="Arial Narrow" panose="020B0606020202030204"/>
                  <a:ea typeface="微软雅黑" panose="020B0503020204020204" pitchFamily="34" charset="-122"/>
                </a:rPr>
                <a:t>情况</a:t>
              </a:r>
              <a:r>
                <a:rPr lang="en-US" altLang="zh-CN" b="1" dirty="0">
                  <a:solidFill>
                    <a:srgbClr val="C00000"/>
                  </a:solidFill>
                  <a:latin typeface="Arial Narrow" panose="020B0606020202030204"/>
                  <a:ea typeface="微软雅黑" panose="020B0503020204020204" pitchFamily="34" charset="-122"/>
                </a:rPr>
                <a:t>2</a:t>
              </a:r>
              <a:r>
                <a:rPr lang="zh-CN" altLang="en-US" b="1" dirty="0" smtClean="0">
                  <a:solidFill>
                    <a:srgbClr val="C00000"/>
                  </a:solidFill>
                  <a:latin typeface="Arial Narrow" panose="020B0606020202030204"/>
                  <a:ea typeface="微软雅黑" panose="020B0503020204020204" pitchFamily="34" charset="-122"/>
                </a:rPr>
                <a:t>：</a:t>
              </a:r>
              <a:endParaRPr lang="en-US" altLang="zh-CN" dirty="0" smtClean="0">
                <a:solidFill>
                  <a:srgbClr val="C0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39" name="TextBox 47"/>
          <p:cNvSpPr txBox="1"/>
          <p:nvPr>
            <p:custDataLst>
              <p:tags r:id="rId5"/>
            </p:custDataLst>
          </p:nvPr>
        </p:nvSpPr>
        <p:spPr>
          <a:xfrm>
            <a:off x="1173941" y="1685299"/>
            <a:ext cx="92587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情况</a:t>
            </a:r>
            <a:r>
              <a:rPr lang="en-US" altLang="zh-CN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solidFill>
                  <a:srgbClr val="C00000"/>
                </a:solidFill>
                <a:latin typeface="Arial Narrow" panose="020B0606020202030204"/>
                <a:ea typeface="微软雅黑" panose="020B0503020204020204" pitchFamily="34" charset="-122"/>
              </a:rPr>
              <a:t>：</a:t>
            </a:r>
            <a:endParaRPr lang="en-US" altLang="zh-CN" dirty="0" smtClean="0">
              <a:solidFill>
                <a:srgbClr val="C0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0" name="矩形 39"/>
          <p:cNvSpPr/>
          <p:nvPr>
            <p:custDataLst>
              <p:tags r:id="rId6"/>
            </p:custDataLst>
          </p:nvPr>
        </p:nvSpPr>
        <p:spPr>
          <a:xfrm>
            <a:off x="2085256" y="1746064"/>
            <a:ext cx="1838672" cy="360000"/>
          </a:xfrm>
          <a:prstGeom prst="rect">
            <a:avLst/>
          </a:prstGeom>
          <a:solidFill>
            <a:srgbClr val="2D7FA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kern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255.255.255.0</a:t>
            </a:r>
            <a:endParaRPr kumimoji="0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41" name="直接连接符 40"/>
          <p:cNvCxnSpPr/>
          <p:nvPr>
            <p:custDataLst>
              <p:tags r:id="rId7"/>
            </p:custDataLst>
          </p:nvPr>
        </p:nvCxnSpPr>
        <p:spPr>
          <a:xfrm flipV="1">
            <a:off x="179765" y="2258394"/>
            <a:ext cx="8640000" cy="25324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9.62369E-7 L 3.61111E-6 0.13942 " pathEditMode="relative" rAng="0" ptsTypes="AA">
                                      <p:cBhvr>
                                        <p:cTn id="6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9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500"/>
                            </p:stCondLst>
                            <p:childTnLst>
                              <p:par>
                                <p:cTn id="7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20111E-6 L 0.00174 0.07218 " pathEditMode="relative" rAng="0" ptsTypes="AA">
                                      <p:cBhvr>
                                        <p:cTn id="7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36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4" grpId="0" bldLvl="0" animBg="1"/>
      <p:bldP spid="45" grpId="0"/>
      <p:bldP spid="45" grpId="1"/>
      <p:bldP spid="74" grpId="0"/>
      <p:bldP spid="74" grpId="1"/>
      <p:bldP spid="75" grpId="0" bldLvl="0" animBg="1"/>
      <p:bldP spid="76" grpId="0" bldLvl="0" animBg="1"/>
      <p:bldP spid="77" grpId="0"/>
      <p:bldP spid="78" grpId="0"/>
      <p:bldP spid="78" grpId="1"/>
      <p:bldP spid="80" grpId="0" bldLvl="0" animBg="1"/>
      <p:bldP spid="81" grpId="0"/>
      <p:bldP spid="81" grpId="1"/>
      <p:bldP spid="82" grpId="0" bldLvl="0" animBg="1"/>
      <p:bldP spid="83" grpId="0"/>
      <p:bldP spid="83" grpId="1"/>
      <p:bldP spid="84" grpId="0" bldLvl="0" animBg="1"/>
      <p:bldP spid="85" grpId="0"/>
      <p:bldP spid="8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dministrator\Desktop\3afe8fe6bfe17e05fe49e17f29526623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880344" y="534988"/>
            <a:ext cx="5775380" cy="4124994"/>
          </a:xfrm>
          <a:prstGeom prst="rect">
            <a:avLst/>
          </a:prstGeom>
          <a:noFill/>
        </p:spPr>
      </p:pic>
      <p:sp>
        <p:nvSpPr>
          <p:cNvPr id="45" name="矩形 44"/>
          <p:cNvSpPr/>
          <p:nvPr/>
        </p:nvSpPr>
        <p:spPr>
          <a:xfrm>
            <a:off x="395536" y="1797660"/>
            <a:ext cx="4185761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spc="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子网</a:t>
            </a:r>
            <a:r>
              <a:rPr lang="zh-CN" altLang="en-US" sz="3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掩码真奇妙，</a:t>
            </a:r>
            <a:endParaRPr lang="zh-CN" altLang="en-US" sz="3600" b="1" spc="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划分子网必须要。</a:t>
            </a:r>
            <a:endParaRPr lang="zh-CN" altLang="en-US" sz="3600" b="1" spc="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</a:t>
            </a:r>
            <a:r>
              <a:rPr lang="zh-CN" altLang="en-US" sz="3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地址一相与，</a:t>
            </a:r>
            <a:endParaRPr lang="zh-CN" altLang="en-US" sz="3600" b="1" spc="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网络广播都知道。</a:t>
            </a:r>
            <a:endParaRPr lang="zh-CN" altLang="en-US" sz="3600" b="1" spc="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spc="3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6" presetClass="entr" presetSubtype="0" fill="hold" grpId="0" nodeType="withEffect">
                                  <p:stCondLst>
                                    <p:cond delay="2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ISPRING_PRESENTATION_TITLE" val="9"/>
  <p:tag name="COMMONDATA" val="eyJoZGlkIjoiNTQ4MDc4NWU2MzYxMmZlMDVlMGY3NDZhMmEzZjVmMzIifQ=="/>
  <p:tag name="KSO_WPP_MARK_KEY" val="c2c54415-829e-465a-8ea0-6cb5c363530a"/>
</p:tagLst>
</file>

<file path=ppt/theme/theme1.xml><?xml version="1.0" encoding="utf-8"?>
<a:theme xmlns:a="http://schemas.openxmlformats.org/drawingml/2006/main" name="Office 主题​​">
  <a:themeElements>
    <a:clrScheme name="自定义 11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08BC4"/>
      </a:accent1>
      <a:accent2>
        <a:srgbClr val="73C8FF"/>
      </a:accent2>
      <a:accent3>
        <a:srgbClr val="308BC4"/>
      </a:accent3>
      <a:accent4>
        <a:srgbClr val="73C8FF"/>
      </a:accent4>
      <a:accent5>
        <a:srgbClr val="308BC4"/>
      </a:accent5>
      <a:accent6>
        <a:srgbClr val="73C8FF"/>
      </a:accent6>
      <a:hlink>
        <a:srgbClr val="007FA2"/>
      </a:hlink>
      <a:folHlink>
        <a:srgbClr val="FF495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rotWithShape="0">
          <a:gsLst>
            <a:gs pos="0">
              <a:srgbClr val="C0504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C0504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C0504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a:spPr>
      <a:bodyPr spcFirstLastPara="0" vert="horz" wrap="square" lIns="60960" tIns="60960" rIns="60960" bIns="60960" numCol="1" spcCol="1270" anchor="ctr" anchorCtr="0">
        <a:noAutofit/>
      </a:bodyPr>
      <a:lstStyle>
        <a:defPPr algn="ctr" defTabSz="711200">
          <a:lnSpc>
            <a:spcPct val="90000"/>
          </a:lnSpc>
          <a:spcBef>
            <a:spcPct val="0"/>
          </a:spcBef>
          <a:spcAft>
            <a:spcPct val="35000"/>
          </a:spcAft>
          <a:defRPr sz="1600" b="1" kern="1200" dirty="0" smtClean="0">
            <a:solidFill>
              <a:sysClr val="window" lastClr="FFFFFF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defRPr>
        </a:defPPr>
      </a:lstStyle>
      <a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3579</Words>
  <Application>WPS 演示</Application>
  <PresentationFormat>全屏显示(16:9)</PresentationFormat>
  <Paragraphs>705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Times New Roman</vt:lpstr>
      <vt:lpstr>Open Sans</vt:lpstr>
      <vt:lpstr>Segoe Print</vt:lpstr>
      <vt:lpstr>冬青黑体简体中文 W3</vt:lpstr>
      <vt:lpstr>Arial Narrow</vt:lpstr>
      <vt:lpstr>Arial</vt:lpstr>
      <vt:lpstr>Calibri</vt:lpstr>
      <vt:lpstr>Arial Unicode MS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</dc:title>
  <dc:creator>USER</dc:creator>
  <cp:lastModifiedBy>Administrator</cp:lastModifiedBy>
  <cp:revision>999</cp:revision>
  <dcterms:created xsi:type="dcterms:W3CDTF">2014-11-09T01:07:00Z</dcterms:created>
  <dcterms:modified xsi:type="dcterms:W3CDTF">2024-09-26T00:48:58Z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D933B7041DB849FAAE7E38202071DAAC</vt:lpwstr>
  </property>
  <property fmtid="{D5CDD505-2E9C-101B-9397-08002B2CF9AE}" pid="3" name="KSOProductBuildVer">
    <vt:lpwstr>2052-11.1.0.10009</vt:lpwstr>
  </property>
</Properties>
</file>